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4" r:id="rId5"/>
  </p:sldMasterIdLst>
  <p:notesMasterIdLst>
    <p:notesMasterId r:id="rId63"/>
  </p:notesMasterIdLst>
  <p:sldIdLst>
    <p:sldId id="425" r:id="rId6"/>
    <p:sldId id="439" r:id="rId7"/>
    <p:sldId id="491" r:id="rId8"/>
    <p:sldId id="484" r:id="rId9"/>
    <p:sldId id="462" r:id="rId10"/>
    <p:sldId id="463" r:id="rId11"/>
    <p:sldId id="482" r:id="rId12"/>
    <p:sldId id="461" r:id="rId13"/>
    <p:sldId id="460" r:id="rId14"/>
    <p:sldId id="464" r:id="rId15"/>
    <p:sldId id="465" r:id="rId16"/>
    <p:sldId id="471" r:id="rId17"/>
    <p:sldId id="451" r:id="rId18"/>
    <p:sldId id="453" r:id="rId19"/>
    <p:sldId id="446" r:id="rId20"/>
    <p:sldId id="459" r:id="rId21"/>
    <p:sldId id="457" r:id="rId22"/>
    <p:sldId id="478" r:id="rId23"/>
    <p:sldId id="479" r:id="rId24"/>
    <p:sldId id="466" r:id="rId25"/>
    <p:sldId id="475" r:id="rId26"/>
    <p:sldId id="454" r:id="rId27"/>
    <p:sldId id="450" r:id="rId28"/>
    <p:sldId id="456" r:id="rId29"/>
    <p:sldId id="481" r:id="rId30"/>
    <p:sldId id="413" r:id="rId31"/>
    <p:sldId id="483" r:id="rId32"/>
    <p:sldId id="485" r:id="rId33"/>
    <p:sldId id="473" r:id="rId34"/>
    <p:sldId id="490" r:id="rId35"/>
    <p:sldId id="476" r:id="rId36"/>
    <p:sldId id="474" r:id="rId37"/>
    <p:sldId id="486" r:id="rId38"/>
    <p:sldId id="477" r:id="rId39"/>
    <p:sldId id="434" r:id="rId40"/>
    <p:sldId id="469" r:id="rId41"/>
    <p:sldId id="470" r:id="rId42"/>
    <p:sldId id="467" r:id="rId43"/>
    <p:sldId id="487" r:id="rId44"/>
    <p:sldId id="468" r:id="rId45"/>
    <p:sldId id="488" r:id="rId46"/>
    <p:sldId id="489" r:id="rId47"/>
    <p:sldId id="480" r:id="rId48"/>
    <p:sldId id="374" r:id="rId49"/>
    <p:sldId id="447" r:id="rId50"/>
    <p:sldId id="448" r:id="rId51"/>
    <p:sldId id="445" r:id="rId52"/>
    <p:sldId id="323" r:id="rId53"/>
    <p:sldId id="324" r:id="rId54"/>
    <p:sldId id="440" r:id="rId55"/>
    <p:sldId id="391" r:id="rId56"/>
    <p:sldId id="392" r:id="rId57"/>
    <p:sldId id="369" r:id="rId58"/>
    <p:sldId id="388" r:id="rId59"/>
    <p:sldId id="393" r:id="rId60"/>
    <p:sldId id="414" r:id="rId61"/>
    <p:sldId id="41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deck" id="{380806AC-4CC1-4CD4-9D66-C6EA683C09A2}">
          <p14:sldIdLst>
            <p14:sldId id="425"/>
            <p14:sldId id="439"/>
            <p14:sldId id="491"/>
            <p14:sldId id="484"/>
            <p14:sldId id="462"/>
            <p14:sldId id="463"/>
            <p14:sldId id="482"/>
            <p14:sldId id="461"/>
          </p14:sldIdLst>
        </p14:section>
        <p14:section name="Appendix" id="{A53E8C9F-77E1-4626-97B3-4F856E9E66AC}">
          <p14:sldIdLst>
            <p14:sldId id="460"/>
          </p14:sldIdLst>
        </p14:section>
        <p14:section name="Example Slides" id="{F09A6DC7-54A5-4048-B6CD-15B4A7D12351}">
          <p14:sldIdLst>
            <p14:sldId id="464"/>
            <p14:sldId id="465"/>
            <p14:sldId id="471"/>
            <p14:sldId id="451"/>
            <p14:sldId id="453"/>
            <p14:sldId id="446"/>
            <p14:sldId id="459"/>
            <p14:sldId id="457"/>
            <p14:sldId id="478"/>
            <p14:sldId id="479"/>
            <p14:sldId id="466"/>
            <p14:sldId id="475"/>
            <p14:sldId id="454"/>
            <p14:sldId id="450"/>
            <p14:sldId id="456"/>
            <p14:sldId id="481"/>
            <p14:sldId id="413"/>
            <p14:sldId id="483"/>
            <p14:sldId id="485"/>
            <p14:sldId id="473"/>
            <p14:sldId id="490"/>
            <p14:sldId id="476"/>
            <p14:sldId id="474"/>
            <p14:sldId id="486"/>
            <p14:sldId id="477"/>
            <p14:sldId id="434"/>
            <p14:sldId id="469"/>
            <p14:sldId id="470"/>
            <p14:sldId id="467"/>
            <p14:sldId id="487"/>
            <p14:sldId id="468"/>
            <p14:sldId id="488"/>
            <p14:sldId id="489"/>
            <p14:sldId id="480"/>
            <p14:sldId id="374"/>
          </p14:sldIdLst>
        </p14:section>
        <p14:section name="Unsorted" id="{D7607438-E076-4AFD-9BD4-7989A4E45293}">
          <p14:sldIdLst>
            <p14:sldId id="447"/>
            <p14:sldId id="448"/>
            <p14:sldId id="445"/>
            <p14:sldId id="323"/>
            <p14:sldId id="324"/>
            <p14:sldId id="440"/>
            <p14:sldId id="391"/>
            <p14:sldId id="392"/>
            <p14:sldId id="369"/>
            <p14:sldId id="388"/>
            <p14:sldId id="393"/>
            <p14:sldId id="414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FF"/>
    <a:srgbClr val="DCE6F4"/>
    <a:srgbClr val="C00000"/>
    <a:srgbClr val="1782BF"/>
    <a:srgbClr val="073779"/>
    <a:srgbClr val="E87E2E"/>
    <a:srgbClr val="DBDBDB"/>
    <a:srgbClr val="830001"/>
    <a:srgbClr val="775712"/>
    <a:srgbClr val="703D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82"/>
  </p:normalViewPr>
  <p:slideViewPr>
    <p:cSldViewPr snapToGrid="0">
      <p:cViewPr varScale="1">
        <p:scale>
          <a:sx n="105" d="100"/>
          <a:sy n="105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UNG Wai Man" userId="c8bb32a8-9e3e-4b27-adbe-0d261301a182" providerId="ADAL" clId="{EBE506D1-4C31-8E47-9BF9-0B071210051F}"/>
    <pc:docChg chg="undo custSel modSld">
      <pc:chgData name="LEUNG Wai Man" userId="c8bb32a8-9e3e-4b27-adbe-0d261301a182" providerId="ADAL" clId="{EBE506D1-4C31-8E47-9BF9-0B071210051F}" dt="2022-11-23T15:51:15.478" v="9" actId="1076"/>
      <pc:docMkLst>
        <pc:docMk/>
      </pc:docMkLst>
      <pc:sldChg chg="modSp mod">
        <pc:chgData name="LEUNG Wai Man" userId="c8bb32a8-9e3e-4b27-adbe-0d261301a182" providerId="ADAL" clId="{EBE506D1-4C31-8E47-9BF9-0B071210051F}" dt="2022-11-23T15:51:15.478" v="9" actId="1076"/>
        <pc:sldMkLst>
          <pc:docMk/>
          <pc:sldMk cId="1084345477" sldId="450"/>
        </pc:sldMkLst>
        <pc:spChg chg="mod">
          <ac:chgData name="LEUNG Wai Man" userId="c8bb32a8-9e3e-4b27-adbe-0d261301a182" providerId="ADAL" clId="{EBE506D1-4C31-8E47-9BF9-0B071210051F}" dt="2022-11-23T15:51:15.306" v="8" actId="1076"/>
          <ac:spMkLst>
            <pc:docMk/>
            <pc:sldMk cId="1084345477" sldId="450"/>
            <ac:spMk id="7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306" v="8" actId="1076"/>
          <ac:spMkLst>
            <pc:docMk/>
            <pc:sldMk cId="1084345477" sldId="450"/>
            <ac:spMk id="8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306" v="8" actId="1076"/>
          <ac:spMkLst>
            <pc:docMk/>
            <pc:sldMk cId="1084345477" sldId="450"/>
            <ac:spMk id="10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306" v="8" actId="1076"/>
          <ac:spMkLst>
            <pc:docMk/>
            <pc:sldMk cId="1084345477" sldId="450"/>
            <ac:spMk id="12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478" v="9" actId="1076"/>
          <ac:spMkLst>
            <pc:docMk/>
            <pc:sldMk cId="1084345477" sldId="450"/>
            <ac:spMk id="13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478" v="9" actId="1076"/>
          <ac:spMkLst>
            <pc:docMk/>
            <pc:sldMk cId="1084345477" sldId="450"/>
            <ac:spMk id="17" creationId="{00000000-0000-0000-0000-000000000000}"/>
          </ac:spMkLst>
        </pc:spChg>
        <pc:spChg chg="mod">
          <ac:chgData name="LEUNG Wai Man" userId="c8bb32a8-9e3e-4b27-adbe-0d261301a182" providerId="ADAL" clId="{EBE506D1-4C31-8E47-9BF9-0B071210051F}" dt="2022-11-23T15:51:15.478" v="9" actId="1076"/>
          <ac:spMkLst>
            <pc:docMk/>
            <pc:sldMk cId="1084345477" sldId="450"/>
            <ac:spMk id="28" creationId="{00000000-0000-0000-0000-000000000000}"/>
          </ac:spMkLst>
        </pc:spChg>
        <pc:picChg chg="mod">
          <ac:chgData name="LEUNG Wai Man" userId="c8bb32a8-9e3e-4b27-adbe-0d261301a182" providerId="ADAL" clId="{EBE506D1-4C31-8E47-9BF9-0B071210051F}" dt="2022-11-23T15:51:15.306" v="8" actId="1076"/>
          <ac:picMkLst>
            <pc:docMk/>
            <pc:sldMk cId="1084345477" sldId="450"/>
            <ac:picMk id="6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zagroup-my.sharepoint.com/personal/tony_chang_za_group/Documents/Microsoft%20Teams%20Chat%20Files/Digital%20Asset%20Custodian_market%20siz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737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5F0-4493-91A5-C88D8E266AA0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5F0-4493-91A5-C88D8E266AA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0-4493-91A5-C88D8E266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Graph!$B$6</c:f>
              <c:strCache>
                <c:ptCount val="1"/>
                <c:pt idx="0">
                  <c:v>Total AUM in custody</c:v>
                </c:pt>
              </c:strCache>
            </c:strRef>
          </c:tx>
          <c:spPr>
            <a:solidFill>
              <a:srgbClr val="272B58"/>
            </a:solidFill>
            <a:ln>
              <a:noFill/>
            </a:ln>
            <a:effectLst/>
          </c:spPr>
          <c:invertIfNegative val="0"/>
          <c:cat>
            <c:strRef>
              <c:f>Graph!$C$5:$H$5</c:f>
              <c:strCache>
                <c:ptCount val="6"/>
                <c:pt idx="0">
                  <c:v>2019A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Graph!$C$6:$H$6</c:f>
              <c:numCache>
                <c:formatCode>_-[$$-3C09]* #,##0.0_-;\-[$$-3C09]* #,##0.0_-;_-[$$-3C09]* "-"??_-;_-@_-</c:formatCode>
                <c:ptCount val="6"/>
                <c:pt idx="0">
                  <c:v>1771.5151515151515</c:v>
                </c:pt>
                <c:pt idx="1">
                  <c:v>3700.0712121212118</c:v>
                </c:pt>
                <c:pt idx="2">
                  <c:v>6975.9512121212119</c:v>
                </c:pt>
                <c:pt idx="3">
                  <c:v>13136.579784090907</c:v>
                </c:pt>
                <c:pt idx="4">
                  <c:v>31059.658095454546</c:v>
                </c:pt>
                <c:pt idx="5">
                  <c:v>74920.35558727273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F3-4EBB-AB4B-0DACB8102C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611902136"/>
        <c:axId val="611898856"/>
      </c:barChart>
      <c:catAx>
        <c:axId val="611902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898856"/>
        <c:crosses val="autoZero"/>
        <c:auto val="1"/>
        <c:lblAlgn val="ctr"/>
        <c:lblOffset val="100"/>
        <c:noMultiLvlLbl val="0"/>
      </c:catAx>
      <c:valAx>
        <c:axId val="61189885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02136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CF-46F3-BC7C-6AE4D5AF1A19}"/>
              </c:ext>
            </c:extLst>
          </c:dPt>
          <c:dPt>
            <c:idx val="1"/>
            <c:bubble3D val="0"/>
            <c:spPr>
              <a:solidFill>
                <a:srgbClr val="1782B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CF-46F3-BC7C-6AE4D5AF1A19}"/>
              </c:ext>
            </c:extLst>
          </c:dPt>
          <c:dPt>
            <c:idx val="2"/>
            <c:bubble3D val="0"/>
            <c:spPr>
              <a:solidFill>
                <a:srgbClr val="DCE6F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DCF-46F3-BC7C-6AE4D5AF1A1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DCF-46F3-BC7C-6AE4D5AF1A1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DCF-46F3-BC7C-6AE4D5AF1A1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DCF-46F3-BC7C-6AE4D5AF1A19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3DCF-46F3-BC7C-6AE4D5AF1A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Item I</c:v>
                </c:pt>
                <c:pt idx="1">
                  <c:v>Item II</c:v>
                </c:pt>
                <c:pt idx="2">
                  <c:v>Item III</c:v>
                </c:pt>
                <c:pt idx="3">
                  <c:v>Item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CF-46F3-BC7C-6AE4D5AF1A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9E954-5E92-784E-AAF7-3D97BD6E21FD}" type="datetimeFigureOut">
              <a:rPr lang="en-US" smtClean="0"/>
              <a:t>11/23/22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94449-2E59-6448-A2F6-B90D67EF5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permanent-marker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Find a 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</a:t>
            </a:r>
            <a:r>
              <a:rPr lang="en-US" baseline="0"/>
              <a:t> this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4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89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71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59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16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37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14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1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Download Permanent Marker font here: </a:t>
            </a:r>
            <a:r>
              <a:rPr lang="en-HK" sz="1200">
                <a:hlinkClick r:id="rId3"/>
              </a:rPr>
              <a:t>https://www.fontsquirrel.com/fonts/permanent-marker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20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19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47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33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51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</a:t>
            </a:r>
            <a:r>
              <a:rPr lang="en-US" baseline="0"/>
              <a:t> to determine the number of interactions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49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80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9600"/>
              <a:t>1. </a:t>
            </a:r>
          </a:p>
          <a:p>
            <a:endParaRPr lang="en-US" sz="49600"/>
          </a:p>
          <a:p>
            <a:r>
              <a:rPr lang="en-US" sz="49600"/>
              <a:t>- Marketing synergies </a:t>
            </a:r>
            <a:r>
              <a:rPr lang="mr-IN" sz="49600"/>
              <a:t>–</a:t>
            </a:r>
            <a:r>
              <a:rPr lang="en-US" sz="49600"/>
              <a:t> intuitively</a:t>
            </a:r>
            <a:r>
              <a:rPr lang="en-US" sz="49600" baseline="0"/>
              <a:t> does not make sense, ZA does not have the relevant market size/coverage yet  </a:t>
            </a:r>
            <a:endParaRPr lang="en-US" sz="49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62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67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</a:t>
            </a:r>
            <a:r>
              <a:rPr lang="en-US" baseline="0"/>
              <a:t> “could not validate partnership model”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94449-2E59-6448-A2F6-B90D67EF53D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7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EA046D-4727-F843-9BFA-F977636E83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EEE3E49-ED7A-064B-AC3B-61840A99A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0173" y="6389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20493361"/>
              </p:ext>
            </p:extLst>
          </p:nvPr>
        </p:nvGraphicFramePr>
        <p:xfrm>
          <a:off x="1073087" y="6425446"/>
          <a:ext cx="10091624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584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64526274"/>
              </p:ext>
            </p:extLst>
          </p:nvPr>
        </p:nvGraphicFramePr>
        <p:xfrm>
          <a:off x="1073087" y="6425446"/>
          <a:ext cx="10091624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77317382"/>
              </p:ext>
            </p:extLst>
          </p:nvPr>
        </p:nvGraphicFramePr>
        <p:xfrm>
          <a:off x="1073087" y="6425446"/>
          <a:ext cx="10091624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7478298"/>
              </p:ext>
            </p:extLst>
          </p:nvPr>
        </p:nvGraphicFramePr>
        <p:xfrm>
          <a:off x="1073087" y="6425446"/>
          <a:ext cx="10091624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9434631"/>
              </p:ext>
            </p:extLst>
          </p:nvPr>
        </p:nvGraphicFramePr>
        <p:xfrm>
          <a:off x="1073087" y="6425446"/>
          <a:ext cx="10091624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8765970"/>
              </p:ext>
            </p:extLst>
          </p:nvPr>
        </p:nvGraphicFramePr>
        <p:xfrm>
          <a:off x="303064" y="6425446"/>
          <a:ext cx="2522906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Appendix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0" y="212306"/>
            <a:ext cx="5760000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81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EA046D-4727-F843-9BFA-F977636E83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EEE3E49-ED7A-064B-AC3B-61840A99A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0173" y="6389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46183775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39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C356ED-9479-4C5B-815B-897EA330EA1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81977243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91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A6205E-6321-443E-8ADC-3A0F3EFBCF9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2093247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03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8332BB-2664-423C-B516-2AAA61301D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61617034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23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4C095E-7772-4FDA-B5FB-57BA8C5C7AA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771766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9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7A5781-9156-4918-B368-5E7F527DE1F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5949327"/>
              </p:ext>
            </p:extLst>
          </p:nvPr>
        </p:nvGraphicFramePr>
        <p:xfrm>
          <a:off x="300039" y="6425446"/>
          <a:ext cx="10864675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1245998181"/>
                    </a:ext>
                  </a:extLst>
                </a:gridCol>
                <a:gridCol w="2172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Situation Analysis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01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02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rgbClr val="A5A5A5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Recommendation 03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Impact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15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325" y="6211095"/>
            <a:ext cx="5340350" cy="18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3pPr>
              <a:defRPr/>
            </a:lvl3pPr>
          </a:lstStyle>
          <a:p>
            <a:pPr lvl="0"/>
            <a:r>
              <a:rPr lang="en-US"/>
              <a:t>Source: 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65E77DD7-5686-F548-8DFE-5298CF7F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104364" cy="427700"/>
          </a:xfrm>
          <a:prstGeom prst="rect">
            <a:avLst/>
          </a:prstGeom>
        </p:spPr>
        <p:txBody>
          <a:bodyPr anchor="ctr"/>
          <a:lstStyle>
            <a:lvl1pPr>
              <a:defRPr sz="2800" b="0" i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4171E-C7D5-FB4D-835E-F1F462F6534D}"/>
              </a:ext>
            </a:extLst>
          </p:cNvPr>
          <p:cNvSpPr/>
          <p:nvPr userDrawn="1"/>
        </p:nvSpPr>
        <p:spPr>
          <a:xfrm>
            <a:off x="1" y="214489"/>
            <a:ext cx="378000" cy="676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925" tIns="38963" rIns="77925" bIns="38963" rtlCol="0" anchor="ctr"/>
          <a:lstStyle/>
          <a:p>
            <a:pPr algn="ctr"/>
            <a:endParaRPr lang="en-US" sz="900" b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7F90C-88E0-AA4A-82E1-953162EC2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23490218"/>
              </p:ext>
            </p:extLst>
          </p:nvPr>
        </p:nvGraphicFramePr>
        <p:xfrm>
          <a:off x="303064" y="6425446"/>
          <a:ext cx="2522906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rgbClr val="073779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Appendix</a:t>
                      </a:r>
                    </a:p>
                  </a:txBody>
                  <a:tcPr marL="84406" marR="84406" marT="34290" marB="34290" anchor="ctr">
                    <a:lnL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D0C9A6-15EB-8F4C-86A9-550B0F7ED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2755" y="6389761"/>
            <a:ext cx="61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BD32-0561-C949-8871-81F883E83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381" y="212306"/>
            <a:ext cx="2714625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144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716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828800" indent="0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95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6"/>
          <p:cNvSpPr/>
          <p:nvPr userDrawn="1"/>
        </p:nvSpPr>
        <p:spPr>
          <a:xfrm>
            <a:off x="1" y="6759939"/>
            <a:ext cx="7843762" cy="109858"/>
          </a:xfrm>
          <a:custGeom>
            <a:avLst/>
            <a:gdLst>
              <a:gd name="connsiteX0" fmla="*/ 0 w 7750629"/>
              <a:gd name="connsiteY0" fmla="*/ 0 h 224971"/>
              <a:gd name="connsiteX1" fmla="*/ 7750629 w 7750629"/>
              <a:gd name="connsiteY1" fmla="*/ 0 h 224971"/>
              <a:gd name="connsiteX2" fmla="*/ 7750629 w 7750629"/>
              <a:gd name="connsiteY2" fmla="*/ 224971 h 224971"/>
              <a:gd name="connsiteX3" fmla="*/ 0 w 7750629"/>
              <a:gd name="connsiteY3" fmla="*/ 224971 h 224971"/>
              <a:gd name="connsiteX4" fmla="*/ 0 w 7750629"/>
              <a:gd name="connsiteY4" fmla="*/ 0 h 224971"/>
              <a:gd name="connsiteX0" fmla="*/ 0 w 7750629"/>
              <a:gd name="connsiteY0" fmla="*/ 0 h 224971"/>
              <a:gd name="connsiteX1" fmla="*/ 7576457 w 7750629"/>
              <a:gd name="connsiteY1" fmla="*/ 0 h 224971"/>
              <a:gd name="connsiteX2" fmla="*/ 7750629 w 7750629"/>
              <a:gd name="connsiteY2" fmla="*/ 224971 h 224971"/>
              <a:gd name="connsiteX3" fmla="*/ 0 w 7750629"/>
              <a:gd name="connsiteY3" fmla="*/ 224971 h 224971"/>
              <a:gd name="connsiteX4" fmla="*/ 0 w 7750629"/>
              <a:gd name="connsiteY4" fmla="*/ 0 h 224971"/>
              <a:gd name="connsiteX0" fmla="*/ 0 w 7869162"/>
              <a:gd name="connsiteY0" fmla="*/ 0 h 224971"/>
              <a:gd name="connsiteX1" fmla="*/ 7576457 w 7869162"/>
              <a:gd name="connsiteY1" fmla="*/ 0 h 224971"/>
              <a:gd name="connsiteX2" fmla="*/ 7869162 w 7869162"/>
              <a:gd name="connsiteY2" fmla="*/ 224971 h 224971"/>
              <a:gd name="connsiteX3" fmla="*/ 0 w 7869162"/>
              <a:gd name="connsiteY3" fmla="*/ 224971 h 224971"/>
              <a:gd name="connsiteX4" fmla="*/ 0 w 7869162"/>
              <a:gd name="connsiteY4" fmla="*/ 0 h 224971"/>
              <a:gd name="connsiteX0" fmla="*/ 0 w 7843762"/>
              <a:gd name="connsiteY0" fmla="*/ 0 h 242608"/>
              <a:gd name="connsiteX1" fmla="*/ 7576457 w 7843762"/>
              <a:gd name="connsiteY1" fmla="*/ 0 h 242608"/>
              <a:gd name="connsiteX2" fmla="*/ 7843762 w 7843762"/>
              <a:gd name="connsiteY2" fmla="*/ 242608 h 242608"/>
              <a:gd name="connsiteX3" fmla="*/ 0 w 7843762"/>
              <a:gd name="connsiteY3" fmla="*/ 224971 h 242608"/>
              <a:gd name="connsiteX4" fmla="*/ 0 w 7843762"/>
              <a:gd name="connsiteY4" fmla="*/ 0 h 24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3762" h="242608">
                <a:moveTo>
                  <a:pt x="0" y="0"/>
                </a:moveTo>
                <a:lnTo>
                  <a:pt x="7576457" y="0"/>
                </a:lnTo>
                <a:lnTo>
                  <a:pt x="7843762" y="242608"/>
                </a:lnTo>
                <a:lnTo>
                  <a:pt x="0" y="2249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827D541D-0F6E-6547-808F-D1AD6B90D63D}"/>
              </a:ext>
            </a:extLst>
          </p:cNvPr>
          <p:cNvSpPr/>
          <p:nvPr userDrawn="1"/>
        </p:nvSpPr>
        <p:spPr>
          <a:xfrm>
            <a:off x="7773489" y="6759939"/>
            <a:ext cx="4428000" cy="108000"/>
          </a:xfrm>
          <a:custGeom>
            <a:avLst/>
            <a:gdLst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0 w 3425372"/>
              <a:gd name="connsiteY3" fmla="*/ 224972 h 224972"/>
              <a:gd name="connsiteX4" fmla="*/ 0 w 3425372"/>
              <a:gd name="connsiteY4" fmla="*/ 0 h 224972"/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275771 w 3425372"/>
              <a:gd name="connsiteY3" fmla="*/ 224972 h 224972"/>
              <a:gd name="connsiteX4" fmla="*/ 0 w 3425372"/>
              <a:gd name="connsiteY4" fmla="*/ 0 h 224972"/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238129 w 3425372"/>
              <a:gd name="connsiteY3" fmla="*/ 224972 h 224972"/>
              <a:gd name="connsiteX4" fmla="*/ 0 w 3425372"/>
              <a:gd name="connsiteY4" fmla="*/ 0 h 22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372" h="224972">
                <a:moveTo>
                  <a:pt x="0" y="0"/>
                </a:moveTo>
                <a:lnTo>
                  <a:pt x="3425372" y="0"/>
                </a:lnTo>
                <a:lnTo>
                  <a:pt x="3425372" y="224972"/>
                </a:lnTo>
                <a:lnTo>
                  <a:pt x="238129" y="224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FAD82F-D08A-7043-9645-A7AA8FDCAE57}"/>
              </a:ext>
            </a:extLst>
          </p:cNvPr>
          <p:cNvGrpSpPr/>
          <p:nvPr userDrawn="1"/>
        </p:nvGrpSpPr>
        <p:grpSpPr>
          <a:xfrm>
            <a:off x="-1737360" y="1052513"/>
            <a:ext cx="1500146" cy="5088372"/>
            <a:chOff x="-1219200" y="781663"/>
            <a:chExt cx="1073426" cy="36409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97F3E-BC83-1C40-8390-2187498787ED}"/>
                </a:ext>
              </a:extLst>
            </p:cNvPr>
            <p:cNvSpPr/>
            <p:nvPr userDrawn="1"/>
          </p:nvSpPr>
          <p:spPr>
            <a:xfrm>
              <a:off x="-1219200" y="3918636"/>
              <a:ext cx="1073426" cy="50400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Text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only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127/127/127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1CC731-5E22-5C46-B8B7-D0D81610A19B}"/>
                </a:ext>
              </a:extLst>
            </p:cNvPr>
            <p:cNvSpPr/>
            <p:nvPr userDrawn="1"/>
          </p:nvSpPr>
          <p:spPr>
            <a:xfrm>
              <a:off x="-1219200" y="781663"/>
              <a:ext cx="1073426" cy="504000"/>
            </a:xfrm>
            <a:prstGeom prst="rect">
              <a:avLst/>
            </a:prstGeom>
            <a:solidFill>
              <a:srgbClr val="07377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Main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Color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s-I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073779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62C8C3-725B-8344-B8F6-6BE4A4B1095B}"/>
                </a:ext>
              </a:extLst>
            </p:cNvPr>
            <p:cNvSpPr/>
            <p:nvPr userDrawn="1"/>
          </p:nvSpPr>
          <p:spPr>
            <a:xfrm>
              <a:off x="-1219200" y="1409058"/>
              <a:ext cx="1073426" cy="504000"/>
            </a:xfrm>
            <a:prstGeom prst="rect">
              <a:avLst/>
            </a:prstGeom>
            <a:solidFill>
              <a:srgbClr val="1782B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</a:t>
              </a:r>
              <a:r>
                <a:rPr kumimoji="0" lang="en-US" altLang="zh-CN" sz="1200" b="0" i="0" u="none" strike="noStrike" kern="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nd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/</a:t>
              </a:r>
              <a:r>
                <a:rPr kumimoji="0" lang="en-US" altLang="zh-CN" sz="12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FlatIcon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1782BF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51ED0B-C369-244F-A92F-9749B4D1847E}"/>
                </a:ext>
              </a:extLst>
            </p:cNvPr>
            <p:cNvSpPr/>
            <p:nvPr userDrawn="1"/>
          </p:nvSpPr>
          <p:spPr>
            <a:xfrm>
              <a:off x="-1219200" y="2036453"/>
              <a:ext cx="1073426" cy="504000"/>
            </a:xfrm>
            <a:prstGeom prst="rect">
              <a:avLst/>
            </a:prstGeom>
            <a:solidFill>
              <a:srgbClr val="DCE6F4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</a:t>
              </a:r>
              <a:r>
                <a:rPr kumimoji="0" lang="en-US" altLang="zh-CN" sz="1200" b="0" i="0" u="none" strike="noStrike" kern="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rd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color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05E290-BCE8-7548-BBB0-48992CF2A7A4}"/>
                </a:ext>
              </a:extLst>
            </p:cNvPr>
            <p:cNvSpPr/>
            <p:nvPr userDrawn="1"/>
          </p:nvSpPr>
          <p:spPr>
            <a:xfrm>
              <a:off x="-1219200" y="2663848"/>
              <a:ext cx="1073426" cy="504000"/>
            </a:xfrm>
            <a:prstGeom prst="rect">
              <a:avLst/>
            </a:prstGeom>
            <a:solidFill>
              <a:srgbClr val="DBDBDB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Arrows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or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random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shapes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DBDBDB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7FD9AE-F1BC-5641-ABD1-49B1102DAF2E}"/>
                </a:ext>
              </a:extLst>
            </p:cNvPr>
            <p:cNvSpPr/>
            <p:nvPr userDrawn="1"/>
          </p:nvSpPr>
          <p:spPr>
            <a:xfrm>
              <a:off x="-1219200" y="3291243"/>
              <a:ext cx="1073426" cy="5040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Key Takeaway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235/102/21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084AF7-059A-6E47-89AE-6D9B084D4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0173" y="6389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6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60" r:id="rId3"/>
    <p:sldLayoutId id="2147483661" r:id="rId4"/>
    <p:sldLayoutId id="2147483662" r:id="rId5"/>
    <p:sldLayoutId id="2147483663" r:id="rId6"/>
    <p:sldLayoutId id="214748367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3884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6"/>
          <p:cNvSpPr/>
          <p:nvPr userDrawn="1"/>
        </p:nvSpPr>
        <p:spPr>
          <a:xfrm>
            <a:off x="1" y="6759939"/>
            <a:ext cx="7843762" cy="109858"/>
          </a:xfrm>
          <a:custGeom>
            <a:avLst/>
            <a:gdLst>
              <a:gd name="connsiteX0" fmla="*/ 0 w 7750629"/>
              <a:gd name="connsiteY0" fmla="*/ 0 h 224971"/>
              <a:gd name="connsiteX1" fmla="*/ 7750629 w 7750629"/>
              <a:gd name="connsiteY1" fmla="*/ 0 h 224971"/>
              <a:gd name="connsiteX2" fmla="*/ 7750629 w 7750629"/>
              <a:gd name="connsiteY2" fmla="*/ 224971 h 224971"/>
              <a:gd name="connsiteX3" fmla="*/ 0 w 7750629"/>
              <a:gd name="connsiteY3" fmla="*/ 224971 h 224971"/>
              <a:gd name="connsiteX4" fmla="*/ 0 w 7750629"/>
              <a:gd name="connsiteY4" fmla="*/ 0 h 224971"/>
              <a:gd name="connsiteX0" fmla="*/ 0 w 7750629"/>
              <a:gd name="connsiteY0" fmla="*/ 0 h 224971"/>
              <a:gd name="connsiteX1" fmla="*/ 7576457 w 7750629"/>
              <a:gd name="connsiteY1" fmla="*/ 0 h 224971"/>
              <a:gd name="connsiteX2" fmla="*/ 7750629 w 7750629"/>
              <a:gd name="connsiteY2" fmla="*/ 224971 h 224971"/>
              <a:gd name="connsiteX3" fmla="*/ 0 w 7750629"/>
              <a:gd name="connsiteY3" fmla="*/ 224971 h 224971"/>
              <a:gd name="connsiteX4" fmla="*/ 0 w 7750629"/>
              <a:gd name="connsiteY4" fmla="*/ 0 h 224971"/>
              <a:gd name="connsiteX0" fmla="*/ 0 w 7869162"/>
              <a:gd name="connsiteY0" fmla="*/ 0 h 224971"/>
              <a:gd name="connsiteX1" fmla="*/ 7576457 w 7869162"/>
              <a:gd name="connsiteY1" fmla="*/ 0 h 224971"/>
              <a:gd name="connsiteX2" fmla="*/ 7869162 w 7869162"/>
              <a:gd name="connsiteY2" fmla="*/ 224971 h 224971"/>
              <a:gd name="connsiteX3" fmla="*/ 0 w 7869162"/>
              <a:gd name="connsiteY3" fmla="*/ 224971 h 224971"/>
              <a:gd name="connsiteX4" fmla="*/ 0 w 7869162"/>
              <a:gd name="connsiteY4" fmla="*/ 0 h 224971"/>
              <a:gd name="connsiteX0" fmla="*/ 0 w 7843762"/>
              <a:gd name="connsiteY0" fmla="*/ 0 h 242608"/>
              <a:gd name="connsiteX1" fmla="*/ 7576457 w 7843762"/>
              <a:gd name="connsiteY1" fmla="*/ 0 h 242608"/>
              <a:gd name="connsiteX2" fmla="*/ 7843762 w 7843762"/>
              <a:gd name="connsiteY2" fmla="*/ 242608 h 242608"/>
              <a:gd name="connsiteX3" fmla="*/ 0 w 7843762"/>
              <a:gd name="connsiteY3" fmla="*/ 224971 h 242608"/>
              <a:gd name="connsiteX4" fmla="*/ 0 w 7843762"/>
              <a:gd name="connsiteY4" fmla="*/ 0 h 24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3762" h="242608">
                <a:moveTo>
                  <a:pt x="0" y="0"/>
                </a:moveTo>
                <a:lnTo>
                  <a:pt x="7576457" y="0"/>
                </a:lnTo>
                <a:lnTo>
                  <a:pt x="7843762" y="242608"/>
                </a:lnTo>
                <a:lnTo>
                  <a:pt x="0" y="2249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827D541D-0F6E-6547-808F-D1AD6B90D63D}"/>
              </a:ext>
            </a:extLst>
          </p:cNvPr>
          <p:cNvSpPr/>
          <p:nvPr userDrawn="1"/>
        </p:nvSpPr>
        <p:spPr>
          <a:xfrm>
            <a:off x="7773489" y="6759939"/>
            <a:ext cx="4428000" cy="108000"/>
          </a:xfrm>
          <a:custGeom>
            <a:avLst/>
            <a:gdLst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0 w 3425372"/>
              <a:gd name="connsiteY3" fmla="*/ 224972 h 224972"/>
              <a:gd name="connsiteX4" fmla="*/ 0 w 3425372"/>
              <a:gd name="connsiteY4" fmla="*/ 0 h 224972"/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275771 w 3425372"/>
              <a:gd name="connsiteY3" fmla="*/ 224972 h 224972"/>
              <a:gd name="connsiteX4" fmla="*/ 0 w 3425372"/>
              <a:gd name="connsiteY4" fmla="*/ 0 h 224972"/>
              <a:gd name="connsiteX0" fmla="*/ 0 w 3425372"/>
              <a:gd name="connsiteY0" fmla="*/ 0 h 224972"/>
              <a:gd name="connsiteX1" fmla="*/ 3425372 w 3425372"/>
              <a:gd name="connsiteY1" fmla="*/ 0 h 224972"/>
              <a:gd name="connsiteX2" fmla="*/ 3425372 w 3425372"/>
              <a:gd name="connsiteY2" fmla="*/ 224972 h 224972"/>
              <a:gd name="connsiteX3" fmla="*/ 238129 w 3425372"/>
              <a:gd name="connsiteY3" fmla="*/ 224972 h 224972"/>
              <a:gd name="connsiteX4" fmla="*/ 0 w 3425372"/>
              <a:gd name="connsiteY4" fmla="*/ 0 h 22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372" h="224972">
                <a:moveTo>
                  <a:pt x="0" y="0"/>
                </a:moveTo>
                <a:lnTo>
                  <a:pt x="3425372" y="0"/>
                </a:lnTo>
                <a:lnTo>
                  <a:pt x="3425372" y="224972"/>
                </a:lnTo>
                <a:lnTo>
                  <a:pt x="238129" y="224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FAD82F-D08A-7043-9645-A7AA8FDCAE57}"/>
              </a:ext>
            </a:extLst>
          </p:cNvPr>
          <p:cNvGrpSpPr/>
          <p:nvPr userDrawn="1"/>
        </p:nvGrpSpPr>
        <p:grpSpPr>
          <a:xfrm>
            <a:off x="-1737360" y="1052513"/>
            <a:ext cx="1500146" cy="5088372"/>
            <a:chOff x="-1219200" y="781663"/>
            <a:chExt cx="1073426" cy="36409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97F3E-BC83-1C40-8390-2187498787ED}"/>
                </a:ext>
              </a:extLst>
            </p:cNvPr>
            <p:cNvSpPr/>
            <p:nvPr userDrawn="1"/>
          </p:nvSpPr>
          <p:spPr>
            <a:xfrm>
              <a:off x="-1219200" y="3918636"/>
              <a:ext cx="1073426" cy="50400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Text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only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127/127/127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1CC731-5E22-5C46-B8B7-D0D81610A19B}"/>
                </a:ext>
              </a:extLst>
            </p:cNvPr>
            <p:cNvSpPr/>
            <p:nvPr userDrawn="1"/>
          </p:nvSpPr>
          <p:spPr>
            <a:xfrm>
              <a:off x="-1219200" y="781663"/>
              <a:ext cx="1073426" cy="504000"/>
            </a:xfrm>
            <a:prstGeom prst="rect">
              <a:avLst/>
            </a:prstGeom>
            <a:solidFill>
              <a:srgbClr val="07377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Main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Color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s-I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073779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62C8C3-725B-8344-B8F6-6BE4A4B1095B}"/>
                </a:ext>
              </a:extLst>
            </p:cNvPr>
            <p:cNvSpPr/>
            <p:nvPr userDrawn="1"/>
          </p:nvSpPr>
          <p:spPr>
            <a:xfrm>
              <a:off x="-1219200" y="1409058"/>
              <a:ext cx="1073426" cy="504000"/>
            </a:xfrm>
            <a:prstGeom prst="rect">
              <a:avLst/>
            </a:prstGeom>
            <a:solidFill>
              <a:srgbClr val="1782B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</a:t>
              </a:r>
              <a:r>
                <a:rPr kumimoji="0" lang="en-US" altLang="zh-CN" sz="1200" b="0" i="0" u="none" strike="noStrike" kern="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nd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/</a:t>
              </a:r>
              <a:r>
                <a:rPr kumimoji="0" lang="en-US" altLang="zh-CN" sz="12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FlatIcon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1782BF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51ED0B-C369-244F-A92F-9749B4D1847E}"/>
                </a:ext>
              </a:extLst>
            </p:cNvPr>
            <p:cNvSpPr/>
            <p:nvPr userDrawn="1"/>
          </p:nvSpPr>
          <p:spPr>
            <a:xfrm>
              <a:off x="-1219200" y="2036453"/>
              <a:ext cx="1073426" cy="504000"/>
            </a:xfrm>
            <a:prstGeom prst="rect">
              <a:avLst/>
            </a:prstGeom>
            <a:solidFill>
              <a:srgbClr val="DCE6F4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</a:t>
              </a:r>
              <a:r>
                <a:rPr kumimoji="0" lang="en-US" altLang="zh-CN" sz="1200" b="0" i="0" u="none" strike="noStrike" kern="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rd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color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05E290-BCE8-7548-BBB0-48992CF2A7A4}"/>
                </a:ext>
              </a:extLst>
            </p:cNvPr>
            <p:cNvSpPr/>
            <p:nvPr userDrawn="1"/>
          </p:nvSpPr>
          <p:spPr>
            <a:xfrm>
              <a:off x="-1219200" y="2663848"/>
              <a:ext cx="1073426" cy="504000"/>
            </a:xfrm>
            <a:prstGeom prst="rect">
              <a:avLst/>
            </a:prstGeom>
            <a:solidFill>
              <a:srgbClr val="DBDBDB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Arrows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or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random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shapes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DBDBDB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7FD9AE-F1BC-5641-ABD1-49B1102DAF2E}"/>
                </a:ext>
              </a:extLst>
            </p:cNvPr>
            <p:cNvSpPr/>
            <p:nvPr userDrawn="1"/>
          </p:nvSpPr>
          <p:spPr>
            <a:xfrm>
              <a:off x="-1219200" y="3291243"/>
              <a:ext cx="1073426" cy="5040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Key Takeaway</a:t>
              </a:r>
            </a:p>
            <a:p>
              <a:pPr marL="0" marR="0" lvl="0" indent="0" algn="ctr" defTabSz="3896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235/102/21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084AF7-059A-6E47-89AE-6D9B084D4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0173" y="6389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F3C0EB-16EB-5D4D-A756-D022B93CAF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F234B6-153B-4C8C-84DD-BEDFE63673AE}"/>
              </a:ext>
            </a:extLst>
          </p:cNvPr>
          <p:cNvSpPr/>
          <p:nvPr userDrawn="1"/>
        </p:nvSpPr>
        <p:spPr>
          <a:xfrm>
            <a:off x="10077650" y="82151"/>
            <a:ext cx="2040556" cy="895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>
                <a:latin typeface="Calibri Light" panose="020F0302020204030204" pitchFamily="34" charset="0"/>
                <a:cs typeface="Calibri Light" panose="020F0302020204030204" pitchFamily="34" charset="0"/>
              </a:rPr>
              <a:t>Insert</a:t>
            </a:r>
          </a:p>
          <a:p>
            <a:pPr algn="ctr"/>
            <a:r>
              <a:rPr lang="en-HK">
                <a:latin typeface="Calibri Light" panose="020F0302020204030204" pitchFamily="34" charset="0"/>
                <a:cs typeface="Calibri Light" panose="020F0302020204030204" pitchFamily="34" charset="0"/>
              </a:rPr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276959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3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3884">
          <p15:clr>
            <a:srgbClr val="F26B43"/>
          </p15:clr>
        </p15:guide>
        <p15:guide id="5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tiff"/><Relationship Id="rId9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11" Type="http://schemas.openxmlformats.org/officeDocument/2006/relationships/image" Target="../media/image59.png"/><Relationship Id="rId5" Type="http://schemas.openxmlformats.org/officeDocument/2006/relationships/image" Target="../media/image53.tiff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ctionary.com/e/emoji/100-emoji/" TargetMode="External"/><Relationship Id="rId11" Type="http://schemas.openxmlformats.org/officeDocument/2006/relationships/image" Target="../media/image80.png"/><Relationship Id="rId5" Type="http://schemas.openxmlformats.org/officeDocument/2006/relationships/image" Target="../media/image75.jpe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e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eg"/><Relationship Id="rId3" Type="http://schemas.openxmlformats.org/officeDocument/2006/relationships/image" Target="../media/image85.jpeg"/><Relationship Id="rId7" Type="http://schemas.openxmlformats.org/officeDocument/2006/relationships/image" Target="../media/image8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jpeg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tiff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tif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tif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ctionary.com/e/emoji/100-emoji/" TargetMode="External"/><Relationship Id="rId11" Type="http://schemas.openxmlformats.org/officeDocument/2006/relationships/image" Target="../media/image80.png"/><Relationship Id="rId5" Type="http://schemas.openxmlformats.org/officeDocument/2006/relationships/image" Target="../media/image75.jpe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person pouring drink on clear glass during daytime">
            <a:extLst>
              <a:ext uri="{FF2B5EF4-FFF2-40B4-BE49-F238E27FC236}">
                <a16:creationId xmlns:a16="http://schemas.microsoft.com/office/drawing/2014/main" id="{13EA8CEA-0876-4C1F-9883-C30FF315CD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8"/>
          <a:stretch/>
        </p:blipFill>
        <p:spPr bwMode="auto">
          <a:xfrm>
            <a:off x="3703781" y="1435211"/>
            <a:ext cx="7823865" cy="440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E8751D-A5AC-DF41-82B1-EE465F06BF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20" t="19245" r="11824" b="2294"/>
          <a:stretch/>
        </p:blipFill>
        <p:spPr>
          <a:xfrm>
            <a:off x="5278122" y="1175823"/>
            <a:ext cx="6249524" cy="4376384"/>
          </a:xfrm>
          <a:prstGeom prst="rect">
            <a:avLst/>
          </a:prstGeom>
        </p:spPr>
      </p:pic>
      <p:sp>
        <p:nvSpPr>
          <p:cNvPr id="24" name="Trapezoid 23">
            <a:extLst>
              <a:ext uri="{FF2B5EF4-FFF2-40B4-BE49-F238E27FC236}">
                <a16:creationId xmlns:a16="http://schemas.microsoft.com/office/drawing/2014/main" id="{5BF8A214-6FC9-014E-83F0-939FDBE28C2C}"/>
              </a:ext>
            </a:extLst>
          </p:cNvPr>
          <p:cNvSpPr/>
          <p:nvPr/>
        </p:nvSpPr>
        <p:spPr>
          <a:xfrm>
            <a:off x="3363680" y="5091035"/>
            <a:ext cx="3471462" cy="1278126"/>
          </a:xfrm>
          <a:prstGeom prst="trapezoid">
            <a:avLst>
              <a:gd name="adj" fmla="val 269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444C2-E242-0145-A8B3-8B7AFE702F3E}"/>
              </a:ext>
            </a:extLst>
          </p:cNvPr>
          <p:cNvSpPr/>
          <p:nvPr/>
        </p:nvSpPr>
        <p:spPr>
          <a:xfrm>
            <a:off x="0" y="371227"/>
            <a:ext cx="6012000" cy="241200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C00C246E-D692-E846-88E3-9EF96142B53D}"/>
              </a:ext>
            </a:extLst>
          </p:cNvPr>
          <p:cNvSpPr/>
          <p:nvPr/>
        </p:nvSpPr>
        <p:spPr>
          <a:xfrm>
            <a:off x="831256" y="1151254"/>
            <a:ext cx="5687878" cy="4014061"/>
          </a:xfrm>
          <a:prstGeom prst="trapezoid">
            <a:avLst>
              <a:gd name="adj" fmla="val 26483"/>
            </a:avLst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F8BCA-2C67-3241-8183-03B3D74FBE0B}"/>
              </a:ext>
            </a:extLst>
          </p:cNvPr>
          <p:cNvSpPr/>
          <p:nvPr/>
        </p:nvSpPr>
        <p:spPr>
          <a:xfrm>
            <a:off x="6180000" y="6210184"/>
            <a:ext cx="6012000" cy="241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653365-C4D2-FA4E-875C-3C491FEA3389}"/>
              </a:ext>
            </a:extLst>
          </p:cNvPr>
          <p:cNvGrpSpPr/>
          <p:nvPr/>
        </p:nvGrpSpPr>
        <p:grpSpPr>
          <a:xfrm>
            <a:off x="6519257" y="5184769"/>
            <a:ext cx="5000335" cy="202631"/>
            <a:chOff x="6250343" y="5145435"/>
            <a:chExt cx="5003350" cy="202631"/>
          </a:xfrm>
          <a:solidFill>
            <a:srgbClr val="073779"/>
          </a:solidFill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55239000-623C-D64D-ABB0-546F7A5B531F}"/>
                </a:ext>
              </a:extLst>
            </p:cNvPr>
            <p:cNvSpPr/>
            <p:nvPr/>
          </p:nvSpPr>
          <p:spPr>
            <a:xfrm flipV="1">
              <a:off x="6250343" y="5145436"/>
              <a:ext cx="4879188" cy="202630"/>
            </a:xfrm>
            <a:prstGeom prst="trapezoid">
              <a:avLst>
                <a:gd name="adj" fmla="val 2707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A08959-E823-3443-A848-D9F51984695A}"/>
                </a:ext>
              </a:extLst>
            </p:cNvPr>
            <p:cNvSpPr/>
            <p:nvPr/>
          </p:nvSpPr>
          <p:spPr>
            <a:xfrm>
              <a:off x="9176920" y="5145435"/>
              <a:ext cx="2076773" cy="2026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341830-20FE-FB44-B7B4-EF03AA01C4C4}"/>
              </a:ext>
            </a:extLst>
          </p:cNvPr>
          <p:cNvCxnSpPr>
            <a:cxnSpLocks/>
          </p:cNvCxnSpPr>
          <p:nvPr/>
        </p:nvCxnSpPr>
        <p:spPr>
          <a:xfrm>
            <a:off x="5339414" y="746920"/>
            <a:ext cx="1454400" cy="54648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2E9C0EA-EF5D-994A-ADA5-71261CF7F626}"/>
              </a:ext>
            </a:extLst>
          </p:cNvPr>
          <p:cNvSpPr/>
          <p:nvPr/>
        </p:nvSpPr>
        <p:spPr>
          <a:xfrm>
            <a:off x="615362" y="1151253"/>
            <a:ext cx="2261671" cy="4014061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B64463-FB54-E446-A157-BDB1B6360DBE}"/>
              </a:ext>
            </a:extLst>
          </p:cNvPr>
          <p:cNvSpPr txBox="1"/>
          <p:nvPr/>
        </p:nvSpPr>
        <p:spPr>
          <a:xfrm>
            <a:off x="831256" y="1988100"/>
            <a:ext cx="26761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catchy title </a:t>
            </a:r>
          </a:p>
          <a:p>
            <a:r>
              <a:rPr lang="en-US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Strategy description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B2279-CFD9-4693-B4C9-A2F4191438E3}"/>
              </a:ext>
            </a:extLst>
          </p:cNvPr>
          <p:cNvSpPr/>
          <p:nvPr/>
        </p:nvSpPr>
        <p:spPr>
          <a:xfrm>
            <a:off x="615362" y="5348384"/>
            <a:ext cx="2045777" cy="82278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b="1">
                <a:solidFill>
                  <a:srgbClr val="FF0000"/>
                </a:solidFill>
              </a:rPr>
              <a:t>Insert </a:t>
            </a:r>
          </a:p>
          <a:p>
            <a:pPr algn="ctr"/>
            <a:r>
              <a:rPr lang="en-HK" sz="2000" b="1">
                <a:solidFill>
                  <a:srgbClr val="FF0000"/>
                </a:solidFill>
              </a:rPr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161652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670A4C8-7837-4341-BE8D-5582E33A9833}"/>
              </a:ext>
            </a:extLst>
          </p:cNvPr>
          <p:cNvSpPr/>
          <p:nvPr/>
        </p:nvSpPr>
        <p:spPr>
          <a:xfrm>
            <a:off x="2751184" y="1703346"/>
            <a:ext cx="6448687" cy="2162468"/>
          </a:xfrm>
          <a:prstGeom prst="rect">
            <a:avLst/>
          </a:prstGeom>
          <a:blipFill dpi="0" rotWithShape="1">
            <a:blip r:embed="rId3"/>
            <a:srcRect/>
            <a:stretch>
              <a:fillRect l="44000" t="-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HK" b="1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A715F7-7E97-F546-9407-E207723C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96E71-A78A-E145-9346-6083A5F80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Overview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904C75-CBFA-7140-9480-699CC2ABD87B}"/>
              </a:ext>
            </a:extLst>
          </p:cNvPr>
          <p:cNvSpPr/>
          <p:nvPr/>
        </p:nvSpPr>
        <p:spPr>
          <a:xfrm>
            <a:off x="300039" y="1196980"/>
            <a:ext cx="11591924" cy="403225"/>
          </a:xfrm>
          <a:prstGeom prst="rect">
            <a:avLst/>
          </a:prstGeom>
          <a:solidFill>
            <a:schemeClr val="accent5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 defTabSz="457167">
              <a:defRPr/>
            </a:pPr>
            <a:endParaRPr lang="en-US" sz="2800" b="1" i="1" kern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FA28A4-B9A3-C44B-8145-242E31550E5A}"/>
              </a:ext>
            </a:extLst>
          </p:cNvPr>
          <p:cNvSpPr/>
          <p:nvPr/>
        </p:nvSpPr>
        <p:spPr>
          <a:xfrm>
            <a:off x="2353365" y="1960661"/>
            <a:ext cx="2220272" cy="16653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/>
            <a:r>
              <a:rPr lang="en-HK" sz="1600" b="1" i="1">
                <a:latin typeface="Calibri" panose="020F0502020204030204" pitchFamily="34" charset="0"/>
                <a:cs typeface="Calibri" panose="020F0502020204030204" pitchFamily="34" charset="0"/>
              </a:rPr>
              <a:t>How can XXX?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4C4FCA-D26A-D54B-886B-44893DD363CA}"/>
              </a:ext>
            </a:extLst>
          </p:cNvPr>
          <p:cNvSpPr txBox="1"/>
          <p:nvPr/>
        </p:nvSpPr>
        <p:spPr>
          <a:xfrm>
            <a:off x="432404" y="1266636"/>
            <a:ext cx="1920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67">
              <a:defRPr/>
            </a:pPr>
            <a:r>
              <a:rPr lang="en-US" sz="1400" b="1" kern="0" spc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7997B8-67E4-2148-8113-A0E6F27B5B23}"/>
              </a:ext>
            </a:extLst>
          </p:cNvPr>
          <p:cNvSpPr txBox="1"/>
          <p:nvPr/>
        </p:nvSpPr>
        <p:spPr>
          <a:xfrm>
            <a:off x="2450797" y="1258985"/>
            <a:ext cx="209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67">
              <a:defRPr/>
            </a:pPr>
            <a:r>
              <a:rPr lang="en-US" sz="1400" b="1" kern="0" spc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QUESTION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40CE74-04CF-3941-84A1-88EF0952562E}"/>
              </a:ext>
            </a:extLst>
          </p:cNvPr>
          <p:cNvSpPr txBox="1"/>
          <p:nvPr/>
        </p:nvSpPr>
        <p:spPr>
          <a:xfrm>
            <a:off x="5558993" y="1258825"/>
            <a:ext cx="2777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67">
              <a:defRPr/>
            </a:pPr>
            <a:r>
              <a:rPr lang="en-US" sz="1400" b="1" kern="0" spc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9BAAC8-D6E5-184F-8464-1245680F7B88}"/>
              </a:ext>
            </a:extLst>
          </p:cNvPr>
          <p:cNvSpPr txBox="1"/>
          <p:nvPr/>
        </p:nvSpPr>
        <p:spPr>
          <a:xfrm>
            <a:off x="10041909" y="1258985"/>
            <a:ext cx="1318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67">
              <a:defRPr/>
            </a:pPr>
            <a:r>
              <a:rPr lang="en-US" sz="1400" b="1" kern="0" spc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560A2F-3298-9B4D-A323-57959985EF6C}"/>
              </a:ext>
            </a:extLst>
          </p:cNvPr>
          <p:cNvSpPr/>
          <p:nvPr/>
        </p:nvSpPr>
        <p:spPr>
          <a:xfrm>
            <a:off x="300040" y="1712106"/>
            <a:ext cx="1955885" cy="2162469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 defTabSz="457167">
              <a:defRPr/>
            </a:pPr>
            <a:r>
              <a:rPr lang="en-US" sz="1600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Situation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6DB59D-6145-0545-ADB6-10A82B91152F}"/>
              </a:ext>
            </a:extLst>
          </p:cNvPr>
          <p:cNvSpPr/>
          <p:nvPr/>
        </p:nvSpPr>
        <p:spPr>
          <a:xfrm>
            <a:off x="9389066" y="1708779"/>
            <a:ext cx="2502894" cy="216246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 defTabSz="457167">
              <a:defRPr/>
            </a:pPr>
            <a:r>
              <a:rPr lang="en-US" sz="1600" ker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n-US" sz="1600" kern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XXm</a:t>
            </a:r>
            <a:r>
              <a:rPr lang="en-US" sz="1600" ker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incremental revenue by 2023</a:t>
            </a:r>
          </a:p>
        </p:txBody>
      </p:sp>
      <p:sp>
        <p:nvSpPr>
          <p:cNvPr id="23" name="Trapezoid 24">
            <a:extLst>
              <a:ext uri="{FF2B5EF4-FFF2-40B4-BE49-F238E27FC236}">
                <a16:creationId xmlns:a16="http://schemas.microsoft.com/office/drawing/2014/main" id="{66F6AB99-5728-A944-BA53-FC2F90BC0CC4}"/>
              </a:ext>
            </a:extLst>
          </p:cNvPr>
          <p:cNvSpPr/>
          <p:nvPr/>
        </p:nvSpPr>
        <p:spPr>
          <a:xfrm flipH="1" flipV="1">
            <a:off x="4991440" y="1708779"/>
            <a:ext cx="3083020" cy="2165796"/>
          </a:xfrm>
          <a:custGeom>
            <a:avLst/>
            <a:gdLst>
              <a:gd name="connsiteX0" fmla="*/ 0 w 2389491"/>
              <a:gd name="connsiteY0" fmla="*/ 1439999 h 1439999"/>
              <a:gd name="connsiteX1" fmla="*/ 0 w 2389491"/>
              <a:gd name="connsiteY1" fmla="*/ 0 h 1439999"/>
              <a:gd name="connsiteX2" fmla="*/ 2389491 w 2389491"/>
              <a:gd name="connsiteY2" fmla="*/ 0 h 1439999"/>
              <a:gd name="connsiteX3" fmla="*/ 2389491 w 2389491"/>
              <a:gd name="connsiteY3" fmla="*/ 1439999 h 1439999"/>
              <a:gd name="connsiteX4" fmla="*/ 0 w 2389491"/>
              <a:gd name="connsiteY4" fmla="*/ 1439999 h 1439999"/>
              <a:gd name="connsiteX0" fmla="*/ 0 w 2389491"/>
              <a:gd name="connsiteY0" fmla="*/ 1444232 h 1444232"/>
              <a:gd name="connsiteX1" fmla="*/ 770467 w 2389491"/>
              <a:gd name="connsiteY1" fmla="*/ 0 h 1444232"/>
              <a:gd name="connsiteX2" fmla="*/ 2389491 w 2389491"/>
              <a:gd name="connsiteY2" fmla="*/ 4233 h 1444232"/>
              <a:gd name="connsiteX3" fmla="*/ 2389491 w 2389491"/>
              <a:gd name="connsiteY3" fmla="*/ 1444232 h 1444232"/>
              <a:gd name="connsiteX4" fmla="*/ 0 w 2389491"/>
              <a:gd name="connsiteY4" fmla="*/ 1444232 h 144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491" h="1444232">
                <a:moveTo>
                  <a:pt x="0" y="1444232"/>
                </a:moveTo>
                <a:lnTo>
                  <a:pt x="770467" y="0"/>
                </a:lnTo>
                <a:lnTo>
                  <a:pt x="2389491" y="4233"/>
                </a:lnTo>
                <a:lnTo>
                  <a:pt x="2389491" y="1444232"/>
                </a:lnTo>
                <a:lnTo>
                  <a:pt x="0" y="144423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31D38C-D230-2843-90B9-195200FE0EF5}"/>
              </a:ext>
            </a:extLst>
          </p:cNvPr>
          <p:cNvSpPr/>
          <p:nvPr/>
        </p:nvSpPr>
        <p:spPr>
          <a:xfrm>
            <a:off x="300040" y="3986476"/>
            <a:ext cx="1955885" cy="2162469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 defTabSz="457167">
              <a:defRPr/>
            </a:pPr>
            <a:r>
              <a:rPr lang="en-US" sz="1600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Situation B</a:t>
            </a:r>
          </a:p>
        </p:txBody>
      </p:sp>
      <p:sp>
        <p:nvSpPr>
          <p:cNvPr id="28" name="Arrow: Right 30">
            <a:extLst>
              <a:ext uri="{FF2B5EF4-FFF2-40B4-BE49-F238E27FC236}">
                <a16:creationId xmlns:a16="http://schemas.microsoft.com/office/drawing/2014/main" id="{0758AE8D-F431-4244-A0D1-E8E1372DADC7}"/>
              </a:ext>
            </a:extLst>
          </p:cNvPr>
          <p:cNvSpPr/>
          <p:nvPr/>
        </p:nvSpPr>
        <p:spPr>
          <a:xfrm>
            <a:off x="4664836" y="2583173"/>
            <a:ext cx="653208" cy="3509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412478-1961-B748-B8F3-64ECDC306690}"/>
              </a:ext>
            </a:extLst>
          </p:cNvPr>
          <p:cNvSpPr/>
          <p:nvPr/>
        </p:nvSpPr>
        <p:spPr>
          <a:xfrm>
            <a:off x="2353365" y="4268105"/>
            <a:ext cx="2220272" cy="16653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/>
            <a:r>
              <a:rPr lang="en-HK" sz="1600" b="1" i="1">
                <a:latin typeface="Calibri" panose="020F0502020204030204" pitchFamily="34" charset="0"/>
                <a:cs typeface="Calibri" panose="020F0502020204030204" pitchFamily="34" charset="0"/>
              </a:rPr>
              <a:t>How can XXX?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A61594-3D40-2244-9AA8-FF69C041318D}"/>
              </a:ext>
            </a:extLst>
          </p:cNvPr>
          <p:cNvSpPr/>
          <p:nvPr/>
        </p:nvSpPr>
        <p:spPr>
          <a:xfrm>
            <a:off x="9354309" y="3986476"/>
            <a:ext cx="2502894" cy="216246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algn="ctr" defTabSz="457167">
              <a:defRPr/>
            </a:pPr>
            <a:r>
              <a:rPr lang="en-US" sz="1600" ker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n-US" sz="1600" kern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XXm</a:t>
            </a:r>
            <a:r>
              <a:rPr lang="en-US" sz="1600" ker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incremental revenue by 2023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8D89DD-9D57-174E-BE52-F314012CECF9}"/>
              </a:ext>
            </a:extLst>
          </p:cNvPr>
          <p:cNvSpPr/>
          <p:nvPr/>
        </p:nvSpPr>
        <p:spPr>
          <a:xfrm>
            <a:off x="5403793" y="1902833"/>
            <a:ext cx="1905360" cy="1775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endParaRPr lang="en-HK" sz="2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5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Brief description of the solution and objective</a:t>
            </a:r>
            <a:endParaRPr lang="en-HK" sz="16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FA8140-C05D-5440-B16B-BAE9816E2583}"/>
              </a:ext>
            </a:extLst>
          </p:cNvPr>
          <p:cNvSpPr/>
          <p:nvPr/>
        </p:nvSpPr>
        <p:spPr>
          <a:xfrm>
            <a:off x="2751183" y="3991199"/>
            <a:ext cx="6448687" cy="2162468"/>
          </a:xfrm>
          <a:prstGeom prst="rect">
            <a:avLst/>
          </a:prstGeom>
          <a:blipFill dpi="0" rotWithShape="1">
            <a:blip r:embed="rId3"/>
            <a:srcRect/>
            <a:stretch>
              <a:fillRect l="44000" t="-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HK" b="1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51" name="Trapezoid 24">
            <a:extLst>
              <a:ext uri="{FF2B5EF4-FFF2-40B4-BE49-F238E27FC236}">
                <a16:creationId xmlns:a16="http://schemas.microsoft.com/office/drawing/2014/main" id="{39EF4D84-3637-F646-9B0F-664B7D2255E0}"/>
              </a:ext>
            </a:extLst>
          </p:cNvPr>
          <p:cNvSpPr/>
          <p:nvPr/>
        </p:nvSpPr>
        <p:spPr>
          <a:xfrm flipH="1" flipV="1">
            <a:off x="4991439" y="3996632"/>
            <a:ext cx="3083020" cy="2165796"/>
          </a:xfrm>
          <a:custGeom>
            <a:avLst/>
            <a:gdLst>
              <a:gd name="connsiteX0" fmla="*/ 0 w 2389491"/>
              <a:gd name="connsiteY0" fmla="*/ 1439999 h 1439999"/>
              <a:gd name="connsiteX1" fmla="*/ 0 w 2389491"/>
              <a:gd name="connsiteY1" fmla="*/ 0 h 1439999"/>
              <a:gd name="connsiteX2" fmla="*/ 2389491 w 2389491"/>
              <a:gd name="connsiteY2" fmla="*/ 0 h 1439999"/>
              <a:gd name="connsiteX3" fmla="*/ 2389491 w 2389491"/>
              <a:gd name="connsiteY3" fmla="*/ 1439999 h 1439999"/>
              <a:gd name="connsiteX4" fmla="*/ 0 w 2389491"/>
              <a:gd name="connsiteY4" fmla="*/ 1439999 h 1439999"/>
              <a:gd name="connsiteX0" fmla="*/ 0 w 2389491"/>
              <a:gd name="connsiteY0" fmla="*/ 1444232 h 1444232"/>
              <a:gd name="connsiteX1" fmla="*/ 770467 w 2389491"/>
              <a:gd name="connsiteY1" fmla="*/ 0 h 1444232"/>
              <a:gd name="connsiteX2" fmla="*/ 2389491 w 2389491"/>
              <a:gd name="connsiteY2" fmla="*/ 4233 h 1444232"/>
              <a:gd name="connsiteX3" fmla="*/ 2389491 w 2389491"/>
              <a:gd name="connsiteY3" fmla="*/ 1444232 h 1444232"/>
              <a:gd name="connsiteX4" fmla="*/ 0 w 2389491"/>
              <a:gd name="connsiteY4" fmla="*/ 1444232 h 144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491" h="1444232">
                <a:moveTo>
                  <a:pt x="0" y="1444232"/>
                </a:moveTo>
                <a:lnTo>
                  <a:pt x="770467" y="0"/>
                </a:lnTo>
                <a:lnTo>
                  <a:pt x="2389491" y="4233"/>
                </a:lnTo>
                <a:lnTo>
                  <a:pt x="2389491" y="1444232"/>
                </a:lnTo>
                <a:lnTo>
                  <a:pt x="0" y="1444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52" name="Arrow: Right 30">
            <a:extLst>
              <a:ext uri="{FF2B5EF4-FFF2-40B4-BE49-F238E27FC236}">
                <a16:creationId xmlns:a16="http://schemas.microsoft.com/office/drawing/2014/main" id="{42562E2E-0D18-2947-92B1-C1C6E47F9DD4}"/>
              </a:ext>
            </a:extLst>
          </p:cNvPr>
          <p:cNvSpPr/>
          <p:nvPr/>
        </p:nvSpPr>
        <p:spPr>
          <a:xfrm>
            <a:off x="4664835" y="4871026"/>
            <a:ext cx="653208" cy="3509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Product Sans" panose="020B040303050204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B5905D-996D-E741-A505-51694AEDF9DC}"/>
              </a:ext>
            </a:extLst>
          </p:cNvPr>
          <p:cNvSpPr/>
          <p:nvPr/>
        </p:nvSpPr>
        <p:spPr>
          <a:xfrm>
            <a:off x="5403792" y="4190686"/>
            <a:ext cx="1905360" cy="1775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endParaRPr lang="en-HK" sz="2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5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Brief description of the solution and objective</a:t>
            </a:r>
            <a:endParaRPr lang="en-HK" sz="16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83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3BB511-4ED9-4AD3-8908-C2AE2B20BF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BF3EFD-938B-44D9-8562-2685699E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AAC7E-34C0-4D42-96FA-85F7754D2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11504-808B-4408-B371-F267BBF77D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8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777CDC-B167-4B32-86A9-C246386B2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1DB286-34A9-477B-93BA-785B4128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F0D5-AB75-4F93-AAB4-FEBE52EE8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7E15F-4E9F-43E6-921B-815B2A3333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B73828-CFEF-4229-9907-B792037AE85C}"/>
              </a:ext>
            </a:extLst>
          </p:cNvPr>
          <p:cNvGrpSpPr/>
          <p:nvPr/>
        </p:nvGrpSpPr>
        <p:grpSpPr>
          <a:xfrm>
            <a:off x="0" y="0"/>
            <a:ext cx="12192000" cy="6886223"/>
            <a:chOff x="0" y="0"/>
            <a:chExt cx="9144000" cy="51646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90E31B-734F-45A7-B133-1AE27BC0DE0A}"/>
                </a:ext>
              </a:extLst>
            </p:cNvPr>
            <p:cNvSpPr/>
            <p:nvPr/>
          </p:nvSpPr>
          <p:spPr>
            <a:xfrm>
              <a:off x="0" y="0"/>
              <a:ext cx="9144000" cy="5164667"/>
            </a:xfrm>
            <a:prstGeom prst="rect">
              <a:avLst/>
            </a:prstGeom>
            <a:solidFill>
              <a:srgbClr val="073779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8" name="Picture 2" descr="Image result for white key icon png">
              <a:extLst>
                <a:ext uri="{FF2B5EF4-FFF2-40B4-BE49-F238E27FC236}">
                  <a16:creationId xmlns:a16="http://schemas.microsoft.com/office/drawing/2014/main" id="{CDE8BACC-9CC5-4834-9031-07F1516FAC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533" y="1902883"/>
              <a:ext cx="1337733" cy="1337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00262F-C10C-4E81-BA74-7E19B053C314}"/>
                </a:ext>
              </a:extLst>
            </p:cNvPr>
            <p:cNvSpPr/>
            <p:nvPr/>
          </p:nvSpPr>
          <p:spPr>
            <a:xfrm>
              <a:off x="2184400" y="1902882"/>
              <a:ext cx="6761163" cy="13377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sz="4000" b="1">
                  <a:solidFill>
                    <a:schemeClr val="bg1"/>
                  </a:solidFill>
                </a:rPr>
                <a:t>Key question</a:t>
              </a:r>
            </a:p>
            <a:p>
              <a:endParaRPr lang="en-HK" sz="2000" b="1">
                <a:solidFill>
                  <a:schemeClr val="bg1"/>
                </a:solidFill>
              </a:endParaRPr>
            </a:p>
            <a:p>
              <a:r>
                <a:rPr lang="en-US" sz="2400" b="1">
                  <a:solidFill>
                    <a:schemeClr val="bg1"/>
                  </a:solidFill>
                </a:rPr>
                <a:t>How XXX?</a:t>
              </a:r>
              <a:endParaRPr lang="en-HK" sz="24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55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88441-C615-AD48-9513-83FF42F9D4F8}"/>
              </a:ext>
            </a:extLst>
          </p:cNvPr>
          <p:cNvSpPr/>
          <p:nvPr/>
        </p:nvSpPr>
        <p:spPr>
          <a:xfrm>
            <a:off x="5988000" y="0"/>
            <a:ext cx="21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C2E4E3-13CD-D741-9A39-19DD8C2FECDF}"/>
              </a:ext>
            </a:extLst>
          </p:cNvPr>
          <p:cNvSpPr txBox="1"/>
          <p:nvPr/>
        </p:nvSpPr>
        <p:spPr>
          <a:xfrm>
            <a:off x="6513520" y="5286025"/>
            <a:ext cx="5361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478 retained each year</a:t>
            </a:r>
          </a:p>
        </p:txBody>
      </p:sp>
      <p:pic>
        <p:nvPicPr>
          <p:cNvPr id="1026" name="Picture 2" descr="eddingçåçæå°çµæ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8"/>
          <a:stretch/>
        </p:blipFill>
        <p:spPr bwMode="auto">
          <a:xfrm>
            <a:off x="0" y="-5543"/>
            <a:ext cx="6204000" cy="68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odçåçæå°çµæ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99"/>
          <a:stretch/>
        </p:blipFill>
        <p:spPr bwMode="auto">
          <a:xfrm>
            <a:off x="6204000" y="0"/>
            <a:ext cx="598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95825E-9DD8-0B47-8F6E-AF13E3049576}"/>
              </a:ext>
            </a:extLst>
          </p:cNvPr>
          <p:cNvSpPr txBox="1"/>
          <p:nvPr/>
        </p:nvSpPr>
        <p:spPr>
          <a:xfrm>
            <a:off x="0" y="-30457"/>
            <a:ext cx="12192000" cy="6918914"/>
          </a:xfrm>
          <a:prstGeom prst="rect">
            <a:avLst/>
          </a:prstGeom>
          <a:solidFill>
            <a:srgbClr val="042D65">
              <a:alpha val="76863"/>
            </a:srgb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 defTabSz="389616"/>
            <a:endParaRPr lang="en-US" sz="3000" b="1" i="1">
              <a:solidFill>
                <a:srgbClr val="FFFFFF"/>
              </a:solidFill>
              <a:ea typeface="Arial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2DFA19-7736-45A9-A5D7-0718878C6996}"/>
              </a:ext>
            </a:extLst>
          </p:cNvPr>
          <p:cNvGrpSpPr/>
          <p:nvPr/>
        </p:nvGrpSpPr>
        <p:grpSpPr>
          <a:xfrm>
            <a:off x="354134" y="1535668"/>
            <a:ext cx="5361460" cy="2918071"/>
            <a:chOff x="354134" y="1535668"/>
            <a:chExt cx="5361460" cy="291807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7C9D700-8865-3F48-BBA4-F26DB8E10A9B}"/>
                </a:ext>
              </a:extLst>
            </p:cNvPr>
            <p:cNvSpPr/>
            <p:nvPr/>
          </p:nvSpPr>
          <p:spPr>
            <a:xfrm>
              <a:off x="2391447" y="1535668"/>
              <a:ext cx="1147864" cy="1147864"/>
            </a:xfrm>
            <a:prstGeom prst="ellipse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Calibri Light" panose="020F0302020204030204" pitchFamily="34" charset="0"/>
                  <a:cs typeface="Calibri Light" panose="020F0302020204030204" pitchFamily="34" charset="0"/>
                </a:rPr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2D8795A-5810-8F42-8A10-32D733A5C7FE}"/>
                </a:ext>
              </a:extLst>
            </p:cNvPr>
            <p:cNvSpPr txBox="1"/>
            <p:nvPr/>
          </p:nvSpPr>
          <p:spPr>
            <a:xfrm>
              <a:off x="1252245" y="3051777"/>
              <a:ext cx="342626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Recommendation 01</a:t>
              </a:r>
              <a:endParaRPr lang="en-US" sz="30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BB1653-CE3A-4243-96DB-9B602B2F72DB}"/>
                </a:ext>
              </a:extLst>
            </p:cNvPr>
            <p:cNvSpPr txBox="1"/>
            <p:nvPr/>
          </p:nvSpPr>
          <p:spPr>
            <a:xfrm>
              <a:off x="354134" y="3930519"/>
              <a:ext cx="5361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Description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B565E44-6FEA-9F46-971F-8D68040B484E}"/>
                </a:ext>
              </a:extLst>
            </p:cNvPr>
            <p:cNvCxnSpPr/>
            <p:nvPr/>
          </p:nvCxnSpPr>
          <p:spPr>
            <a:xfrm>
              <a:off x="1160216" y="3618232"/>
              <a:ext cx="3578772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FE4CC48-29CF-214F-ABD0-D163E049C756}"/>
              </a:ext>
            </a:extLst>
          </p:cNvPr>
          <p:cNvSpPr/>
          <p:nvPr/>
        </p:nvSpPr>
        <p:spPr>
          <a:xfrm>
            <a:off x="6096000" y="-30457"/>
            <a:ext cx="6109136" cy="6918914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E7BA50-EB3D-4315-A618-8531A380E2A2}"/>
              </a:ext>
            </a:extLst>
          </p:cNvPr>
          <p:cNvGrpSpPr/>
          <p:nvPr/>
        </p:nvGrpSpPr>
        <p:grpSpPr>
          <a:xfrm>
            <a:off x="6476406" y="1535668"/>
            <a:ext cx="5361460" cy="2918071"/>
            <a:chOff x="6476406" y="1535668"/>
            <a:chExt cx="5361460" cy="291807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C9D700-8865-3F48-BBA4-F26DB8E10A9B}"/>
                </a:ext>
              </a:extLst>
            </p:cNvPr>
            <p:cNvSpPr/>
            <p:nvPr/>
          </p:nvSpPr>
          <p:spPr>
            <a:xfrm>
              <a:off x="8513719" y="1535668"/>
              <a:ext cx="1147864" cy="1147864"/>
            </a:xfrm>
            <a:prstGeom prst="ellipse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>
                  <a:latin typeface="Calibri Light" panose="020F0302020204030204" pitchFamily="34" charset="0"/>
                  <a:cs typeface="Calibri Light" panose="020F0302020204030204" pitchFamily="34" charset="0"/>
                </a:rPr>
                <a:t>2</a:t>
              </a:r>
              <a:endParaRPr lang="en-US" sz="360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D8795A-5810-8F42-8A10-32D733A5C7FE}"/>
                </a:ext>
              </a:extLst>
            </p:cNvPr>
            <p:cNvSpPr txBox="1"/>
            <p:nvPr/>
          </p:nvSpPr>
          <p:spPr>
            <a:xfrm>
              <a:off x="7264371" y="3051777"/>
              <a:ext cx="36465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Recommendation 02</a:t>
              </a:r>
              <a:endParaRPr lang="en-US" sz="30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BB1653-CE3A-4243-96DB-9B602B2F72DB}"/>
                </a:ext>
              </a:extLst>
            </p:cNvPr>
            <p:cNvSpPr txBox="1"/>
            <p:nvPr/>
          </p:nvSpPr>
          <p:spPr>
            <a:xfrm>
              <a:off x="6476406" y="3930519"/>
              <a:ext cx="5361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Description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565E44-6FEA-9F46-971F-8D68040B484E}"/>
                </a:ext>
              </a:extLst>
            </p:cNvPr>
            <p:cNvCxnSpPr/>
            <p:nvPr/>
          </p:nvCxnSpPr>
          <p:spPr>
            <a:xfrm>
              <a:off x="7282488" y="3618232"/>
              <a:ext cx="3578772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444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62C6B-1C34-439E-A474-68E1A4B02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050B5D0-9503-4957-9804-6EE9643B4F25}"/>
              </a:ext>
            </a:extLst>
          </p:cNvPr>
          <p:cNvSpPr txBox="1">
            <a:spLocks/>
          </p:cNvSpPr>
          <p:nvPr/>
        </p:nvSpPr>
        <p:spPr>
          <a:xfrm>
            <a:off x="11764652" y="6515101"/>
            <a:ext cx="427348" cy="342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D8BC40-59EC-4CF9-9AC4-CA93D40349B6}" type="slidenum">
              <a:rPr lang="en-HK" smtClean="0"/>
              <a:pPr/>
              <a:t>6</a:t>
            </a:fld>
            <a:endParaRPr lang="en-HK"/>
          </a:p>
        </p:txBody>
      </p:sp>
      <p:pic>
        <p:nvPicPr>
          <p:cNvPr id="4" name="Picture 6" descr="assorted-cook foods on round brown wooden tray">
            <a:extLst>
              <a:ext uri="{FF2B5EF4-FFF2-40B4-BE49-F238E27FC236}">
                <a16:creationId xmlns:a16="http://schemas.microsoft.com/office/drawing/2014/main" id="{486EF4F7-F706-4633-A544-19B8E2B99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6"/>
          <a:stretch/>
        </p:blipFill>
        <p:spPr bwMode="auto">
          <a:xfrm>
            <a:off x="8159750" y="0"/>
            <a:ext cx="401805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lat-lay photograph of sliced fruits, swing top bottle, and wine glass">
            <a:extLst>
              <a:ext uri="{FF2B5EF4-FFF2-40B4-BE49-F238E27FC236}">
                <a16:creationId xmlns:a16="http://schemas.microsoft.com/office/drawing/2014/main" id="{2DCB49F9-7C69-42FD-9290-A42127EA35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3" r="5428"/>
          <a:stretch/>
        </p:blipFill>
        <p:spPr bwMode="auto">
          <a:xfrm>
            <a:off x="4057945" y="0"/>
            <a:ext cx="40758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lear glass pitcher with juice">
            <a:extLst>
              <a:ext uri="{FF2B5EF4-FFF2-40B4-BE49-F238E27FC236}">
                <a16:creationId xmlns:a16="http://schemas.microsoft.com/office/drawing/2014/main" id="{6CF951E6-345E-4CC5-B280-1E8FC4F44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21"/>
          <a:stretch/>
        </p:blipFill>
        <p:spPr bwMode="auto">
          <a:xfrm>
            <a:off x="13945" y="0"/>
            <a:ext cx="40041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DD80839-6BF0-4B8E-95F8-D483CB0643F3}"/>
              </a:ext>
            </a:extLst>
          </p:cNvPr>
          <p:cNvGrpSpPr/>
          <p:nvPr/>
        </p:nvGrpSpPr>
        <p:grpSpPr>
          <a:xfrm>
            <a:off x="0" y="0"/>
            <a:ext cx="4032000" cy="6858000"/>
            <a:chOff x="0" y="0"/>
            <a:chExt cx="4032000" cy="6858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F8A0BD-FDBA-4AAA-A972-F886EE4825A8}"/>
                </a:ext>
              </a:extLst>
            </p:cNvPr>
            <p:cNvGrpSpPr/>
            <p:nvPr/>
          </p:nvGrpSpPr>
          <p:grpSpPr>
            <a:xfrm>
              <a:off x="0" y="0"/>
              <a:ext cx="4032000" cy="6858000"/>
              <a:chOff x="0" y="0"/>
              <a:chExt cx="4149213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F32537-21A1-4748-95E6-176338D86F27}"/>
                  </a:ext>
                </a:extLst>
              </p:cNvPr>
              <p:cNvSpPr/>
              <p:nvPr/>
            </p:nvSpPr>
            <p:spPr>
              <a:xfrm>
                <a:off x="0" y="0"/>
                <a:ext cx="4134863" cy="6858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HK" sz="32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EF68BA-680B-48AB-A072-32700AC9BA18}"/>
                  </a:ext>
                </a:extLst>
              </p:cNvPr>
              <p:cNvSpPr/>
              <p:nvPr/>
            </p:nvSpPr>
            <p:spPr>
              <a:xfrm>
                <a:off x="14350" y="2997200"/>
                <a:ext cx="4134863" cy="3860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Strategy 1</a:t>
                </a:r>
              </a:p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______________</a:t>
                </a: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r>
                  <a:rPr lang="en-HK" sz="2400" i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Description of strategy 1</a:t>
                </a:r>
                <a:endParaRPr lang="en-HK" sz="2000" i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C67DE3E-120F-4AEC-95D0-40D7B3A16693}"/>
                </a:ext>
              </a:extLst>
            </p:cNvPr>
            <p:cNvSpPr/>
            <p:nvPr/>
          </p:nvSpPr>
          <p:spPr>
            <a:xfrm>
              <a:off x="1632712" y="1414719"/>
              <a:ext cx="869437" cy="869437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2800" b="1">
                  <a:latin typeface="Calibri Light" panose="020F0302020204030204" pitchFamily="34" charset="0"/>
                  <a:cs typeface="Calibri Light" panose="020F0302020204030204" pitchFamily="34" charset="0"/>
                </a:rPr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BA7999-3063-482A-8F5D-9E595E245B4D}"/>
              </a:ext>
            </a:extLst>
          </p:cNvPr>
          <p:cNvGrpSpPr/>
          <p:nvPr/>
        </p:nvGrpSpPr>
        <p:grpSpPr>
          <a:xfrm>
            <a:off x="4044000" y="0"/>
            <a:ext cx="4104000" cy="6858000"/>
            <a:chOff x="4044000" y="0"/>
            <a:chExt cx="4104000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13100A-58B2-49D6-8A40-336BB1D5F926}"/>
                </a:ext>
              </a:extLst>
            </p:cNvPr>
            <p:cNvGrpSpPr/>
            <p:nvPr/>
          </p:nvGrpSpPr>
          <p:grpSpPr>
            <a:xfrm>
              <a:off x="4044000" y="0"/>
              <a:ext cx="4104000" cy="6858000"/>
              <a:chOff x="0" y="0"/>
              <a:chExt cx="4149213" cy="6858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CEDB0F9-581A-4D6A-B0B0-5AF68ED3A2CB}"/>
                  </a:ext>
                </a:extLst>
              </p:cNvPr>
              <p:cNvSpPr/>
              <p:nvPr/>
            </p:nvSpPr>
            <p:spPr>
              <a:xfrm>
                <a:off x="0" y="0"/>
                <a:ext cx="4134863" cy="6858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HK" sz="32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1BADAE2-58EF-42D6-947E-7B3AC68D1983}"/>
                  </a:ext>
                </a:extLst>
              </p:cNvPr>
              <p:cNvSpPr/>
              <p:nvPr/>
            </p:nvSpPr>
            <p:spPr>
              <a:xfrm>
                <a:off x="14350" y="2997200"/>
                <a:ext cx="4134863" cy="3860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Strategy 2</a:t>
                </a:r>
              </a:p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______________</a:t>
                </a: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r>
                  <a:rPr lang="en-HK" sz="2400" i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Description of strategy 2</a:t>
                </a:r>
                <a:endParaRPr lang="en-HK" sz="2000" i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A5EF9C2-0268-450E-85AD-B9AC0FBC0383}"/>
                </a:ext>
              </a:extLst>
            </p:cNvPr>
            <p:cNvSpPr/>
            <p:nvPr/>
          </p:nvSpPr>
          <p:spPr>
            <a:xfrm>
              <a:off x="5661281" y="1414719"/>
              <a:ext cx="869437" cy="869437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2800" b="1">
                  <a:latin typeface="Calibri Light" panose="020F0302020204030204" pitchFamily="34" charset="0"/>
                  <a:cs typeface="Calibri Light" panose="020F0302020204030204" pitchFamily="34" charset="0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4F974A-8D0C-461A-A0B1-C561C8BEBD0C}"/>
              </a:ext>
            </a:extLst>
          </p:cNvPr>
          <p:cNvGrpSpPr/>
          <p:nvPr/>
        </p:nvGrpSpPr>
        <p:grpSpPr>
          <a:xfrm>
            <a:off x="8159751" y="0"/>
            <a:ext cx="4032000" cy="6858000"/>
            <a:chOff x="8159751" y="0"/>
            <a:chExt cx="4032000" cy="685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ADC3B55-682D-4F1D-A8AE-8775FD4DA248}"/>
                </a:ext>
              </a:extLst>
            </p:cNvPr>
            <p:cNvGrpSpPr/>
            <p:nvPr/>
          </p:nvGrpSpPr>
          <p:grpSpPr>
            <a:xfrm>
              <a:off x="8159751" y="0"/>
              <a:ext cx="4032000" cy="6858000"/>
              <a:chOff x="0" y="0"/>
              <a:chExt cx="4149213" cy="6858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104A10-4040-4109-8F78-CCA4619034D0}"/>
                  </a:ext>
                </a:extLst>
              </p:cNvPr>
              <p:cNvSpPr/>
              <p:nvPr/>
            </p:nvSpPr>
            <p:spPr>
              <a:xfrm>
                <a:off x="0" y="0"/>
                <a:ext cx="4134863" cy="6858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HK" sz="32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F602152-5694-4FE9-84E5-6D57C969AE8E}"/>
                  </a:ext>
                </a:extLst>
              </p:cNvPr>
              <p:cNvSpPr/>
              <p:nvPr/>
            </p:nvSpPr>
            <p:spPr>
              <a:xfrm>
                <a:off x="14350" y="2997200"/>
                <a:ext cx="4134863" cy="3860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Strategy 3</a:t>
                </a:r>
              </a:p>
              <a:p>
                <a:pPr algn="ctr"/>
                <a:r>
                  <a:rPr lang="en-HK" sz="3600" b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______________</a:t>
                </a: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endParaRPr lang="en-HK" sz="2000" b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ctr"/>
                <a:r>
                  <a:rPr lang="en-HK" sz="2400" i="1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Description of strategy 3</a:t>
                </a:r>
                <a:endParaRPr lang="en-HK" sz="2000" i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D253F7-6C67-4CF2-9C8E-F36D4D351C20}"/>
                </a:ext>
              </a:extLst>
            </p:cNvPr>
            <p:cNvSpPr/>
            <p:nvPr/>
          </p:nvSpPr>
          <p:spPr>
            <a:xfrm>
              <a:off x="9748004" y="1414719"/>
              <a:ext cx="869437" cy="869437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2800" b="1">
                  <a:latin typeface="Calibri Light" panose="020F0302020204030204" pitchFamily="34" charset="0"/>
                  <a:cs typeface="Calibri Light" panose="020F0302020204030204" pitchFamily="34" charset="0"/>
                </a:rPr>
                <a:t>3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A189BC9-B826-466C-BD1E-9205FAF336F8}"/>
              </a:ext>
            </a:extLst>
          </p:cNvPr>
          <p:cNvSpPr/>
          <p:nvPr/>
        </p:nvSpPr>
        <p:spPr>
          <a:xfrm>
            <a:off x="13945" y="-419101"/>
            <a:ext cx="5751855" cy="424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HK" b="1">
                <a:solidFill>
                  <a:schemeClr val="tx1"/>
                </a:solidFill>
              </a:rPr>
              <a:t>Change the background of the selected strategy to blue</a:t>
            </a:r>
          </a:p>
        </p:txBody>
      </p:sp>
    </p:spTree>
    <p:extLst>
      <p:ext uri="{BB962C8B-B14F-4D97-AF65-F5344CB8AC3E}">
        <p14:creationId xmlns:p14="http://schemas.microsoft.com/office/powerpoint/2010/main" val="347801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CD866E-3991-4685-A07D-510475A82C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A7E91D-3835-4750-8D7A-C814AFBE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D8451-0463-48EC-BA32-6CEDA87C2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676DC-F1E6-4082-BD16-24B6CB7CB0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18EA81-94F2-45D8-9076-4D9CCB9EDEDC}"/>
              </a:ext>
            </a:extLst>
          </p:cNvPr>
          <p:cNvGrpSpPr/>
          <p:nvPr/>
        </p:nvGrpSpPr>
        <p:grpSpPr>
          <a:xfrm>
            <a:off x="-14350" y="0"/>
            <a:ext cx="12206350" cy="6858000"/>
            <a:chOff x="-14350" y="0"/>
            <a:chExt cx="1220635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16094A-36C9-437E-84F3-462F39D6EFA7}"/>
                </a:ext>
              </a:extLst>
            </p:cNvPr>
            <p:cNvSpPr/>
            <p:nvPr/>
          </p:nvSpPr>
          <p:spPr>
            <a:xfrm>
              <a:off x="-14350" y="0"/>
              <a:ext cx="12206350" cy="6858000"/>
            </a:xfrm>
            <a:prstGeom prst="rect">
              <a:avLst/>
            </a:prstGeom>
            <a:solidFill>
              <a:srgbClr val="073779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HK" sz="2400" b="1">
                <a:solidFill>
                  <a:schemeClr val="bg1"/>
                </a:solidFill>
                <a:latin typeface="+mj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1A7913-739C-460C-9256-1D5572BA767E}"/>
                </a:ext>
              </a:extLst>
            </p:cNvPr>
            <p:cNvGrpSpPr/>
            <p:nvPr/>
          </p:nvGrpSpPr>
          <p:grpSpPr>
            <a:xfrm>
              <a:off x="558264" y="1613816"/>
              <a:ext cx="10490736" cy="2132683"/>
              <a:chOff x="558264" y="1613816"/>
              <a:chExt cx="10490736" cy="213268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6CEE745-A985-48E1-A9E1-0265C726156E}"/>
                  </a:ext>
                </a:extLst>
              </p:cNvPr>
              <p:cNvSpPr/>
              <p:nvPr/>
            </p:nvSpPr>
            <p:spPr>
              <a:xfrm>
                <a:off x="558265" y="1613816"/>
                <a:ext cx="3670300" cy="863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HK" sz="4000" b="1">
                    <a:solidFill>
                      <a:schemeClr val="bg1"/>
                    </a:solidFill>
                    <a:latin typeface="+mj-lt"/>
                  </a:rPr>
                  <a:t>Key takeaway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180F15F-D70D-4647-8AF3-44FCE7341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265" y="2501900"/>
                <a:ext cx="10490735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6C4A20E-DB69-431D-B048-BF77DD6C672B}"/>
                  </a:ext>
                </a:extLst>
              </p:cNvPr>
              <p:cNvSpPr/>
              <p:nvPr/>
            </p:nvSpPr>
            <p:spPr>
              <a:xfrm>
                <a:off x="558264" y="2723479"/>
                <a:ext cx="10490735" cy="10230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n-HK" sz="2400">
                    <a:solidFill>
                      <a:schemeClr val="bg1"/>
                    </a:solidFill>
                    <a:latin typeface="+mj-lt"/>
                  </a:rPr>
                  <a:t>Descriptions..</a:t>
                </a:r>
              </a:p>
            </p:txBody>
          </p:sp>
        </p:grpSp>
      </p:grpSp>
      <p:pic>
        <p:nvPicPr>
          <p:cNvPr id="12" name="Content Placeholder 6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EE3BD9B5-D869-4E74-A81E-D1E6CCBF51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04"/>
          <a:stretch/>
        </p:blipFill>
        <p:spPr>
          <a:xfrm>
            <a:off x="3779440" y="1902535"/>
            <a:ext cx="1021740" cy="41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8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FC419-3315-4667-A27A-D272EA086A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98"/>
          <a:stretch/>
        </p:blipFill>
        <p:spPr>
          <a:xfrm>
            <a:off x="-27225" y="0"/>
            <a:ext cx="12219225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661DE-E9EC-4423-94BC-70A297B4B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61B88-EDF8-4B03-863F-D22FE9C4854D}"/>
              </a:ext>
            </a:extLst>
          </p:cNvPr>
          <p:cNvSpPr/>
          <p:nvPr/>
        </p:nvSpPr>
        <p:spPr>
          <a:xfrm>
            <a:off x="746760" y="767556"/>
            <a:ext cx="4221480" cy="5322888"/>
          </a:xfrm>
          <a:prstGeom prst="rect">
            <a:avLst/>
          </a:prstGeom>
          <a:solidFill>
            <a:schemeClr val="tx1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Impact Analysis</a:t>
            </a:r>
          </a:p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____________</a:t>
            </a:r>
          </a:p>
        </p:txBody>
      </p:sp>
    </p:spTree>
    <p:extLst>
      <p:ext uri="{BB962C8B-B14F-4D97-AF65-F5344CB8AC3E}">
        <p14:creationId xmlns:p14="http://schemas.microsoft.com/office/powerpoint/2010/main" val="122027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4AAFF3-423A-4804-A51D-16941FAB9C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6EB597-3CCC-445D-8DFD-62337390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Indices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D7844-837E-4615-AD4B-A0092D9B3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EF8D9-F1DC-4069-B751-46E83831C0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14ED7-6FBE-4BC2-8717-09734C5829B3}"/>
              </a:ext>
            </a:extLst>
          </p:cNvPr>
          <p:cNvSpPr/>
          <p:nvPr/>
        </p:nvSpPr>
        <p:spPr>
          <a:xfrm>
            <a:off x="419381" y="1192533"/>
            <a:ext cx="1751798" cy="2602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b="1">
                <a:latin typeface="+mj-lt"/>
              </a:rPr>
              <a:t>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EB0D2-F865-4B97-96FC-12CCA4011902}"/>
              </a:ext>
            </a:extLst>
          </p:cNvPr>
          <p:cNvSpPr/>
          <p:nvPr/>
        </p:nvSpPr>
        <p:spPr>
          <a:xfrm>
            <a:off x="419381" y="2740596"/>
            <a:ext cx="1751798" cy="2602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b="1">
                <a:latin typeface="+mj-lt"/>
              </a:rPr>
              <a:t>Recommendations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2D5A5-FD08-4B04-8DEE-A56F997D5941}"/>
              </a:ext>
            </a:extLst>
          </p:cNvPr>
          <p:cNvSpPr/>
          <p:nvPr/>
        </p:nvSpPr>
        <p:spPr>
          <a:xfrm>
            <a:off x="6231436" y="1192533"/>
            <a:ext cx="1751798" cy="2602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b="1">
                <a:latin typeface="+mj-lt"/>
              </a:rPr>
              <a:t>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732D6-55F5-4576-80E7-1704B83C90FE}"/>
              </a:ext>
            </a:extLst>
          </p:cNvPr>
          <p:cNvSpPr/>
          <p:nvPr/>
        </p:nvSpPr>
        <p:spPr>
          <a:xfrm>
            <a:off x="12291424" y="0"/>
            <a:ext cx="40788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2800" b="1" i="1"/>
              <a:t>Instructions</a:t>
            </a:r>
          </a:p>
          <a:p>
            <a:endParaRPr lang="en-HK" sz="2000" b="1"/>
          </a:p>
          <a:p>
            <a:r>
              <a:rPr lang="en-HK" sz="2000" b="1"/>
              <a:t>Setting up the slide navigation..</a:t>
            </a:r>
          </a:p>
          <a:p>
            <a:pPr marL="457200" indent="-457200">
              <a:buFont typeface="+mj-lt"/>
              <a:buAutoNum type="arabicPeriod"/>
            </a:pPr>
            <a:r>
              <a:rPr lang="en-HK" sz="2000"/>
              <a:t>Make sure slides are in correct order</a:t>
            </a:r>
          </a:p>
          <a:p>
            <a:pPr marL="457200" indent="-457200">
              <a:buFont typeface="+mj-lt"/>
              <a:buAutoNum type="arabicPeriod"/>
            </a:pPr>
            <a:r>
              <a:rPr lang="en-HK" sz="2000"/>
              <a:t>Have “Executive Summary” slide before this one</a:t>
            </a:r>
          </a:p>
          <a:p>
            <a:pPr marL="457200" indent="-457200">
              <a:buFont typeface="+mj-lt"/>
              <a:buAutoNum type="arabicPeriod"/>
            </a:pPr>
            <a:r>
              <a:rPr lang="en-HK" sz="2000"/>
              <a:t>Run macro in “Adding slide navigation” -- *note: remember to put the two files under the same folder</a:t>
            </a:r>
          </a:p>
          <a:p>
            <a:pPr marL="457200" indent="-457200">
              <a:buFont typeface="+mj-lt"/>
              <a:buAutoNum type="arabicPeriod"/>
            </a:pPr>
            <a:r>
              <a:rPr lang="en-HK" sz="2000"/>
              <a:t>Organize slides based on its section</a:t>
            </a:r>
          </a:p>
          <a:p>
            <a:pPr marL="457200" indent="-457200">
              <a:buFont typeface="+mj-lt"/>
              <a:buAutoNum type="arabicPeriod"/>
            </a:pPr>
            <a:endParaRPr lang="en-HK" sz="2000"/>
          </a:p>
          <a:p>
            <a:pPr marL="457200" indent="-457200">
              <a:buFont typeface="+mj-lt"/>
              <a:buAutoNum type="arabicPeriod"/>
            </a:pPr>
            <a:endParaRPr lang="en-HK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F4077-5303-470C-A4E3-5A36A886311C}"/>
              </a:ext>
            </a:extLst>
          </p:cNvPr>
          <p:cNvSpPr/>
          <p:nvPr/>
        </p:nvSpPr>
        <p:spPr>
          <a:xfrm>
            <a:off x="6231436" y="2740596"/>
            <a:ext cx="1751798" cy="2602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b="1">
                <a:latin typeface="+mj-lt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58341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8F2CE6-EAA2-4E51-AC8C-2F4F9D22E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7BAC69-21AC-41AB-B8E1-D2A5EA75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Slide format guide (Calibri Light 28 </a:t>
            </a:r>
            <a:r>
              <a:rPr lang="en-HK" err="1"/>
              <a:t>pt</a:t>
            </a:r>
            <a:r>
              <a:rPr lang="en-HK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1E889-3CAD-42BD-A750-1BBC5E4DD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FE7FB-726E-4605-8D45-B1E24C8F75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Toolkit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5123B5-B857-46EC-B4D4-E969D10131E6}"/>
              </a:ext>
            </a:extLst>
          </p:cNvPr>
          <p:cNvGrpSpPr/>
          <p:nvPr/>
        </p:nvGrpSpPr>
        <p:grpSpPr>
          <a:xfrm>
            <a:off x="419380" y="1190273"/>
            <a:ext cx="11472583" cy="376041"/>
            <a:chOff x="533400" y="1316950"/>
            <a:chExt cx="4997520" cy="37604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017AB17-368B-4047-AD82-13F66100E21C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C14FA4-AA74-4A2A-85EE-82D93419F00E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Commonly used boxes (Calibri 18 </a:t>
              </a:r>
              <a:r>
                <a:rPr lang="en-HK" err="1">
                  <a:solidFill>
                    <a:schemeClr val="tx1"/>
                  </a:solidFill>
                </a:rPr>
                <a:t>pt</a:t>
              </a:r>
              <a:r>
                <a:rPr lang="en-HK">
                  <a:solidFill>
                    <a:schemeClr val="tx1"/>
                  </a:solidFill>
                </a:rPr>
                <a:t>)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DA6B7-A053-41E9-A858-39A0BE4F28DC}"/>
              </a:ext>
            </a:extLst>
          </p:cNvPr>
          <p:cNvSpPr/>
          <p:nvPr/>
        </p:nvSpPr>
        <p:spPr>
          <a:xfrm>
            <a:off x="5330172" y="1744372"/>
            <a:ext cx="6561791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Title box (20 </a:t>
            </a:r>
            <a:r>
              <a:rPr lang="en-US" sz="2000" b="1" err="1"/>
              <a:t>pt</a:t>
            </a:r>
            <a:r>
              <a:rPr lang="en-US" sz="2000" b="1"/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F29FB-724F-40BE-9880-AFBED53844A9}"/>
              </a:ext>
            </a:extLst>
          </p:cNvPr>
          <p:cNvSpPr/>
          <p:nvPr/>
        </p:nvSpPr>
        <p:spPr>
          <a:xfrm>
            <a:off x="6689455" y="2319344"/>
            <a:ext cx="5202508" cy="75111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Content 1 (18 </a:t>
            </a:r>
            <a:r>
              <a:rPr lang="en-US" err="1">
                <a:solidFill>
                  <a:schemeClr val="tx1"/>
                </a:solidFill>
              </a:rPr>
              <a:t>pt</a:t>
            </a:r>
            <a:r>
              <a:rPr lang="en-US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2DC410-5EE8-48BA-8F81-46649BB4DB97}"/>
              </a:ext>
            </a:extLst>
          </p:cNvPr>
          <p:cNvSpPr/>
          <p:nvPr/>
        </p:nvSpPr>
        <p:spPr>
          <a:xfrm>
            <a:off x="306324" y="5690650"/>
            <a:ext cx="11585639" cy="475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Key takeaway – please align to the bottom guide (18 </a:t>
            </a:r>
            <a:r>
              <a:rPr lang="en-US" b="1" err="1"/>
              <a:t>pt</a:t>
            </a:r>
            <a:r>
              <a:rPr lang="en-US" b="1"/>
              <a:t>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EABA45-AF1B-43C5-95A6-B357D9ED6F02}"/>
              </a:ext>
            </a:extLst>
          </p:cNvPr>
          <p:cNvGrpSpPr/>
          <p:nvPr/>
        </p:nvGrpSpPr>
        <p:grpSpPr>
          <a:xfrm>
            <a:off x="490889" y="1666902"/>
            <a:ext cx="4677877" cy="3928071"/>
            <a:chOff x="6460584" y="1908087"/>
            <a:chExt cx="3774933" cy="3169858"/>
          </a:xfrm>
        </p:grpSpPr>
        <p:pic>
          <p:nvPicPr>
            <p:cNvPr id="18" name="Picture 2" descr="Image result for imac icon">
              <a:extLst>
                <a:ext uri="{FF2B5EF4-FFF2-40B4-BE49-F238E27FC236}">
                  <a16:creationId xmlns:a16="http://schemas.microsoft.com/office/drawing/2014/main" id="{EE425496-B22E-413D-9FD3-4F6E298889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7" t="12135" r="5009" b="12565"/>
            <a:stretch/>
          </p:blipFill>
          <p:spPr bwMode="auto">
            <a:xfrm>
              <a:off x="6460584" y="1908087"/>
              <a:ext cx="3774933" cy="3169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A6247F7-AEFF-48D3-BE89-014ED025A04C}"/>
                </a:ext>
              </a:extLst>
            </p:cNvPr>
            <p:cNvSpPr/>
            <p:nvPr/>
          </p:nvSpPr>
          <p:spPr>
            <a:xfrm>
              <a:off x="6590835" y="2047759"/>
              <a:ext cx="3514430" cy="2056676"/>
            </a:xfrm>
            <a:prstGeom prst="roundRect">
              <a:avLst>
                <a:gd name="adj" fmla="val 30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9493417-1BBE-4CA0-89AE-E09B8D47A1F1}"/>
              </a:ext>
            </a:extLst>
          </p:cNvPr>
          <p:cNvSpPr/>
          <p:nvPr/>
        </p:nvSpPr>
        <p:spPr>
          <a:xfrm>
            <a:off x="1488038" y="2006868"/>
            <a:ext cx="2695073" cy="408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>
                <a:solidFill>
                  <a:schemeClr val="tx1"/>
                </a:solidFill>
              </a:rPr>
              <a:t>Use more pictures/ icons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81DFF324-4C56-4682-B143-0129BEA7F83E}"/>
              </a:ext>
            </a:extLst>
          </p:cNvPr>
          <p:cNvSpPr/>
          <p:nvPr/>
        </p:nvSpPr>
        <p:spPr>
          <a:xfrm rot="5400000">
            <a:off x="8497294" y="3999871"/>
            <a:ext cx="227546" cy="53382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A9E2B1-F6CE-47B9-88A1-52D7A874052B}"/>
              </a:ext>
            </a:extLst>
          </p:cNvPr>
          <p:cNvSpPr/>
          <p:nvPr/>
        </p:nvSpPr>
        <p:spPr>
          <a:xfrm>
            <a:off x="5330172" y="2320713"/>
            <a:ext cx="1197877" cy="1594850"/>
          </a:xfrm>
          <a:prstGeom prst="rect">
            <a:avLst/>
          </a:prstGeom>
          <a:solidFill>
            <a:srgbClr val="178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Theme </a:t>
            </a:r>
          </a:p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(18 </a:t>
            </a:r>
            <a:r>
              <a:rPr lang="en-HK" b="1" err="1">
                <a:solidFill>
                  <a:schemeClr val="bg1"/>
                </a:solidFill>
                <a:latin typeface="+mj-lt"/>
              </a:rPr>
              <a:t>pt</a:t>
            </a:r>
            <a:r>
              <a:rPr lang="en-HK" b="1">
                <a:solidFill>
                  <a:schemeClr val="bg1"/>
                </a:solidFill>
                <a:latin typeface="+mj-lt"/>
              </a:rPr>
              <a:t>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EA6949-F104-481F-842E-7F56A1A55BD9}"/>
              </a:ext>
            </a:extLst>
          </p:cNvPr>
          <p:cNvSpPr/>
          <p:nvPr/>
        </p:nvSpPr>
        <p:spPr>
          <a:xfrm>
            <a:off x="6689455" y="3164448"/>
            <a:ext cx="5202508" cy="75111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Content 1 (18 </a:t>
            </a:r>
            <a:r>
              <a:rPr lang="en-US" err="1">
                <a:solidFill>
                  <a:schemeClr val="tx1"/>
                </a:solidFill>
              </a:rPr>
              <a:t>pt</a:t>
            </a:r>
            <a:r>
              <a:rPr lang="en-US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E6CD4-C758-4982-97BE-F22543C8EC94}"/>
              </a:ext>
            </a:extLst>
          </p:cNvPr>
          <p:cNvSpPr/>
          <p:nvPr/>
        </p:nvSpPr>
        <p:spPr>
          <a:xfrm>
            <a:off x="5330172" y="4541355"/>
            <a:ext cx="3207653" cy="105361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0B246F-0D02-4456-88CD-924F5437B082}"/>
              </a:ext>
            </a:extLst>
          </p:cNvPr>
          <p:cNvSpPr/>
          <p:nvPr/>
        </p:nvSpPr>
        <p:spPr>
          <a:xfrm>
            <a:off x="8684310" y="4541355"/>
            <a:ext cx="3207653" cy="1053618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3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8" name="Freeform 221">
            <a:extLst>
              <a:ext uri="{FF2B5EF4-FFF2-40B4-BE49-F238E27FC236}">
                <a16:creationId xmlns:a16="http://schemas.microsoft.com/office/drawing/2014/main" id="{9194C8FE-FBE3-4942-9B7D-82AE1F0F048A}"/>
              </a:ext>
            </a:extLst>
          </p:cNvPr>
          <p:cNvSpPr>
            <a:spLocks/>
          </p:cNvSpPr>
          <p:nvPr/>
        </p:nvSpPr>
        <p:spPr bwMode="auto">
          <a:xfrm>
            <a:off x="6551738" y="2534584"/>
            <a:ext cx="409445" cy="312934"/>
          </a:xfrm>
          <a:custGeom>
            <a:avLst/>
            <a:gdLst>
              <a:gd name="T0" fmla="*/ 141 w 144"/>
              <a:gd name="T1" fmla="*/ 28 h 110"/>
              <a:gd name="T2" fmla="*/ 74 w 144"/>
              <a:gd name="T3" fmla="*/ 95 h 110"/>
              <a:gd name="T4" fmla="*/ 62 w 144"/>
              <a:gd name="T5" fmla="*/ 107 h 110"/>
              <a:gd name="T6" fmla="*/ 55 w 144"/>
              <a:gd name="T7" fmla="*/ 110 h 110"/>
              <a:gd name="T8" fmla="*/ 49 w 144"/>
              <a:gd name="T9" fmla="*/ 107 h 110"/>
              <a:gd name="T10" fmla="*/ 36 w 144"/>
              <a:gd name="T11" fmla="*/ 95 h 110"/>
              <a:gd name="T12" fmla="*/ 3 w 144"/>
              <a:gd name="T13" fmla="*/ 61 h 110"/>
              <a:gd name="T14" fmla="*/ 0 w 144"/>
              <a:gd name="T15" fmla="*/ 55 h 110"/>
              <a:gd name="T16" fmla="*/ 3 w 144"/>
              <a:gd name="T17" fmla="*/ 49 h 110"/>
              <a:gd name="T18" fmla="*/ 16 w 144"/>
              <a:gd name="T19" fmla="*/ 36 h 110"/>
              <a:gd name="T20" fmla="*/ 22 w 144"/>
              <a:gd name="T21" fmla="*/ 34 h 110"/>
              <a:gd name="T22" fmla="*/ 28 w 144"/>
              <a:gd name="T23" fmla="*/ 36 h 110"/>
              <a:gd name="T24" fmla="*/ 55 w 144"/>
              <a:gd name="T25" fmla="*/ 63 h 110"/>
              <a:gd name="T26" fmla="*/ 116 w 144"/>
              <a:gd name="T27" fmla="*/ 3 h 110"/>
              <a:gd name="T28" fmla="*/ 122 w 144"/>
              <a:gd name="T29" fmla="*/ 0 h 110"/>
              <a:gd name="T30" fmla="*/ 129 w 144"/>
              <a:gd name="T31" fmla="*/ 3 h 110"/>
              <a:gd name="T32" fmla="*/ 141 w 144"/>
              <a:gd name="T33" fmla="*/ 15 h 110"/>
              <a:gd name="T34" fmla="*/ 144 w 144"/>
              <a:gd name="T35" fmla="*/ 22 h 110"/>
              <a:gd name="T36" fmla="*/ 141 w 144"/>
              <a:gd name="T37" fmla="*/ 28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4" h="110">
                <a:moveTo>
                  <a:pt x="141" y="28"/>
                </a:moveTo>
                <a:cubicBezTo>
                  <a:pt x="74" y="95"/>
                  <a:pt x="74" y="95"/>
                  <a:pt x="74" y="95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0" y="109"/>
                  <a:pt x="58" y="110"/>
                  <a:pt x="55" y="110"/>
                </a:cubicBezTo>
                <a:cubicBezTo>
                  <a:pt x="53" y="110"/>
                  <a:pt x="51" y="109"/>
                  <a:pt x="49" y="107"/>
                </a:cubicBezTo>
                <a:cubicBezTo>
                  <a:pt x="36" y="95"/>
                  <a:pt x="36" y="95"/>
                  <a:pt x="36" y="95"/>
                </a:cubicBezTo>
                <a:cubicBezTo>
                  <a:pt x="3" y="61"/>
                  <a:pt x="3" y="61"/>
                  <a:pt x="3" y="61"/>
                </a:cubicBezTo>
                <a:cubicBezTo>
                  <a:pt x="1" y="60"/>
                  <a:pt x="0" y="57"/>
                  <a:pt x="0" y="55"/>
                </a:cubicBezTo>
                <a:cubicBezTo>
                  <a:pt x="0" y="53"/>
                  <a:pt x="1" y="50"/>
                  <a:pt x="3" y="49"/>
                </a:cubicBezTo>
                <a:cubicBezTo>
                  <a:pt x="16" y="36"/>
                  <a:pt x="16" y="36"/>
                  <a:pt x="16" y="36"/>
                </a:cubicBezTo>
                <a:cubicBezTo>
                  <a:pt x="17" y="35"/>
                  <a:pt x="20" y="34"/>
                  <a:pt x="22" y="34"/>
                </a:cubicBezTo>
                <a:cubicBezTo>
                  <a:pt x="24" y="34"/>
                  <a:pt x="27" y="35"/>
                  <a:pt x="28" y="36"/>
                </a:cubicBezTo>
                <a:cubicBezTo>
                  <a:pt x="55" y="63"/>
                  <a:pt x="55" y="63"/>
                  <a:pt x="55" y="63"/>
                </a:cubicBezTo>
                <a:cubicBezTo>
                  <a:pt x="116" y="3"/>
                  <a:pt x="116" y="3"/>
                  <a:pt x="116" y="3"/>
                </a:cubicBezTo>
                <a:cubicBezTo>
                  <a:pt x="118" y="1"/>
                  <a:pt x="120" y="0"/>
                  <a:pt x="122" y="0"/>
                </a:cubicBezTo>
                <a:cubicBezTo>
                  <a:pt x="125" y="0"/>
                  <a:pt x="127" y="1"/>
                  <a:pt x="129" y="3"/>
                </a:cubicBezTo>
                <a:cubicBezTo>
                  <a:pt x="141" y="15"/>
                  <a:pt x="141" y="15"/>
                  <a:pt x="141" y="15"/>
                </a:cubicBezTo>
                <a:cubicBezTo>
                  <a:pt x="143" y="17"/>
                  <a:pt x="144" y="19"/>
                  <a:pt x="144" y="22"/>
                </a:cubicBezTo>
                <a:cubicBezTo>
                  <a:pt x="144" y="24"/>
                  <a:pt x="143" y="26"/>
                  <a:pt x="141" y="2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en-IN" sz="760">
              <a:solidFill>
                <a:srgbClr val="C00000"/>
              </a:solidFill>
            </a:endParaRPr>
          </a:p>
        </p:txBody>
      </p:sp>
      <p:sp>
        <p:nvSpPr>
          <p:cNvPr id="29" name="Freeform 227">
            <a:extLst>
              <a:ext uri="{FF2B5EF4-FFF2-40B4-BE49-F238E27FC236}">
                <a16:creationId xmlns:a16="http://schemas.microsoft.com/office/drawing/2014/main" id="{4BE95C59-AC8B-4652-B594-942E1C40EC2C}"/>
              </a:ext>
            </a:extLst>
          </p:cNvPr>
          <p:cNvSpPr>
            <a:spLocks/>
          </p:cNvSpPr>
          <p:nvPr/>
        </p:nvSpPr>
        <p:spPr bwMode="auto">
          <a:xfrm>
            <a:off x="6617835" y="3396506"/>
            <a:ext cx="277249" cy="277249"/>
          </a:xfrm>
          <a:custGeom>
            <a:avLst/>
            <a:gdLst>
              <a:gd name="T0" fmla="*/ 107 w 110"/>
              <a:gd name="T1" fmla="*/ 95 h 110"/>
              <a:gd name="T2" fmla="*/ 95 w 110"/>
              <a:gd name="T3" fmla="*/ 107 h 110"/>
              <a:gd name="T4" fmla="*/ 88 w 110"/>
              <a:gd name="T5" fmla="*/ 110 h 110"/>
              <a:gd name="T6" fmla="*/ 82 w 110"/>
              <a:gd name="T7" fmla="*/ 107 h 110"/>
              <a:gd name="T8" fmla="*/ 55 w 110"/>
              <a:gd name="T9" fmla="*/ 80 h 110"/>
              <a:gd name="T10" fmla="*/ 28 w 110"/>
              <a:gd name="T11" fmla="*/ 107 h 110"/>
              <a:gd name="T12" fmla="*/ 22 w 110"/>
              <a:gd name="T13" fmla="*/ 110 h 110"/>
              <a:gd name="T14" fmla="*/ 15 w 110"/>
              <a:gd name="T15" fmla="*/ 107 h 110"/>
              <a:gd name="T16" fmla="*/ 3 w 110"/>
              <a:gd name="T17" fmla="*/ 95 h 110"/>
              <a:gd name="T18" fmla="*/ 0 w 110"/>
              <a:gd name="T19" fmla="*/ 88 h 110"/>
              <a:gd name="T20" fmla="*/ 3 w 110"/>
              <a:gd name="T21" fmla="*/ 82 h 110"/>
              <a:gd name="T22" fmla="*/ 30 w 110"/>
              <a:gd name="T23" fmla="*/ 55 h 110"/>
              <a:gd name="T24" fmla="*/ 3 w 110"/>
              <a:gd name="T25" fmla="*/ 28 h 110"/>
              <a:gd name="T26" fmla="*/ 0 w 110"/>
              <a:gd name="T27" fmla="*/ 22 h 110"/>
              <a:gd name="T28" fmla="*/ 3 w 110"/>
              <a:gd name="T29" fmla="*/ 15 h 110"/>
              <a:gd name="T30" fmla="*/ 15 w 110"/>
              <a:gd name="T31" fmla="*/ 3 h 110"/>
              <a:gd name="T32" fmla="*/ 22 w 110"/>
              <a:gd name="T33" fmla="*/ 0 h 110"/>
              <a:gd name="T34" fmla="*/ 28 w 110"/>
              <a:gd name="T35" fmla="*/ 3 h 110"/>
              <a:gd name="T36" fmla="*/ 55 w 110"/>
              <a:gd name="T37" fmla="*/ 30 h 110"/>
              <a:gd name="T38" fmla="*/ 82 w 110"/>
              <a:gd name="T39" fmla="*/ 3 h 110"/>
              <a:gd name="T40" fmla="*/ 88 w 110"/>
              <a:gd name="T41" fmla="*/ 0 h 110"/>
              <a:gd name="T42" fmla="*/ 95 w 110"/>
              <a:gd name="T43" fmla="*/ 3 h 110"/>
              <a:gd name="T44" fmla="*/ 107 w 110"/>
              <a:gd name="T45" fmla="*/ 15 h 110"/>
              <a:gd name="T46" fmla="*/ 110 w 110"/>
              <a:gd name="T47" fmla="*/ 22 h 110"/>
              <a:gd name="T48" fmla="*/ 107 w 110"/>
              <a:gd name="T49" fmla="*/ 28 h 110"/>
              <a:gd name="T50" fmla="*/ 80 w 110"/>
              <a:gd name="T51" fmla="*/ 55 h 110"/>
              <a:gd name="T52" fmla="*/ 107 w 110"/>
              <a:gd name="T53" fmla="*/ 82 h 110"/>
              <a:gd name="T54" fmla="*/ 110 w 110"/>
              <a:gd name="T55" fmla="*/ 88 h 110"/>
              <a:gd name="T56" fmla="*/ 107 w 110"/>
              <a:gd name="T57" fmla="*/ 95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0" h="110">
                <a:moveTo>
                  <a:pt x="107" y="95"/>
                </a:moveTo>
                <a:cubicBezTo>
                  <a:pt x="95" y="107"/>
                  <a:pt x="95" y="107"/>
                  <a:pt x="95" y="107"/>
                </a:cubicBezTo>
                <a:cubicBezTo>
                  <a:pt x="93" y="109"/>
                  <a:pt x="91" y="110"/>
                  <a:pt x="88" y="110"/>
                </a:cubicBezTo>
                <a:cubicBezTo>
                  <a:pt x="86" y="110"/>
                  <a:pt x="84" y="109"/>
                  <a:pt x="82" y="107"/>
                </a:cubicBezTo>
                <a:cubicBezTo>
                  <a:pt x="55" y="80"/>
                  <a:pt x="55" y="80"/>
                  <a:pt x="55" y="80"/>
                </a:cubicBezTo>
                <a:cubicBezTo>
                  <a:pt x="28" y="107"/>
                  <a:pt x="28" y="107"/>
                  <a:pt x="28" y="107"/>
                </a:cubicBezTo>
                <a:cubicBezTo>
                  <a:pt x="26" y="109"/>
                  <a:pt x="24" y="110"/>
                  <a:pt x="22" y="110"/>
                </a:cubicBezTo>
                <a:cubicBezTo>
                  <a:pt x="19" y="110"/>
                  <a:pt x="17" y="109"/>
                  <a:pt x="15" y="107"/>
                </a:cubicBezTo>
                <a:cubicBezTo>
                  <a:pt x="3" y="95"/>
                  <a:pt x="3" y="95"/>
                  <a:pt x="3" y="95"/>
                </a:cubicBezTo>
                <a:cubicBezTo>
                  <a:pt x="1" y="93"/>
                  <a:pt x="0" y="91"/>
                  <a:pt x="0" y="88"/>
                </a:cubicBezTo>
                <a:cubicBezTo>
                  <a:pt x="0" y="86"/>
                  <a:pt x="1" y="84"/>
                  <a:pt x="3" y="82"/>
                </a:cubicBezTo>
                <a:cubicBezTo>
                  <a:pt x="30" y="55"/>
                  <a:pt x="30" y="55"/>
                  <a:pt x="30" y="55"/>
                </a:cubicBezTo>
                <a:cubicBezTo>
                  <a:pt x="3" y="28"/>
                  <a:pt x="3" y="28"/>
                  <a:pt x="3" y="28"/>
                </a:cubicBezTo>
                <a:cubicBezTo>
                  <a:pt x="1" y="26"/>
                  <a:pt x="0" y="24"/>
                  <a:pt x="0" y="22"/>
                </a:cubicBezTo>
                <a:cubicBezTo>
                  <a:pt x="0" y="19"/>
                  <a:pt x="1" y="17"/>
                  <a:pt x="3" y="15"/>
                </a:cubicBezTo>
                <a:cubicBezTo>
                  <a:pt x="15" y="3"/>
                  <a:pt x="15" y="3"/>
                  <a:pt x="15" y="3"/>
                </a:cubicBezTo>
                <a:cubicBezTo>
                  <a:pt x="17" y="1"/>
                  <a:pt x="19" y="0"/>
                  <a:pt x="22" y="0"/>
                </a:cubicBezTo>
                <a:cubicBezTo>
                  <a:pt x="24" y="0"/>
                  <a:pt x="26" y="1"/>
                  <a:pt x="28" y="3"/>
                </a:cubicBezTo>
                <a:cubicBezTo>
                  <a:pt x="55" y="30"/>
                  <a:pt x="55" y="30"/>
                  <a:pt x="55" y="30"/>
                </a:cubicBezTo>
                <a:cubicBezTo>
                  <a:pt x="82" y="3"/>
                  <a:pt x="82" y="3"/>
                  <a:pt x="82" y="3"/>
                </a:cubicBezTo>
                <a:cubicBezTo>
                  <a:pt x="84" y="1"/>
                  <a:pt x="86" y="0"/>
                  <a:pt x="88" y="0"/>
                </a:cubicBezTo>
                <a:cubicBezTo>
                  <a:pt x="91" y="0"/>
                  <a:pt x="93" y="1"/>
                  <a:pt x="95" y="3"/>
                </a:cubicBezTo>
                <a:cubicBezTo>
                  <a:pt x="107" y="15"/>
                  <a:pt x="107" y="15"/>
                  <a:pt x="107" y="15"/>
                </a:cubicBezTo>
                <a:cubicBezTo>
                  <a:pt x="109" y="17"/>
                  <a:pt x="110" y="19"/>
                  <a:pt x="110" y="22"/>
                </a:cubicBezTo>
                <a:cubicBezTo>
                  <a:pt x="110" y="24"/>
                  <a:pt x="109" y="26"/>
                  <a:pt x="107" y="28"/>
                </a:cubicBezTo>
                <a:cubicBezTo>
                  <a:pt x="80" y="55"/>
                  <a:pt x="80" y="55"/>
                  <a:pt x="80" y="55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9" y="84"/>
                  <a:pt x="110" y="86"/>
                  <a:pt x="110" y="88"/>
                </a:cubicBezTo>
                <a:cubicBezTo>
                  <a:pt x="110" y="91"/>
                  <a:pt x="109" y="93"/>
                  <a:pt x="107" y="9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en-IN" sz="76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5B2EB89-E7CF-4921-A9BD-A96D9D089CA2}"/>
              </a:ext>
            </a:extLst>
          </p:cNvPr>
          <p:cNvGrpSpPr/>
          <p:nvPr/>
        </p:nvGrpSpPr>
        <p:grpSpPr>
          <a:xfrm>
            <a:off x="1711750" y="2416520"/>
            <a:ext cx="2236152" cy="1964035"/>
            <a:chOff x="1711750" y="2416520"/>
            <a:chExt cx="2236152" cy="1964035"/>
          </a:xfrm>
        </p:grpSpPr>
        <p:graphicFrame>
          <p:nvGraphicFramePr>
            <p:cNvPr id="32" name="Chart 31">
              <a:extLst>
                <a:ext uri="{FF2B5EF4-FFF2-40B4-BE49-F238E27FC236}">
                  <a16:creationId xmlns:a16="http://schemas.microsoft.com/office/drawing/2014/main" id="{F1418CE8-69A7-48B8-A65E-CF049F00324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14987222"/>
                </p:ext>
              </p:extLst>
            </p:nvPr>
          </p:nvGraphicFramePr>
          <p:xfrm>
            <a:off x="1711750" y="2416520"/>
            <a:ext cx="2236152" cy="19640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7054AD-5CBE-4776-9C20-43B6EBDB8536}"/>
                </a:ext>
              </a:extLst>
            </p:cNvPr>
            <p:cNvSpPr/>
            <p:nvPr/>
          </p:nvSpPr>
          <p:spPr>
            <a:xfrm>
              <a:off x="2159107" y="3070134"/>
              <a:ext cx="1341438" cy="6568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sz="3600" b="1">
                  <a:solidFill>
                    <a:srgbClr val="073779"/>
                  </a:solidFill>
                </a:rPr>
                <a:t>38</a:t>
              </a:r>
              <a:r>
                <a:rPr lang="en-HK" sz="2000" b="1">
                  <a:solidFill>
                    <a:srgbClr val="073779"/>
                  </a:solidFill>
                </a:rPr>
                <a:t>%</a:t>
              </a:r>
              <a:endParaRPr lang="en-HK" sz="3600" b="1">
                <a:solidFill>
                  <a:srgbClr val="07377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907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82634-44B1-4CA7-83E4-24BA251B5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20656-093F-411F-B1F2-2F2314FA211B}"/>
              </a:ext>
            </a:extLst>
          </p:cNvPr>
          <p:cNvSpPr/>
          <p:nvPr/>
        </p:nvSpPr>
        <p:spPr>
          <a:xfrm>
            <a:off x="300039" y="767556"/>
            <a:ext cx="11591924" cy="5398294"/>
          </a:xfrm>
          <a:prstGeom prst="rect">
            <a:avLst/>
          </a:prstGeom>
          <a:solidFill>
            <a:schemeClr val="tx1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Analysis framework</a:t>
            </a:r>
          </a:p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____________</a:t>
            </a:r>
          </a:p>
        </p:txBody>
      </p:sp>
    </p:spTree>
    <p:extLst>
      <p:ext uri="{BB962C8B-B14F-4D97-AF65-F5344CB8AC3E}">
        <p14:creationId xmlns:p14="http://schemas.microsoft.com/office/powerpoint/2010/main" val="231883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9A2B02-1505-4380-893C-F75A147F6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36060E-9B57-46FF-9AEC-28D241D7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Company overview/ core competencies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29999-8416-417E-84DA-93F13222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FBA5A-E79E-4589-BF74-E442EE885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54504-9755-40F4-B84F-352F025D4EFD}"/>
              </a:ext>
            </a:extLst>
          </p:cNvPr>
          <p:cNvSpPr/>
          <p:nvPr/>
        </p:nvSpPr>
        <p:spPr>
          <a:xfrm>
            <a:off x="432080" y="1266853"/>
            <a:ext cx="2303212" cy="583305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Vision/ Objective</a:t>
            </a:r>
            <a:endParaRPr lang="en-HK" sz="20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8134A-BE76-4A7A-8CD0-EF890169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25579"/>
              </p:ext>
            </p:extLst>
          </p:nvPr>
        </p:nvGraphicFramePr>
        <p:xfrm>
          <a:off x="2971800" y="1266853"/>
          <a:ext cx="8738136" cy="5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8136">
                  <a:extLst>
                    <a:ext uri="{9D8B030D-6E8A-4147-A177-3AD203B41FA5}">
                      <a16:colId xmlns:a16="http://schemas.microsoft.com/office/drawing/2014/main" val="1014772774"/>
                    </a:ext>
                  </a:extLst>
                </a:gridCol>
              </a:tblGrid>
              <a:tr h="579600">
                <a:tc>
                  <a:txBody>
                    <a:bodyPr/>
                    <a:lstStyle/>
                    <a:p>
                      <a:pPr algn="l"/>
                      <a:r>
                        <a:rPr lang="en-US" sz="1800" b="0" i="1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Build the world’s best company and …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90155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E2ECD533-B940-4B7C-8A81-041C67CCFD5C}"/>
              </a:ext>
            </a:extLst>
          </p:cNvPr>
          <p:cNvGrpSpPr/>
          <p:nvPr/>
        </p:nvGrpSpPr>
        <p:grpSpPr>
          <a:xfrm>
            <a:off x="558265" y="2199226"/>
            <a:ext cx="3205213" cy="3314921"/>
            <a:chOff x="280987" y="2468370"/>
            <a:chExt cx="3205213" cy="36337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F9F2AC-57A4-4C1E-BD0F-57B0B98204A2}"/>
                </a:ext>
              </a:extLst>
            </p:cNvPr>
            <p:cNvSpPr/>
            <p:nvPr/>
          </p:nvSpPr>
          <p:spPr>
            <a:xfrm>
              <a:off x="280987" y="2710019"/>
              <a:ext cx="3205213" cy="3392127"/>
            </a:xfrm>
            <a:prstGeom prst="rect">
              <a:avLst/>
            </a:prstGeom>
            <a:noFill/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HK" sz="240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en-HK" b="1">
                  <a:solidFill>
                    <a:schemeClr val="tx1"/>
                  </a:solidFill>
                  <a:latin typeface="+mj-lt"/>
                </a:rPr>
                <a:t>Title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F8FECC-46AC-40FD-BDC5-FF719463A7EF}"/>
                </a:ext>
              </a:extLst>
            </p:cNvPr>
            <p:cNvSpPr/>
            <p:nvPr/>
          </p:nvSpPr>
          <p:spPr>
            <a:xfrm>
              <a:off x="1667593" y="2468370"/>
              <a:ext cx="432000" cy="475200"/>
            </a:xfrm>
            <a:prstGeom prst="ellipse">
              <a:avLst/>
            </a:prstGeom>
            <a:solidFill>
              <a:srgbClr val="051C2C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9A6626-BA21-4BF8-B9ED-6B59D8BA76E8}"/>
              </a:ext>
            </a:extLst>
          </p:cNvPr>
          <p:cNvGrpSpPr/>
          <p:nvPr/>
        </p:nvGrpSpPr>
        <p:grpSpPr>
          <a:xfrm>
            <a:off x="4493393" y="2199226"/>
            <a:ext cx="3205213" cy="3314921"/>
            <a:chOff x="280987" y="2468370"/>
            <a:chExt cx="3205213" cy="36337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98B660-870A-41C7-9A17-F2446CFE54CB}"/>
                </a:ext>
              </a:extLst>
            </p:cNvPr>
            <p:cNvSpPr/>
            <p:nvPr/>
          </p:nvSpPr>
          <p:spPr>
            <a:xfrm>
              <a:off x="280987" y="2710019"/>
              <a:ext cx="3205213" cy="3392127"/>
            </a:xfrm>
            <a:prstGeom prst="rect">
              <a:avLst/>
            </a:prstGeom>
            <a:noFill/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HK" sz="240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en-HK" b="1">
                  <a:solidFill>
                    <a:schemeClr val="tx1"/>
                  </a:solidFill>
                  <a:latin typeface="+mj-lt"/>
                </a:rPr>
                <a:t>Title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07385A0-8C91-4DCB-AA6B-F502D6B6B4F1}"/>
                </a:ext>
              </a:extLst>
            </p:cNvPr>
            <p:cNvSpPr/>
            <p:nvPr/>
          </p:nvSpPr>
          <p:spPr>
            <a:xfrm>
              <a:off x="1667593" y="2468370"/>
              <a:ext cx="432000" cy="475200"/>
            </a:xfrm>
            <a:prstGeom prst="ellipse">
              <a:avLst/>
            </a:prstGeom>
            <a:solidFill>
              <a:srgbClr val="051C2C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63F248-56F2-4E7E-A855-0D21BC92175D}"/>
              </a:ext>
            </a:extLst>
          </p:cNvPr>
          <p:cNvGrpSpPr/>
          <p:nvPr/>
        </p:nvGrpSpPr>
        <p:grpSpPr>
          <a:xfrm>
            <a:off x="8428520" y="2199226"/>
            <a:ext cx="3205213" cy="3314921"/>
            <a:chOff x="280987" y="2468370"/>
            <a:chExt cx="3205213" cy="36337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752C2DA-15C1-40E3-B48B-2A8948E0BE11}"/>
                </a:ext>
              </a:extLst>
            </p:cNvPr>
            <p:cNvSpPr/>
            <p:nvPr/>
          </p:nvSpPr>
          <p:spPr>
            <a:xfrm>
              <a:off x="280987" y="2710019"/>
              <a:ext cx="3205213" cy="3392127"/>
            </a:xfrm>
            <a:prstGeom prst="rect">
              <a:avLst/>
            </a:prstGeom>
            <a:noFill/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HK" sz="240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en-HK" b="1">
                  <a:solidFill>
                    <a:schemeClr val="tx1"/>
                  </a:solidFill>
                  <a:latin typeface="+mj-lt"/>
                </a:rPr>
                <a:t>Title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06F3A06-BD0B-44FF-8170-96161C8878F1}"/>
                </a:ext>
              </a:extLst>
            </p:cNvPr>
            <p:cNvSpPr/>
            <p:nvPr/>
          </p:nvSpPr>
          <p:spPr>
            <a:xfrm>
              <a:off x="1667593" y="2468370"/>
              <a:ext cx="432000" cy="475200"/>
            </a:xfrm>
            <a:prstGeom prst="ellipse">
              <a:avLst/>
            </a:prstGeom>
            <a:solidFill>
              <a:srgbClr val="051C2C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3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7127A-9EEB-42D3-87F5-9FC85DC9AE1E}"/>
              </a:ext>
            </a:extLst>
          </p:cNvPr>
          <p:cNvSpPr/>
          <p:nvPr/>
        </p:nvSpPr>
        <p:spPr>
          <a:xfrm>
            <a:off x="306324" y="5690650"/>
            <a:ext cx="11585639" cy="475200"/>
          </a:xfrm>
          <a:prstGeom prst="rect">
            <a:avLst/>
          </a:prstGeom>
          <a:solidFill>
            <a:srgbClr val="E87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Key takeaway – please align to the bottom guide (18 </a:t>
            </a:r>
            <a:r>
              <a:rPr lang="en-US" b="1" err="1"/>
              <a:t>pt</a:t>
            </a:r>
            <a:r>
              <a:rPr lang="en-US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625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Company X is looking for new customer segments to tap into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– Competitive Positioning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E2A3540-09DA-9B45-A787-23D58E22393F}"/>
              </a:ext>
            </a:extLst>
          </p:cNvPr>
          <p:cNvCxnSpPr>
            <a:cxnSpLocks/>
          </p:cNvCxnSpPr>
          <p:nvPr/>
        </p:nvCxnSpPr>
        <p:spPr>
          <a:xfrm>
            <a:off x="2985029" y="1797552"/>
            <a:ext cx="4" cy="3471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1CE603E-3D86-104F-B7E9-DC033EA980D1}"/>
              </a:ext>
            </a:extLst>
          </p:cNvPr>
          <p:cNvCxnSpPr>
            <a:cxnSpLocks/>
          </p:cNvCxnSpPr>
          <p:nvPr/>
        </p:nvCxnSpPr>
        <p:spPr>
          <a:xfrm flipH="1">
            <a:off x="786857" y="3533363"/>
            <a:ext cx="43860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F8F32DE-561D-C64C-9039-FDF0862721C1}"/>
              </a:ext>
            </a:extLst>
          </p:cNvPr>
          <p:cNvSpPr txBox="1"/>
          <p:nvPr/>
        </p:nvSpPr>
        <p:spPr>
          <a:xfrm>
            <a:off x="3047029" y="1725336"/>
            <a:ext cx="1106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High-income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9E5B85-36D4-D144-B348-CFBDF61CBD29}"/>
              </a:ext>
            </a:extLst>
          </p:cNvPr>
          <p:cNvSpPr txBox="1"/>
          <p:nvPr/>
        </p:nvSpPr>
        <p:spPr>
          <a:xfrm>
            <a:off x="3047028" y="5034833"/>
            <a:ext cx="1060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Low-income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96F8DB-2E01-574A-A938-23CBFE15D9A6}"/>
              </a:ext>
            </a:extLst>
          </p:cNvPr>
          <p:cNvSpPr txBox="1"/>
          <p:nvPr/>
        </p:nvSpPr>
        <p:spPr>
          <a:xfrm>
            <a:off x="510887" y="3172262"/>
            <a:ext cx="776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Younger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6193A2-B52E-DE4C-9E05-0E4CA4B98EB9}"/>
              </a:ext>
            </a:extLst>
          </p:cNvPr>
          <p:cNvSpPr txBox="1"/>
          <p:nvPr/>
        </p:nvSpPr>
        <p:spPr>
          <a:xfrm>
            <a:off x="4896908" y="318327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CCCEB-603B-B441-ACA0-98B9CEFB3562}"/>
              </a:ext>
            </a:extLst>
          </p:cNvPr>
          <p:cNvSpPr txBox="1"/>
          <p:nvPr/>
        </p:nvSpPr>
        <p:spPr>
          <a:xfrm>
            <a:off x="1068659" y="2438361"/>
            <a:ext cx="17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The Professional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3E721D-F66A-9E4B-ACA4-B48712D18E00}"/>
              </a:ext>
            </a:extLst>
          </p:cNvPr>
          <p:cNvSpPr txBox="1"/>
          <p:nvPr/>
        </p:nvSpPr>
        <p:spPr>
          <a:xfrm>
            <a:off x="1068659" y="4046107"/>
            <a:ext cx="1634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The Blue-Collar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F86EC1-0F2A-334F-8A67-5857D5854446}"/>
              </a:ext>
            </a:extLst>
          </p:cNvPr>
          <p:cNvSpPr txBox="1"/>
          <p:nvPr/>
        </p:nvSpPr>
        <p:spPr>
          <a:xfrm>
            <a:off x="3254302" y="4046107"/>
            <a:ext cx="1634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The Pensioner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EBC3B9-032A-1D44-A192-1CF2ADF07A10}"/>
              </a:ext>
            </a:extLst>
          </p:cNvPr>
          <p:cNvSpPr txBox="1"/>
          <p:nvPr/>
        </p:nvSpPr>
        <p:spPr>
          <a:xfrm>
            <a:off x="3254301" y="2433442"/>
            <a:ext cx="1634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The Well-off Retiree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E4961-A8FE-6343-AB46-84725ACB41FC}"/>
              </a:ext>
            </a:extLst>
          </p:cNvPr>
          <p:cNvSpPr/>
          <p:nvPr/>
        </p:nvSpPr>
        <p:spPr>
          <a:xfrm>
            <a:off x="7019124" y="1810983"/>
            <a:ext cx="4203442" cy="3200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D894EF-281B-7943-9E47-377B4686EEA0}"/>
              </a:ext>
            </a:extLst>
          </p:cNvPr>
          <p:cNvSpPr/>
          <p:nvPr/>
        </p:nvSpPr>
        <p:spPr>
          <a:xfrm>
            <a:off x="6428875" y="1810983"/>
            <a:ext cx="347744" cy="3200161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/>
              <a:t>Customer Age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E8F5F48-094C-B843-BD5A-C15A2C490606}"/>
              </a:ext>
            </a:extLst>
          </p:cNvPr>
          <p:cNvSpPr/>
          <p:nvPr/>
        </p:nvSpPr>
        <p:spPr>
          <a:xfrm>
            <a:off x="7019124" y="5230546"/>
            <a:ext cx="4203442" cy="313768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Willingness to Pay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0D2921-F9A2-BF4A-9DBC-F2C9B7D4F242}"/>
              </a:ext>
            </a:extLst>
          </p:cNvPr>
          <p:cNvCxnSpPr>
            <a:stCxn id="20" idx="0"/>
            <a:endCxn id="20" idx="2"/>
          </p:cNvCxnSpPr>
          <p:nvPr/>
        </p:nvCxnSpPr>
        <p:spPr>
          <a:xfrm>
            <a:off x="9120845" y="1810983"/>
            <a:ext cx="0" cy="32001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151793C-E0D1-1945-87F9-F8EC1C20FD50}"/>
              </a:ext>
            </a:extLst>
          </p:cNvPr>
          <p:cNvCxnSpPr>
            <a:cxnSpLocks/>
            <a:stCxn id="20" idx="1"/>
            <a:endCxn id="20" idx="3"/>
          </p:cNvCxnSpPr>
          <p:nvPr/>
        </p:nvCxnSpPr>
        <p:spPr>
          <a:xfrm>
            <a:off x="7019124" y="3411064"/>
            <a:ext cx="42034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8B74952-AF22-F341-A0E0-946D32406EB6}"/>
              </a:ext>
            </a:extLst>
          </p:cNvPr>
          <p:cNvSpPr txBox="1"/>
          <p:nvPr/>
        </p:nvSpPr>
        <p:spPr>
          <a:xfrm>
            <a:off x="7856585" y="4983722"/>
            <a:ext cx="437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Low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3CD5D8-E769-4149-A0D8-F96C62D6AF28}"/>
              </a:ext>
            </a:extLst>
          </p:cNvPr>
          <p:cNvSpPr txBox="1"/>
          <p:nvPr/>
        </p:nvSpPr>
        <p:spPr>
          <a:xfrm>
            <a:off x="9914127" y="4977790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High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139AFC-A60C-F24B-88A0-8CB13DD78D78}"/>
              </a:ext>
            </a:extLst>
          </p:cNvPr>
          <p:cNvSpPr txBox="1"/>
          <p:nvPr/>
        </p:nvSpPr>
        <p:spPr>
          <a:xfrm rot="16200000">
            <a:off x="6696533" y="4092273"/>
            <a:ext cx="437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Low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2F7E13-40CC-3F48-AFB1-DFB1F30BFDB1}"/>
              </a:ext>
            </a:extLst>
          </p:cNvPr>
          <p:cNvSpPr txBox="1"/>
          <p:nvPr/>
        </p:nvSpPr>
        <p:spPr>
          <a:xfrm rot="16200000">
            <a:off x="6675018" y="2470711"/>
            <a:ext cx="47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High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4B2D3BA-9720-1746-9205-8A82BAF48739}"/>
              </a:ext>
            </a:extLst>
          </p:cNvPr>
          <p:cNvSpPr/>
          <p:nvPr/>
        </p:nvSpPr>
        <p:spPr>
          <a:xfrm>
            <a:off x="9143210" y="1824314"/>
            <a:ext cx="2044861" cy="1586746"/>
          </a:xfrm>
          <a:prstGeom prst="rect">
            <a:avLst/>
          </a:prstGeom>
          <a:solidFill>
            <a:srgbClr val="E87E2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4CF02C6-8A9A-2B4F-A78A-BED362C29223}"/>
              </a:ext>
            </a:extLst>
          </p:cNvPr>
          <p:cNvSpPr/>
          <p:nvPr/>
        </p:nvSpPr>
        <p:spPr>
          <a:xfrm>
            <a:off x="9989844" y="2451232"/>
            <a:ext cx="356461" cy="356461"/>
          </a:xfrm>
          <a:prstGeom prst="ellipse">
            <a:avLst/>
          </a:prstGeom>
          <a:solidFill>
            <a:srgbClr val="E87E2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4213BA-4992-4FAF-81E0-E6E527441463}"/>
              </a:ext>
            </a:extLst>
          </p:cNvPr>
          <p:cNvGrpSpPr/>
          <p:nvPr/>
        </p:nvGrpSpPr>
        <p:grpSpPr>
          <a:xfrm>
            <a:off x="419380" y="1190273"/>
            <a:ext cx="5557253" cy="376041"/>
            <a:chOff x="533400" y="1316950"/>
            <a:chExt cx="4997520" cy="3760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154CB8-2809-471A-A9E3-AEB28BEC46A6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AD32AD2-A69E-4014-BA9B-03A3D7962A4D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Customer segmentation map I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B51360-4CE6-4490-8A82-0EBD53BF76D9}"/>
              </a:ext>
            </a:extLst>
          </p:cNvPr>
          <p:cNvGrpSpPr/>
          <p:nvPr/>
        </p:nvGrpSpPr>
        <p:grpSpPr>
          <a:xfrm>
            <a:off x="6215369" y="1190272"/>
            <a:ext cx="5557253" cy="376041"/>
            <a:chOff x="533400" y="1316950"/>
            <a:chExt cx="4997520" cy="3760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2C6C9B4-492E-4027-A97B-EC8C533A013F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0FB387F-968A-4869-ABE4-8DCB05967794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Customer segmentation map 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11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Company X is positioned as a mass-market product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– 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366" y="4354197"/>
            <a:ext cx="2213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Jenny, 24 years old</a:t>
            </a:r>
          </a:p>
          <a:p>
            <a:pPr algn="ctr"/>
            <a:r>
              <a:rPr lang="en-US" sz="1400"/>
              <a:t>Lives in Montreal </a:t>
            </a:r>
          </a:p>
          <a:p>
            <a:pPr algn="ctr"/>
            <a:r>
              <a:rPr lang="en-US" sz="1400"/>
              <a:t>Works in Finance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272816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Target Consumer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2AC8E74-6901-7546-88A4-EF7E6C68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24" t="1762" r="22633" b="17263"/>
          <a:stretch>
            <a:fillRect/>
          </a:stretch>
        </p:blipFill>
        <p:spPr>
          <a:xfrm>
            <a:off x="556366" y="1880158"/>
            <a:ext cx="2213918" cy="2287237"/>
          </a:xfrm>
          <a:custGeom>
            <a:avLst/>
            <a:gdLst>
              <a:gd name="connsiteX0" fmla="*/ 2388994 w 4777988"/>
              <a:gd name="connsiteY0" fmla="*/ 0 h 4936222"/>
              <a:gd name="connsiteX1" fmla="*/ 4777988 w 4777988"/>
              <a:gd name="connsiteY1" fmla="*/ 2468111 h 4936222"/>
              <a:gd name="connsiteX2" fmla="*/ 2388994 w 4777988"/>
              <a:gd name="connsiteY2" fmla="*/ 4936222 h 4936222"/>
              <a:gd name="connsiteX3" fmla="*/ 0 w 4777988"/>
              <a:gd name="connsiteY3" fmla="*/ 2468111 h 4936222"/>
              <a:gd name="connsiteX4" fmla="*/ 2388994 w 4777988"/>
              <a:gd name="connsiteY4" fmla="*/ 0 h 493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7988" h="4936222">
                <a:moveTo>
                  <a:pt x="2388994" y="0"/>
                </a:moveTo>
                <a:cubicBezTo>
                  <a:pt x="3708399" y="0"/>
                  <a:pt x="4777988" y="1105011"/>
                  <a:pt x="4777988" y="2468111"/>
                </a:cubicBezTo>
                <a:cubicBezTo>
                  <a:pt x="4777988" y="3831211"/>
                  <a:pt x="3708399" y="4936222"/>
                  <a:pt x="2388994" y="4936222"/>
                </a:cubicBezTo>
                <a:cubicBezTo>
                  <a:pt x="1069589" y="4936222"/>
                  <a:pt x="0" y="3831211"/>
                  <a:pt x="0" y="2468111"/>
                </a:cubicBezTo>
                <a:cubicBezTo>
                  <a:pt x="0" y="1105011"/>
                  <a:pt x="1069589" y="0"/>
                  <a:pt x="2388994" y="0"/>
                </a:cubicBezTo>
                <a:close/>
              </a:path>
            </a:pathLst>
          </a:cu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F2CABD-9FD3-6C46-A145-6D7DC01A851A}"/>
              </a:ext>
            </a:extLst>
          </p:cNvPr>
          <p:cNvCxnSpPr>
            <a:cxnSpLocks/>
          </p:cNvCxnSpPr>
          <p:nvPr/>
        </p:nvCxnSpPr>
        <p:spPr>
          <a:xfrm flipV="1">
            <a:off x="3257616" y="1557623"/>
            <a:ext cx="5498926" cy="79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7B2E02F-30B7-1941-B174-97F23D0B9F63}"/>
              </a:ext>
            </a:extLst>
          </p:cNvPr>
          <p:cNvSpPr txBox="1"/>
          <p:nvPr/>
        </p:nvSpPr>
        <p:spPr>
          <a:xfrm>
            <a:off x="3264391" y="1196274"/>
            <a:ext cx="2831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Positioning Map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23F5B0-8997-4748-AFBE-130D3C636A37}"/>
              </a:ext>
            </a:extLst>
          </p:cNvPr>
          <p:cNvSpPr/>
          <p:nvPr/>
        </p:nvSpPr>
        <p:spPr>
          <a:xfrm>
            <a:off x="300038" y="5507286"/>
            <a:ext cx="11591925" cy="480664"/>
          </a:xfrm>
          <a:prstGeom prst="rect">
            <a:avLst/>
          </a:prstGeom>
          <a:solidFill>
            <a:srgbClr val="C237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Company X needs to strategically focus efforts on improving their brand and increasing product convenience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6AE65-D4D5-C546-96DE-FB24027F07EC}"/>
              </a:ext>
            </a:extLst>
          </p:cNvPr>
          <p:cNvCxnSpPr>
            <a:cxnSpLocks/>
          </p:cNvCxnSpPr>
          <p:nvPr/>
        </p:nvCxnSpPr>
        <p:spPr>
          <a:xfrm>
            <a:off x="6095992" y="1769523"/>
            <a:ext cx="4" cy="3471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AD2129E-E826-0D40-80CF-DF7F9402529F}"/>
              </a:ext>
            </a:extLst>
          </p:cNvPr>
          <p:cNvCxnSpPr>
            <a:cxnSpLocks/>
          </p:cNvCxnSpPr>
          <p:nvPr/>
        </p:nvCxnSpPr>
        <p:spPr>
          <a:xfrm flipH="1">
            <a:off x="3897820" y="3505334"/>
            <a:ext cx="43860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23B39D-6072-D642-8574-7CBE71817E2A}"/>
              </a:ext>
            </a:extLst>
          </p:cNvPr>
          <p:cNvSpPr txBox="1"/>
          <p:nvPr/>
        </p:nvSpPr>
        <p:spPr>
          <a:xfrm>
            <a:off x="6157992" y="1697307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Premium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14E5AA-097E-9E4B-97EA-057BB2DF9C22}"/>
              </a:ext>
            </a:extLst>
          </p:cNvPr>
          <p:cNvSpPr txBox="1"/>
          <p:nvPr/>
        </p:nvSpPr>
        <p:spPr>
          <a:xfrm>
            <a:off x="6157991" y="500680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Mass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6E06C7-26B0-B346-8113-5179C66D8A43}"/>
              </a:ext>
            </a:extLst>
          </p:cNvPr>
          <p:cNvSpPr txBox="1"/>
          <p:nvPr/>
        </p:nvSpPr>
        <p:spPr>
          <a:xfrm>
            <a:off x="3431134" y="3155242"/>
            <a:ext cx="1047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Low Quality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92B348-6590-DB49-A6DA-E0BA0AB78BFC}"/>
              </a:ext>
            </a:extLst>
          </p:cNvPr>
          <p:cNvSpPr txBox="1"/>
          <p:nvPr/>
        </p:nvSpPr>
        <p:spPr>
          <a:xfrm>
            <a:off x="7804629" y="3155242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High Quality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C1B678-7503-C94B-B383-E567816A4E95}"/>
              </a:ext>
            </a:extLst>
          </p:cNvPr>
          <p:cNvSpPr/>
          <p:nvPr/>
        </p:nvSpPr>
        <p:spPr>
          <a:xfrm>
            <a:off x="7804629" y="1934939"/>
            <a:ext cx="314286" cy="294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73D358-4707-E94F-80CE-6BB58DBBA40B}"/>
              </a:ext>
            </a:extLst>
          </p:cNvPr>
          <p:cNvSpPr/>
          <p:nvPr/>
        </p:nvSpPr>
        <p:spPr>
          <a:xfrm>
            <a:off x="5375081" y="4503925"/>
            <a:ext cx="314286" cy="294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4EF66-8EAE-E144-A32D-9F494AB3A001}"/>
              </a:ext>
            </a:extLst>
          </p:cNvPr>
          <p:cNvSpPr/>
          <p:nvPr/>
        </p:nvSpPr>
        <p:spPr>
          <a:xfrm>
            <a:off x="5359535" y="3730264"/>
            <a:ext cx="314286" cy="2944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BC575F-7CC1-CB47-BC8E-7FAE5ED4629E}"/>
              </a:ext>
            </a:extLst>
          </p:cNvPr>
          <p:cNvSpPr/>
          <p:nvPr/>
        </p:nvSpPr>
        <p:spPr>
          <a:xfrm>
            <a:off x="6771233" y="4222819"/>
            <a:ext cx="314286" cy="294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6F1A4A-5DA0-E340-B6EB-EAFC49DEFD43}"/>
              </a:ext>
            </a:extLst>
          </p:cNvPr>
          <p:cNvSpPr/>
          <p:nvPr/>
        </p:nvSpPr>
        <p:spPr>
          <a:xfrm>
            <a:off x="4387355" y="4651159"/>
            <a:ext cx="314286" cy="294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9A6789-EF8B-A148-B208-F889886E79B8}"/>
              </a:ext>
            </a:extLst>
          </p:cNvPr>
          <p:cNvSpPr/>
          <p:nvPr/>
        </p:nvSpPr>
        <p:spPr>
          <a:xfrm>
            <a:off x="6090830" y="2229407"/>
            <a:ext cx="1534336" cy="1275926"/>
          </a:xfrm>
          <a:prstGeom prst="rect">
            <a:avLst/>
          </a:prstGeom>
          <a:solidFill>
            <a:srgbClr val="FFBFBF">
              <a:alpha val="47843"/>
            </a:srgbClr>
          </a:solidFill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F257BA-D439-F44B-BC35-8897A8C384F9}"/>
              </a:ext>
            </a:extLst>
          </p:cNvPr>
          <p:cNvCxnSpPr>
            <a:stCxn id="22" idx="7"/>
          </p:cNvCxnSpPr>
          <p:nvPr/>
        </p:nvCxnSpPr>
        <p:spPr>
          <a:xfrm flipV="1">
            <a:off x="5627795" y="3023776"/>
            <a:ext cx="951947" cy="74961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832302F-D824-024B-AF14-FB59802AEA28}"/>
              </a:ext>
            </a:extLst>
          </p:cNvPr>
          <p:cNvSpPr/>
          <p:nvPr/>
        </p:nvSpPr>
        <p:spPr>
          <a:xfrm>
            <a:off x="9019517" y="2130133"/>
            <a:ext cx="2530558" cy="769700"/>
          </a:xfrm>
          <a:prstGeom prst="rect">
            <a:avLst/>
          </a:prstGeom>
          <a:solidFill>
            <a:srgbClr val="DBDBDB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Lack of competitors in the premium segment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40728C-8A47-FC46-93B2-1D4EC045C0FE}"/>
              </a:ext>
            </a:extLst>
          </p:cNvPr>
          <p:cNvSpPr/>
          <p:nvPr/>
        </p:nvSpPr>
        <p:spPr>
          <a:xfrm>
            <a:off x="9033184" y="3114409"/>
            <a:ext cx="2530558" cy="769700"/>
          </a:xfrm>
          <a:prstGeom prst="rect">
            <a:avLst/>
          </a:prstGeom>
          <a:solidFill>
            <a:srgbClr val="DBDBDB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Existing capabilities to </a:t>
            </a:r>
          </a:p>
          <a:p>
            <a:pPr algn="ctr"/>
            <a:r>
              <a:rPr lang="en-US" sz="1400">
                <a:solidFill>
                  <a:schemeClr val="tx1"/>
                </a:solidFill>
              </a:rPr>
              <a:t>enter the market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218312-EB00-B944-950C-6630ED7D32F1}"/>
              </a:ext>
            </a:extLst>
          </p:cNvPr>
          <p:cNvSpPr/>
          <p:nvPr/>
        </p:nvSpPr>
        <p:spPr>
          <a:xfrm>
            <a:off x="9033184" y="4087944"/>
            <a:ext cx="2530558" cy="769700"/>
          </a:xfrm>
          <a:prstGeom prst="rect">
            <a:avLst/>
          </a:prstGeom>
          <a:solidFill>
            <a:srgbClr val="DBDBDB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Alignment with targeted segment’s needs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868E08-4240-F842-91B2-D1A618580F0B}"/>
              </a:ext>
            </a:extLst>
          </p:cNvPr>
          <p:cNvCxnSpPr>
            <a:cxnSpLocks/>
          </p:cNvCxnSpPr>
          <p:nvPr/>
        </p:nvCxnSpPr>
        <p:spPr>
          <a:xfrm flipV="1">
            <a:off x="8872504" y="1564765"/>
            <a:ext cx="3019459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8AC63E1-68BA-C642-88C7-04882AB2CEA8}"/>
              </a:ext>
            </a:extLst>
          </p:cNvPr>
          <p:cNvSpPr txBox="1"/>
          <p:nvPr/>
        </p:nvSpPr>
        <p:spPr>
          <a:xfrm>
            <a:off x="8879279" y="1195433"/>
            <a:ext cx="2831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Commentary</a:t>
            </a:r>
          </a:p>
        </p:txBody>
      </p:sp>
    </p:spTree>
    <p:extLst>
      <p:ext uri="{BB962C8B-B14F-4D97-AF65-F5344CB8AC3E}">
        <p14:creationId xmlns:p14="http://schemas.microsoft.com/office/powerpoint/2010/main" val="217150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81" y="488264"/>
            <a:ext cx="9957070" cy="427700"/>
          </a:xfrm>
        </p:spPr>
        <p:txBody>
          <a:bodyPr/>
          <a:lstStyle/>
          <a:p>
            <a:r>
              <a:rPr lang="en-US"/>
              <a:t>Company X needs to address the needs of the Millennial consumer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– Consumer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BED1C5-31A5-DB42-A7A3-D930A5DFD739}"/>
              </a:ext>
            </a:extLst>
          </p:cNvPr>
          <p:cNvSpPr/>
          <p:nvPr/>
        </p:nvSpPr>
        <p:spPr>
          <a:xfrm>
            <a:off x="3264396" y="1866926"/>
            <a:ext cx="210273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Key Purchasing Drivers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3264394" y="2570736"/>
            <a:ext cx="2102738" cy="480663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73779"/>
                </a:solidFill>
              </a:rPr>
              <a:t>Price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3264396" y="3281994"/>
            <a:ext cx="2102738" cy="480664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73779"/>
                </a:solidFill>
              </a:rPr>
              <a:t>Product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366" y="4354197"/>
            <a:ext cx="2213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Jenny, 24 years old</a:t>
            </a:r>
          </a:p>
          <a:p>
            <a:pPr algn="ctr"/>
            <a:r>
              <a:rPr lang="en-US" sz="1400"/>
              <a:t>Lives in Montreal </a:t>
            </a:r>
          </a:p>
          <a:p>
            <a:pPr algn="ctr"/>
            <a:r>
              <a:rPr lang="en-US" sz="1400"/>
              <a:t>Works in Finance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272816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Target Consumer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2AC8E74-6901-7546-88A4-EF7E6C68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24" t="1762" r="22633" b="17263"/>
          <a:stretch>
            <a:fillRect/>
          </a:stretch>
        </p:blipFill>
        <p:spPr>
          <a:xfrm>
            <a:off x="556366" y="1880158"/>
            <a:ext cx="2213918" cy="2287237"/>
          </a:xfrm>
          <a:custGeom>
            <a:avLst/>
            <a:gdLst>
              <a:gd name="connsiteX0" fmla="*/ 2388994 w 4777988"/>
              <a:gd name="connsiteY0" fmla="*/ 0 h 4936222"/>
              <a:gd name="connsiteX1" fmla="*/ 4777988 w 4777988"/>
              <a:gd name="connsiteY1" fmla="*/ 2468111 h 4936222"/>
              <a:gd name="connsiteX2" fmla="*/ 2388994 w 4777988"/>
              <a:gd name="connsiteY2" fmla="*/ 4936222 h 4936222"/>
              <a:gd name="connsiteX3" fmla="*/ 0 w 4777988"/>
              <a:gd name="connsiteY3" fmla="*/ 2468111 h 4936222"/>
              <a:gd name="connsiteX4" fmla="*/ 2388994 w 4777988"/>
              <a:gd name="connsiteY4" fmla="*/ 0 h 493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7988" h="4936222">
                <a:moveTo>
                  <a:pt x="2388994" y="0"/>
                </a:moveTo>
                <a:cubicBezTo>
                  <a:pt x="3708399" y="0"/>
                  <a:pt x="4777988" y="1105011"/>
                  <a:pt x="4777988" y="2468111"/>
                </a:cubicBezTo>
                <a:cubicBezTo>
                  <a:pt x="4777988" y="3831211"/>
                  <a:pt x="3708399" y="4936222"/>
                  <a:pt x="2388994" y="4936222"/>
                </a:cubicBezTo>
                <a:cubicBezTo>
                  <a:pt x="1069589" y="4936222"/>
                  <a:pt x="0" y="3831211"/>
                  <a:pt x="0" y="2468111"/>
                </a:cubicBezTo>
                <a:cubicBezTo>
                  <a:pt x="0" y="1105011"/>
                  <a:pt x="1069589" y="0"/>
                  <a:pt x="2388994" y="0"/>
                </a:cubicBezTo>
                <a:close/>
              </a:path>
            </a:pathLst>
          </a:cu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C3B9392-D0EA-5B44-96DC-419DA3879EB9}"/>
              </a:ext>
            </a:extLst>
          </p:cNvPr>
          <p:cNvSpPr/>
          <p:nvPr/>
        </p:nvSpPr>
        <p:spPr>
          <a:xfrm>
            <a:off x="3264394" y="3989597"/>
            <a:ext cx="2102738" cy="480664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73779"/>
                </a:solidFill>
              </a:rPr>
              <a:t>Brand Equity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8C552-DBA6-1C45-ADF5-F453B55C1F30}"/>
              </a:ext>
            </a:extLst>
          </p:cNvPr>
          <p:cNvSpPr/>
          <p:nvPr/>
        </p:nvSpPr>
        <p:spPr>
          <a:xfrm>
            <a:off x="3264393" y="4695696"/>
            <a:ext cx="2102738" cy="480664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73779"/>
                </a:solidFill>
              </a:rPr>
              <a:t>Convenience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0595BD-AE37-F447-ADB6-65550DBFD467}"/>
              </a:ext>
            </a:extLst>
          </p:cNvPr>
          <p:cNvSpPr/>
          <p:nvPr/>
        </p:nvSpPr>
        <p:spPr>
          <a:xfrm>
            <a:off x="5793356" y="1866926"/>
            <a:ext cx="165326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Current Focus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F2CABD-9FD3-6C46-A145-6D7DC01A851A}"/>
              </a:ext>
            </a:extLst>
          </p:cNvPr>
          <p:cNvCxnSpPr>
            <a:cxnSpLocks/>
          </p:cNvCxnSpPr>
          <p:nvPr/>
        </p:nvCxnSpPr>
        <p:spPr>
          <a:xfrm>
            <a:off x="3257616" y="1565606"/>
            <a:ext cx="837801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7B2E02F-30B7-1941-B174-97F23D0B9F63}"/>
              </a:ext>
            </a:extLst>
          </p:cNvPr>
          <p:cNvSpPr txBox="1"/>
          <p:nvPr/>
        </p:nvSpPr>
        <p:spPr>
          <a:xfrm>
            <a:off x="3264391" y="1196274"/>
            <a:ext cx="2831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Purchasing Drivers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23F5B0-8997-4748-AFBE-130D3C636A37}"/>
              </a:ext>
            </a:extLst>
          </p:cNvPr>
          <p:cNvSpPr/>
          <p:nvPr/>
        </p:nvSpPr>
        <p:spPr>
          <a:xfrm>
            <a:off x="300038" y="5507286"/>
            <a:ext cx="11591925" cy="480664"/>
          </a:xfrm>
          <a:prstGeom prst="rect">
            <a:avLst/>
          </a:prstGeom>
          <a:solidFill>
            <a:srgbClr val="C237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Company X needs to strategically focus efforts on improving their brand and increasing product convenience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E54DBF2-D8E5-5345-98AC-89020D6589BE}"/>
              </a:ext>
            </a:extLst>
          </p:cNvPr>
          <p:cNvSpPr/>
          <p:nvPr/>
        </p:nvSpPr>
        <p:spPr>
          <a:xfrm>
            <a:off x="6344206" y="2524745"/>
            <a:ext cx="480664" cy="48066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38C3FC-DF32-A343-80BB-700E52DEA517}"/>
              </a:ext>
            </a:extLst>
          </p:cNvPr>
          <p:cNvSpPr/>
          <p:nvPr/>
        </p:nvSpPr>
        <p:spPr>
          <a:xfrm>
            <a:off x="6344204" y="3269670"/>
            <a:ext cx="480664" cy="4806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86F30E-963F-8C4C-AE86-DDBB8034B6E7}"/>
              </a:ext>
            </a:extLst>
          </p:cNvPr>
          <p:cNvSpPr/>
          <p:nvPr/>
        </p:nvSpPr>
        <p:spPr>
          <a:xfrm>
            <a:off x="6344204" y="3978105"/>
            <a:ext cx="480664" cy="4806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440C4F7-DEDC-0242-B80B-12C1595E7C60}"/>
              </a:ext>
            </a:extLst>
          </p:cNvPr>
          <p:cNvSpPr/>
          <p:nvPr/>
        </p:nvSpPr>
        <p:spPr>
          <a:xfrm>
            <a:off x="6344204" y="4688018"/>
            <a:ext cx="480664" cy="48066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BECD70-ABC0-524B-B6FB-B09073B91054}"/>
              </a:ext>
            </a:extLst>
          </p:cNvPr>
          <p:cNvSpPr/>
          <p:nvPr/>
        </p:nvSpPr>
        <p:spPr>
          <a:xfrm>
            <a:off x="7872846" y="1862294"/>
            <a:ext cx="165326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Consumer Needs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D1AADF-BC6C-864C-88CC-A1F0A00BCB5B}"/>
              </a:ext>
            </a:extLst>
          </p:cNvPr>
          <p:cNvSpPr/>
          <p:nvPr/>
        </p:nvSpPr>
        <p:spPr>
          <a:xfrm>
            <a:off x="9982366" y="1882291"/>
            <a:ext cx="1653268" cy="480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Commentary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E5294B9-C4EB-254C-B513-8F320423B16D}"/>
              </a:ext>
            </a:extLst>
          </p:cNvPr>
          <p:cNvSpPr/>
          <p:nvPr/>
        </p:nvSpPr>
        <p:spPr>
          <a:xfrm>
            <a:off x="8460387" y="2524745"/>
            <a:ext cx="480664" cy="48066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C242AF-61F6-D548-996C-CD93EB4F4185}"/>
              </a:ext>
            </a:extLst>
          </p:cNvPr>
          <p:cNvSpPr/>
          <p:nvPr/>
        </p:nvSpPr>
        <p:spPr>
          <a:xfrm>
            <a:off x="8460385" y="3269670"/>
            <a:ext cx="480664" cy="4806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780FF93-B688-824D-A7F6-F6160DD2BD1E}"/>
              </a:ext>
            </a:extLst>
          </p:cNvPr>
          <p:cNvSpPr/>
          <p:nvPr/>
        </p:nvSpPr>
        <p:spPr>
          <a:xfrm>
            <a:off x="8460385" y="3978105"/>
            <a:ext cx="480664" cy="48066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41124A-E945-6F49-B82C-4BB97BDEF800}"/>
              </a:ext>
            </a:extLst>
          </p:cNvPr>
          <p:cNvSpPr/>
          <p:nvPr/>
        </p:nvSpPr>
        <p:spPr>
          <a:xfrm>
            <a:off x="8460385" y="4688018"/>
            <a:ext cx="480664" cy="48066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E029F15-A4BB-FC4C-8CE6-36D8D4F56201}"/>
              </a:ext>
            </a:extLst>
          </p:cNvPr>
          <p:cNvSpPr/>
          <p:nvPr/>
        </p:nvSpPr>
        <p:spPr>
          <a:xfrm>
            <a:off x="5793356" y="2487686"/>
            <a:ext cx="3732758" cy="563703"/>
          </a:xfrm>
          <a:prstGeom prst="rect">
            <a:avLst/>
          </a:prstGeom>
          <a:solidFill>
            <a:schemeClr val="bg1">
              <a:lumMod val="95000"/>
              <a:alpha val="23137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1EB6A2-1FFD-754E-A51E-D61BC00156B5}"/>
              </a:ext>
            </a:extLst>
          </p:cNvPr>
          <p:cNvSpPr/>
          <p:nvPr/>
        </p:nvSpPr>
        <p:spPr>
          <a:xfrm>
            <a:off x="5793356" y="3806612"/>
            <a:ext cx="3732758" cy="1477529"/>
          </a:xfrm>
          <a:prstGeom prst="rect">
            <a:avLst/>
          </a:prstGeom>
          <a:solidFill>
            <a:schemeClr val="bg1">
              <a:lumMod val="95000"/>
              <a:alpha val="23137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CBD57F-3146-B547-BC88-3240DD4F7123}"/>
              </a:ext>
            </a:extLst>
          </p:cNvPr>
          <p:cNvSpPr txBox="1"/>
          <p:nvPr/>
        </p:nvSpPr>
        <p:spPr>
          <a:xfrm>
            <a:off x="9952338" y="2508654"/>
            <a:ext cx="1653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Price</a:t>
            </a:r>
            <a:r>
              <a:rPr lang="en-US" sz="1400"/>
              <a:t> is not a large driver for purchases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4856FD-59AE-DA43-96C7-FB36745269CB}"/>
              </a:ext>
            </a:extLst>
          </p:cNvPr>
          <p:cNvSpPr txBox="1"/>
          <p:nvPr/>
        </p:nvSpPr>
        <p:spPr>
          <a:xfrm>
            <a:off x="9951963" y="4170442"/>
            <a:ext cx="16532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Branding </a:t>
            </a:r>
            <a:r>
              <a:rPr lang="en-US" sz="1400"/>
              <a:t>and </a:t>
            </a:r>
            <a:r>
              <a:rPr lang="en-US" sz="1400" b="1"/>
              <a:t>Convenience </a:t>
            </a:r>
            <a:r>
              <a:rPr lang="en-US" sz="1400"/>
              <a:t>are key purchasing drivers</a:t>
            </a:r>
            <a:endParaRPr lang="en-US" sz="1400" b="1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92B2EB5-F349-7440-B9D9-704609705B64}"/>
              </a:ext>
            </a:extLst>
          </p:cNvPr>
          <p:cNvSpPr/>
          <p:nvPr/>
        </p:nvSpPr>
        <p:spPr>
          <a:xfrm>
            <a:off x="9856172" y="1282280"/>
            <a:ext cx="191583" cy="19158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DCECF10-0B8B-C841-90A9-8E2C737600B5}"/>
              </a:ext>
            </a:extLst>
          </p:cNvPr>
          <p:cNvSpPr/>
          <p:nvPr/>
        </p:nvSpPr>
        <p:spPr>
          <a:xfrm>
            <a:off x="10376451" y="1279201"/>
            <a:ext cx="191583" cy="19158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6264BAA-8C9E-3A42-B50A-BA32C7CBE674}"/>
              </a:ext>
            </a:extLst>
          </p:cNvPr>
          <p:cNvCxnSpPr>
            <a:stCxn id="54" idx="6"/>
            <a:endCxn id="55" idx="2"/>
          </p:cNvCxnSpPr>
          <p:nvPr/>
        </p:nvCxnSpPr>
        <p:spPr>
          <a:xfrm flipV="1">
            <a:off x="10047755" y="1374993"/>
            <a:ext cx="328696" cy="3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4F19FF2-F578-FA4F-9C56-8BAE992D2956}"/>
              </a:ext>
            </a:extLst>
          </p:cNvPr>
          <p:cNvSpPr txBox="1"/>
          <p:nvPr/>
        </p:nvSpPr>
        <p:spPr>
          <a:xfrm>
            <a:off x="10568034" y="1272333"/>
            <a:ext cx="9284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Most important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8AE12D-0A70-634B-81CE-46B7D8C000E0}"/>
              </a:ext>
            </a:extLst>
          </p:cNvPr>
          <p:cNvSpPr txBox="1"/>
          <p:nvPr/>
        </p:nvSpPr>
        <p:spPr>
          <a:xfrm>
            <a:off x="8943615" y="1264161"/>
            <a:ext cx="9284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Least important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473AF83-48BC-A24A-9346-D2ABE881E5DC}"/>
              </a:ext>
            </a:extLst>
          </p:cNvPr>
          <p:cNvCxnSpPr>
            <a:stCxn id="49" idx="3"/>
            <a:endCxn id="51" idx="1"/>
          </p:cNvCxnSpPr>
          <p:nvPr/>
        </p:nvCxnSpPr>
        <p:spPr>
          <a:xfrm>
            <a:off x="9526114" y="2769538"/>
            <a:ext cx="426224" cy="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35E0728-0673-0B4E-8373-3A634770B0FD}"/>
              </a:ext>
            </a:extLst>
          </p:cNvPr>
          <p:cNvCxnSpPr/>
          <p:nvPr/>
        </p:nvCxnSpPr>
        <p:spPr>
          <a:xfrm>
            <a:off x="9525739" y="4595457"/>
            <a:ext cx="426224" cy="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92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Company X is positioned as a mass-market product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Alternatives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1147935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Alternative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DAC46F-8BBA-8C44-853E-902566CC411B}"/>
              </a:ext>
            </a:extLst>
          </p:cNvPr>
          <p:cNvSpPr/>
          <p:nvPr/>
        </p:nvSpPr>
        <p:spPr>
          <a:xfrm>
            <a:off x="4049546" y="1926956"/>
            <a:ext cx="210273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Digital CRM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F37650-03DA-5A4D-B014-6D7460F4915F}"/>
              </a:ext>
            </a:extLst>
          </p:cNvPr>
          <p:cNvSpPr/>
          <p:nvPr/>
        </p:nvSpPr>
        <p:spPr>
          <a:xfrm>
            <a:off x="6402705" y="1926956"/>
            <a:ext cx="210273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Blockchain Solution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8A174B-986B-F54C-92FC-851A8A3943EC}"/>
              </a:ext>
            </a:extLst>
          </p:cNvPr>
          <p:cNvSpPr/>
          <p:nvPr/>
        </p:nvSpPr>
        <p:spPr>
          <a:xfrm>
            <a:off x="8755864" y="1926956"/>
            <a:ext cx="2102738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Chatbot Functionality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9627CA0-AD0D-314B-BB96-005953569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1" y="2731748"/>
            <a:ext cx="674307" cy="6743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B0EEE9D-7680-1640-802E-F3AF701A3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43" y="3837610"/>
            <a:ext cx="679973" cy="6799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A01518E-E7D4-1941-B1F4-08CD526FF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42" y="5084138"/>
            <a:ext cx="679973" cy="6799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1DF86-9BE9-0748-AAD1-D567CCFEF931}"/>
              </a:ext>
            </a:extLst>
          </p:cNvPr>
          <p:cNvSpPr txBox="1"/>
          <p:nvPr/>
        </p:nvSpPr>
        <p:spPr>
          <a:xfrm>
            <a:off x="1591531" y="2553237"/>
            <a:ext cx="1821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BRAND IMAGE</a:t>
            </a:r>
          </a:p>
          <a:p>
            <a:r>
              <a:rPr lang="en-US" sz="1600" i="1"/>
              <a:t>Does it improve its brand image?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699264-F303-FF4B-A7F2-B39B50E2B532}"/>
              </a:ext>
            </a:extLst>
          </p:cNvPr>
          <p:cNvCxnSpPr>
            <a:cxnSpLocks/>
          </p:cNvCxnSpPr>
          <p:nvPr/>
        </p:nvCxnSpPr>
        <p:spPr>
          <a:xfrm>
            <a:off x="3816069" y="1926956"/>
            <a:ext cx="0" cy="40606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090A56-06D8-5B44-B0DF-3479E0EE0B65}"/>
              </a:ext>
            </a:extLst>
          </p:cNvPr>
          <p:cNvSpPr txBox="1"/>
          <p:nvPr/>
        </p:nvSpPr>
        <p:spPr>
          <a:xfrm>
            <a:off x="1591530" y="3622871"/>
            <a:ext cx="18216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FEASBILIITY</a:t>
            </a:r>
          </a:p>
          <a:p>
            <a:r>
              <a:rPr lang="en-US" sz="1600" i="1"/>
              <a:t>Is the firm able to implement it under constraints?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CDBF90-884E-3E48-A9C2-96B92996C8F4}"/>
              </a:ext>
            </a:extLst>
          </p:cNvPr>
          <p:cNvSpPr txBox="1"/>
          <p:nvPr/>
        </p:nvSpPr>
        <p:spPr>
          <a:xfrm>
            <a:off x="1591529" y="4910385"/>
            <a:ext cx="18216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IMPACT</a:t>
            </a:r>
          </a:p>
          <a:p>
            <a:r>
              <a:rPr lang="en-US" sz="1600" i="1"/>
              <a:t>Does it generate sufficient financial benefit?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897758-B441-F84C-96E8-90A464FA5F92}"/>
              </a:ext>
            </a:extLst>
          </p:cNvPr>
          <p:cNvSpPr/>
          <p:nvPr/>
        </p:nvSpPr>
        <p:spPr>
          <a:xfrm>
            <a:off x="4783090" y="2669385"/>
            <a:ext cx="677652" cy="6776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7547D9-3AC6-964D-9D4F-BF61A62E2164}"/>
              </a:ext>
            </a:extLst>
          </p:cNvPr>
          <p:cNvSpPr/>
          <p:nvPr/>
        </p:nvSpPr>
        <p:spPr>
          <a:xfrm>
            <a:off x="4783090" y="3822077"/>
            <a:ext cx="677652" cy="6776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28AB8F-FCAA-614C-BADC-0A7DA3D6A5D8}"/>
              </a:ext>
            </a:extLst>
          </p:cNvPr>
          <p:cNvSpPr/>
          <p:nvPr/>
        </p:nvSpPr>
        <p:spPr>
          <a:xfrm>
            <a:off x="4783090" y="4974769"/>
            <a:ext cx="677652" cy="6776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4BBC3A-37B7-364A-B7C2-AC09822A9EA9}"/>
              </a:ext>
            </a:extLst>
          </p:cNvPr>
          <p:cNvSpPr/>
          <p:nvPr/>
        </p:nvSpPr>
        <p:spPr>
          <a:xfrm>
            <a:off x="7105253" y="2669385"/>
            <a:ext cx="677652" cy="6776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246E85-8CB7-9146-B0A4-2631E5E94C9F}"/>
              </a:ext>
            </a:extLst>
          </p:cNvPr>
          <p:cNvSpPr/>
          <p:nvPr/>
        </p:nvSpPr>
        <p:spPr>
          <a:xfrm>
            <a:off x="7105253" y="3822077"/>
            <a:ext cx="677652" cy="6776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68FAE25-5496-5B4F-B1DA-960932D58868}"/>
              </a:ext>
            </a:extLst>
          </p:cNvPr>
          <p:cNvSpPr/>
          <p:nvPr/>
        </p:nvSpPr>
        <p:spPr>
          <a:xfrm>
            <a:off x="7105253" y="4974769"/>
            <a:ext cx="677652" cy="6776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1E4A7D5-925C-BD4C-BC4C-AD4C3577180A}"/>
              </a:ext>
            </a:extLst>
          </p:cNvPr>
          <p:cNvSpPr/>
          <p:nvPr/>
        </p:nvSpPr>
        <p:spPr>
          <a:xfrm>
            <a:off x="9427416" y="2667640"/>
            <a:ext cx="677652" cy="6776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DE03C0-DD51-0E48-AA2E-58EB4B42D442}"/>
              </a:ext>
            </a:extLst>
          </p:cNvPr>
          <p:cNvSpPr/>
          <p:nvPr/>
        </p:nvSpPr>
        <p:spPr>
          <a:xfrm>
            <a:off x="9427416" y="3820332"/>
            <a:ext cx="677652" cy="6776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9177AC-F5F1-914B-B3D8-965425C90A85}"/>
              </a:ext>
            </a:extLst>
          </p:cNvPr>
          <p:cNvSpPr/>
          <p:nvPr/>
        </p:nvSpPr>
        <p:spPr>
          <a:xfrm>
            <a:off x="9427416" y="4973024"/>
            <a:ext cx="677652" cy="6776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42A794-5AE2-2D4B-A84E-A631978607B8}"/>
              </a:ext>
            </a:extLst>
          </p:cNvPr>
          <p:cNvSpPr/>
          <p:nvPr/>
        </p:nvSpPr>
        <p:spPr>
          <a:xfrm>
            <a:off x="604436" y="1923715"/>
            <a:ext cx="2960169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Criteria</a:t>
            </a:r>
          </a:p>
        </p:txBody>
      </p:sp>
    </p:spTree>
    <p:extLst>
      <p:ext uri="{BB962C8B-B14F-4D97-AF65-F5344CB8AC3E}">
        <p14:creationId xmlns:p14="http://schemas.microsoft.com/office/powerpoint/2010/main" val="312911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Company X is positioned as a mass-market product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Alternatives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1147935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Alternative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23A3B6-03D4-1F46-B7F7-337F6B503CAD}"/>
              </a:ext>
            </a:extLst>
          </p:cNvPr>
          <p:cNvSpPr/>
          <p:nvPr/>
        </p:nvSpPr>
        <p:spPr>
          <a:xfrm>
            <a:off x="1207259" y="1985325"/>
            <a:ext cx="4203442" cy="3200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DC0F3C-E577-5848-AB89-E44CEE5F2BBD}"/>
              </a:ext>
            </a:extLst>
          </p:cNvPr>
          <p:cNvSpPr/>
          <p:nvPr/>
        </p:nvSpPr>
        <p:spPr>
          <a:xfrm>
            <a:off x="617010" y="1985325"/>
            <a:ext cx="347744" cy="3200161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/>
              <a:t>Feasibility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1317D3-552E-4A44-94EA-CAC79DAA5126}"/>
              </a:ext>
            </a:extLst>
          </p:cNvPr>
          <p:cNvSpPr/>
          <p:nvPr/>
        </p:nvSpPr>
        <p:spPr>
          <a:xfrm>
            <a:off x="1207259" y="5404888"/>
            <a:ext cx="4203442" cy="313768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Impact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C38369-C448-7E48-9F44-9446E3A22E6D}"/>
              </a:ext>
            </a:extLst>
          </p:cNvPr>
          <p:cNvCxnSpPr>
            <a:cxnSpLocks/>
            <a:stCxn id="20" idx="0"/>
            <a:endCxn id="20" idx="2"/>
          </p:cNvCxnSpPr>
          <p:nvPr/>
        </p:nvCxnSpPr>
        <p:spPr>
          <a:xfrm>
            <a:off x="3308980" y="1985325"/>
            <a:ext cx="0" cy="32001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B12F35A-095C-2F47-9F13-DE18B71FDCB4}"/>
              </a:ext>
            </a:extLst>
          </p:cNvPr>
          <p:cNvCxnSpPr>
            <a:cxnSpLocks/>
            <a:stCxn id="20" idx="1"/>
            <a:endCxn id="20" idx="3"/>
          </p:cNvCxnSpPr>
          <p:nvPr/>
        </p:nvCxnSpPr>
        <p:spPr>
          <a:xfrm>
            <a:off x="1207259" y="3585406"/>
            <a:ext cx="420344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019E00-48F3-9F43-BEEE-12237A174DE9}"/>
              </a:ext>
            </a:extLst>
          </p:cNvPr>
          <p:cNvSpPr txBox="1"/>
          <p:nvPr/>
        </p:nvSpPr>
        <p:spPr>
          <a:xfrm>
            <a:off x="2044720" y="5158064"/>
            <a:ext cx="437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AE5F5-DA9B-1040-8AB2-7F2BF12306A6}"/>
              </a:ext>
            </a:extLst>
          </p:cNvPr>
          <p:cNvSpPr txBox="1"/>
          <p:nvPr/>
        </p:nvSpPr>
        <p:spPr>
          <a:xfrm>
            <a:off x="4102262" y="5152132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High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F17DE4-7FB1-404E-ABE4-6799EEE51E07}"/>
              </a:ext>
            </a:extLst>
          </p:cNvPr>
          <p:cNvSpPr txBox="1"/>
          <p:nvPr/>
        </p:nvSpPr>
        <p:spPr>
          <a:xfrm rot="16200000">
            <a:off x="884668" y="4266615"/>
            <a:ext cx="437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Low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A3882A-BA43-4543-92A2-69D18275131A}"/>
              </a:ext>
            </a:extLst>
          </p:cNvPr>
          <p:cNvSpPr txBox="1"/>
          <p:nvPr/>
        </p:nvSpPr>
        <p:spPr>
          <a:xfrm rot="16200000">
            <a:off x="863153" y="2645053"/>
            <a:ext cx="47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High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D08D9A-FEE2-3442-80CF-F78AA3FD61D1}"/>
              </a:ext>
            </a:extLst>
          </p:cNvPr>
          <p:cNvSpPr/>
          <p:nvPr/>
        </p:nvSpPr>
        <p:spPr>
          <a:xfrm>
            <a:off x="3764756" y="2590649"/>
            <a:ext cx="356461" cy="356461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3A5E226-79B4-CC4E-BEC2-6D7BF39F6F92}"/>
              </a:ext>
            </a:extLst>
          </p:cNvPr>
          <p:cNvSpPr/>
          <p:nvPr/>
        </p:nvSpPr>
        <p:spPr>
          <a:xfrm>
            <a:off x="4397237" y="3482827"/>
            <a:ext cx="356461" cy="356461"/>
          </a:xfrm>
          <a:prstGeom prst="ellipse">
            <a:avLst/>
          </a:prstGeom>
          <a:solidFill>
            <a:srgbClr val="E87E2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661C4-60AF-934D-8F28-745F9B21240D}"/>
              </a:ext>
            </a:extLst>
          </p:cNvPr>
          <p:cNvSpPr/>
          <p:nvPr/>
        </p:nvSpPr>
        <p:spPr>
          <a:xfrm>
            <a:off x="3170930" y="3913814"/>
            <a:ext cx="356461" cy="35646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62961F-45E7-A14D-AAE7-5D9941C24837}"/>
              </a:ext>
            </a:extLst>
          </p:cNvPr>
          <p:cNvSpPr/>
          <p:nvPr/>
        </p:nvSpPr>
        <p:spPr>
          <a:xfrm>
            <a:off x="3745801" y="4382515"/>
            <a:ext cx="356461" cy="35646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723BB8-7689-C542-BB92-DE2F42852887}"/>
              </a:ext>
            </a:extLst>
          </p:cNvPr>
          <p:cNvSpPr/>
          <p:nvPr/>
        </p:nvSpPr>
        <p:spPr>
          <a:xfrm>
            <a:off x="2535606" y="2215052"/>
            <a:ext cx="356461" cy="356461"/>
          </a:xfrm>
          <a:prstGeom prst="ellipse">
            <a:avLst/>
          </a:prstGeom>
          <a:solidFill>
            <a:srgbClr val="E87E2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1C7CF4-3DFB-A040-971B-266B225B0ACB}"/>
              </a:ext>
            </a:extLst>
          </p:cNvPr>
          <p:cNvSpPr/>
          <p:nvPr/>
        </p:nvSpPr>
        <p:spPr>
          <a:xfrm>
            <a:off x="4576993" y="2357767"/>
            <a:ext cx="356461" cy="356461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DB1B769-DBF8-7243-9F62-54A59E836184}"/>
              </a:ext>
            </a:extLst>
          </p:cNvPr>
          <p:cNvSpPr/>
          <p:nvPr/>
        </p:nvSpPr>
        <p:spPr>
          <a:xfrm>
            <a:off x="6603070" y="2368718"/>
            <a:ext cx="356461" cy="356461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B59D68C-6549-E44F-8B3D-BDF44FB1CF06}"/>
              </a:ext>
            </a:extLst>
          </p:cNvPr>
          <p:cNvSpPr/>
          <p:nvPr/>
        </p:nvSpPr>
        <p:spPr>
          <a:xfrm>
            <a:off x="6603070" y="4127714"/>
            <a:ext cx="356461" cy="356461"/>
          </a:xfrm>
          <a:prstGeom prst="ellipse">
            <a:avLst/>
          </a:prstGeom>
          <a:solidFill>
            <a:srgbClr val="E87E2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62863F2-602F-5D49-A3B4-15F3A5DBFEF9}"/>
              </a:ext>
            </a:extLst>
          </p:cNvPr>
          <p:cNvSpPr/>
          <p:nvPr/>
        </p:nvSpPr>
        <p:spPr>
          <a:xfrm>
            <a:off x="6605506" y="4714046"/>
            <a:ext cx="356461" cy="35646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C86FA19-6FDA-EE4C-BD57-30C0756EBAD2}"/>
              </a:ext>
            </a:extLst>
          </p:cNvPr>
          <p:cNvSpPr/>
          <p:nvPr/>
        </p:nvSpPr>
        <p:spPr>
          <a:xfrm>
            <a:off x="6603070" y="5300377"/>
            <a:ext cx="356461" cy="35646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E212ED0-3BA8-E242-B078-DDF61C530CDA}"/>
              </a:ext>
            </a:extLst>
          </p:cNvPr>
          <p:cNvSpPr/>
          <p:nvPr/>
        </p:nvSpPr>
        <p:spPr>
          <a:xfrm>
            <a:off x="6603070" y="3541382"/>
            <a:ext cx="356461" cy="356461"/>
          </a:xfrm>
          <a:prstGeom prst="ellipse">
            <a:avLst/>
          </a:prstGeom>
          <a:solidFill>
            <a:srgbClr val="E87E2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34D4696-0FB4-114E-B12A-5B6581E05E22}"/>
              </a:ext>
            </a:extLst>
          </p:cNvPr>
          <p:cNvSpPr/>
          <p:nvPr/>
        </p:nvSpPr>
        <p:spPr>
          <a:xfrm>
            <a:off x="6603070" y="2955050"/>
            <a:ext cx="356461" cy="356461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356C6A-9818-D745-A0E8-87FBB3BA197D}"/>
              </a:ext>
            </a:extLst>
          </p:cNvPr>
          <p:cNvSpPr/>
          <p:nvPr/>
        </p:nvSpPr>
        <p:spPr>
          <a:xfrm>
            <a:off x="6423660" y="1762994"/>
            <a:ext cx="2937315" cy="480661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Alternatives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E80388-C679-0749-B9C9-1EA35161D6FE}"/>
              </a:ext>
            </a:extLst>
          </p:cNvPr>
          <p:cNvSpPr/>
          <p:nvPr/>
        </p:nvSpPr>
        <p:spPr>
          <a:xfrm>
            <a:off x="9504011" y="1762994"/>
            <a:ext cx="2201191" cy="49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6C87C-AF59-BE46-9D04-1955C8C86371}"/>
              </a:ext>
            </a:extLst>
          </p:cNvPr>
          <p:cNvSpPr txBox="1"/>
          <p:nvPr/>
        </p:nvSpPr>
        <p:spPr>
          <a:xfrm>
            <a:off x="7216676" y="5323751"/>
            <a:ext cx="1865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Geographic Market Expansion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DF0F1A-31A5-3F43-91C1-D70D93421D8A}"/>
              </a:ext>
            </a:extLst>
          </p:cNvPr>
          <p:cNvSpPr txBox="1"/>
          <p:nvPr/>
        </p:nvSpPr>
        <p:spPr>
          <a:xfrm>
            <a:off x="7219112" y="4730004"/>
            <a:ext cx="186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Adoption of Frontier Technology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5DD537-F3DF-884B-860E-80A9FD695EB1}"/>
              </a:ext>
            </a:extLst>
          </p:cNvPr>
          <p:cNvSpPr txBox="1"/>
          <p:nvPr/>
        </p:nvSpPr>
        <p:spPr>
          <a:xfrm>
            <a:off x="7216676" y="4136259"/>
            <a:ext cx="186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Adoption of Frontier Technology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6053A5-ACEF-8749-8A3B-18A75D8231FF}"/>
              </a:ext>
            </a:extLst>
          </p:cNvPr>
          <p:cNvSpPr txBox="1"/>
          <p:nvPr/>
        </p:nvSpPr>
        <p:spPr>
          <a:xfrm>
            <a:off x="7216675" y="3542514"/>
            <a:ext cx="186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Product Feature </a:t>
            </a:r>
          </a:p>
          <a:p>
            <a:r>
              <a:rPr lang="en-US" sz="1600"/>
              <a:t>Enhancement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78A405-374B-4548-B92B-A128DCC9410D}"/>
              </a:ext>
            </a:extLst>
          </p:cNvPr>
          <p:cNvSpPr txBox="1"/>
          <p:nvPr/>
        </p:nvSpPr>
        <p:spPr>
          <a:xfrm>
            <a:off x="7216675" y="2948769"/>
            <a:ext cx="186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Adoption of Frontier Technology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7284CE-B2A6-774C-918F-93120E988F03}"/>
              </a:ext>
            </a:extLst>
          </p:cNvPr>
          <p:cNvSpPr txBox="1"/>
          <p:nvPr/>
        </p:nvSpPr>
        <p:spPr>
          <a:xfrm>
            <a:off x="7216674" y="2355024"/>
            <a:ext cx="1865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Adoption of Frontier Technology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7212D9F-BAD7-F949-B9DD-6283685B8889}"/>
              </a:ext>
            </a:extLst>
          </p:cNvPr>
          <p:cNvSpPr/>
          <p:nvPr/>
        </p:nvSpPr>
        <p:spPr>
          <a:xfrm>
            <a:off x="9504010" y="2368718"/>
            <a:ext cx="2201191" cy="1114108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6C31"/>
                </a:solidFill>
              </a:rPr>
              <a:t>Pursue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3F3E519-D5CF-C448-9A0E-88AB22DDC733}"/>
              </a:ext>
            </a:extLst>
          </p:cNvPr>
          <p:cNvSpPr/>
          <p:nvPr/>
        </p:nvSpPr>
        <p:spPr>
          <a:xfrm>
            <a:off x="9504010" y="3541382"/>
            <a:ext cx="2201191" cy="1114108"/>
          </a:xfrm>
          <a:prstGeom prst="rect">
            <a:avLst/>
          </a:prstGeom>
          <a:solidFill>
            <a:srgbClr val="E87E2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775712"/>
                </a:solidFill>
              </a:rPr>
              <a:t>Wait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D68AEC6-CAA4-094D-A3B1-9A19CFDD267C}"/>
              </a:ext>
            </a:extLst>
          </p:cNvPr>
          <p:cNvSpPr/>
          <p:nvPr/>
        </p:nvSpPr>
        <p:spPr>
          <a:xfrm>
            <a:off x="9504009" y="4714046"/>
            <a:ext cx="2201191" cy="1114108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830001"/>
                </a:solidFill>
              </a:rPr>
              <a:t>Do not pursue</a:t>
            </a:r>
          </a:p>
        </p:txBody>
      </p:sp>
    </p:spTree>
    <p:extLst>
      <p:ext uri="{BB962C8B-B14F-4D97-AF65-F5344CB8AC3E}">
        <p14:creationId xmlns:p14="http://schemas.microsoft.com/office/powerpoint/2010/main" val="106054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2F823-97AB-460D-874B-1679F3D08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8B08DB-4B73-49D1-833B-1A1B69AF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Gap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F08F6-29BD-4D34-AF25-DE88AE31F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E472B-7716-44BB-A99C-11FF9658EB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Validation – Gap Analysis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B26363-6A26-49F4-A919-0C5D0B03DF92}"/>
              </a:ext>
            </a:extLst>
          </p:cNvPr>
          <p:cNvGrpSpPr/>
          <p:nvPr/>
        </p:nvGrpSpPr>
        <p:grpSpPr>
          <a:xfrm>
            <a:off x="4825187" y="2381660"/>
            <a:ext cx="2541626" cy="2025240"/>
            <a:chOff x="3319332" y="2739122"/>
            <a:chExt cx="2541626" cy="2025240"/>
          </a:xfrm>
        </p:grpSpPr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0F9511EE-667D-49F7-8B62-AE531A4D40CF}"/>
                </a:ext>
              </a:extLst>
            </p:cNvPr>
            <p:cNvSpPr/>
            <p:nvPr/>
          </p:nvSpPr>
          <p:spPr>
            <a:xfrm>
              <a:off x="3319332" y="3493083"/>
              <a:ext cx="1081181" cy="12712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CFCC2A60-AD5F-4079-89B9-9A8E77EA8E1B}"/>
                </a:ext>
              </a:extLst>
            </p:cNvPr>
            <p:cNvSpPr/>
            <p:nvPr/>
          </p:nvSpPr>
          <p:spPr>
            <a:xfrm>
              <a:off x="4779777" y="3493506"/>
              <a:ext cx="1081181" cy="12708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AD6BD9BE-7AAF-4EA6-9F21-66E43BF4C9D3}"/>
                </a:ext>
              </a:extLst>
            </p:cNvPr>
            <p:cNvSpPr txBox="1"/>
            <p:nvPr/>
          </p:nvSpPr>
          <p:spPr>
            <a:xfrm>
              <a:off x="3935990" y="2739122"/>
              <a:ext cx="1276696" cy="30777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</a:pPr>
              <a:r>
                <a:rPr sz="2000" b="1" spc="-15">
                  <a:latin typeface="+mj-lt"/>
                  <a:cs typeface="Arial"/>
                </a:rPr>
                <a:t>G</a:t>
              </a:r>
              <a:r>
                <a:rPr sz="2000" b="1" spc="-55">
                  <a:latin typeface="+mj-lt"/>
                  <a:cs typeface="Arial"/>
                </a:rPr>
                <a:t>A</a:t>
              </a:r>
              <a:r>
                <a:rPr sz="2000" b="1" spc="-5">
                  <a:latin typeface="+mj-lt"/>
                  <a:cs typeface="Arial"/>
                </a:rPr>
                <a:t>P</a:t>
              </a:r>
              <a:endParaRPr sz="2000">
                <a:latin typeface="+mj-lt"/>
                <a:cs typeface="Arial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F7E792-2648-4CE4-8182-AA7CCE22CF8F}"/>
                </a:ext>
              </a:extLst>
            </p:cNvPr>
            <p:cNvGrpSpPr/>
            <p:nvPr/>
          </p:nvGrpSpPr>
          <p:grpSpPr>
            <a:xfrm>
              <a:off x="3802333" y="3197816"/>
              <a:ext cx="1588937" cy="822916"/>
              <a:chOff x="3802333" y="3197816"/>
              <a:chExt cx="1588937" cy="822916"/>
            </a:xfrm>
          </p:grpSpPr>
          <p:sp>
            <p:nvSpPr>
              <p:cNvPr id="11" name="object 29">
                <a:extLst>
                  <a:ext uri="{FF2B5EF4-FFF2-40B4-BE49-F238E27FC236}">
                    <a16:creationId xmlns:a16="http://schemas.microsoft.com/office/drawing/2014/main" id="{AD0D6DC8-CB1F-4544-B09B-61615234C370}"/>
                  </a:ext>
                </a:extLst>
              </p:cNvPr>
              <p:cNvSpPr/>
              <p:nvPr/>
            </p:nvSpPr>
            <p:spPr>
              <a:xfrm>
                <a:off x="3802333" y="3835066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0" y="133844"/>
                    </a:moveTo>
                    <a:lnTo>
                      <a:pt x="6864" y="91241"/>
                    </a:lnTo>
                    <a:lnTo>
                      <a:pt x="25983" y="54266"/>
                    </a:lnTo>
                    <a:lnTo>
                      <a:pt x="55145" y="25131"/>
                    </a:lnTo>
                    <a:lnTo>
                      <a:pt x="92141" y="6047"/>
                    </a:lnTo>
                    <a:lnTo>
                      <a:pt x="120065" y="0"/>
                    </a:lnTo>
                    <a:lnTo>
                      <a:pt x="136520" y="568"/>
                    </a:lnTo>
                    <a:lnTo>
                      <a:pt x="181327" y="10294"/>
                    </a:lnTo>
                    <a:lnTo>
                      <a:pt x="218292" y="30576"/>
                    </a:lnTo>
                    <a:lnTo>
                      <a:pt x="246124" y="59516"/>
                    </a:lnTo>
                    <a:lnTo>
                      <a:pt x="263532" y="95215"/>
                    </a:lnTo>
                    <a:lnTo>
                      <a:pt x="268709" y="121834"/>
                    </a:lnTo>
                    <a:lnTo>
                      <a:pt x="268082" y="137999"/>
                    </a:lnTo>
                    <a:lnTo>
                      <a:pt x="258042" y="182166"/>
                    </a:lnTo>
                    <a:lnTo>
                      <a:pt x="237289" y="218727"/>
                    </a:lnTo>
                    <a:lnTo>
                      <a:pt x="207785" y="246244"/>
                    </a:lnTo>
                    <a:lnTo>
                      <a:pt x="171492" y="263280"/>
                    </a:lnTo>
                    <a:lnTo>
                      <a:pt x="144495" y="268106"/>
                    </a:lnTo>
                    <a:lnTo>
                      <a:pt x="128560" y="267436"/>
                    </a:lnTo>
                    <a:lnTo>
                      <a:pt x="84908" y="257158"/>
                    </a:lnTo>
                    <a:lnTo>
                      <a:pt x="48690" y="236035"/>
                    </a:lnTo>
                    <a:lnTo>
                      <a:pt x="21456" y="206073"/>
                    </a:lnTo>
                    <a:lnTo>
                      <a:pt x="4756" y="169276"/>
                    </a:lnTo>
                    <a:lnTo>
                      <a:pt x="0" y="133844"/>
                    </a:lnTo>
                    <a:close/>
                  </a:path>
                </a:pathLst>
              </a:custGeom>
              <a:ln w="12700">
                <a:solidFill>
                  <a:srgbClr val="003357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" name="object 31">
                <a:extLst>
                  <a:ext uri="{FF2B5EF4-FFF2-40B4-BE49-F238E27FC236}">
                    <a16:creationId xmlns:a16="http://schemas.microsoft.com/office/drawing/2014/main" id="{66625EA5-0C3B-4162-ADD1-B4DF43106DED}"/>
                  </a:ext>
                </a:extLst>
              </p:cNvPr>
              <p:cNvSpPr/>
              <p:nvPr/>
            </p:nvSpPr>
            <p:spPr>
              <a:xfrm>
                <a:off x="3864795" y="3596574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0" y="133844"/>
                    </a:moveTo>
                    <a:lnTo>
                      <a:pt x="6876" y="91241"/>
                    </a:lnTo>
                    <a:lnTo>
                      <a:pt x="26019" y="54266"/>
                    </a:lnTo>
                    <a:lnTo>
                      <a:pt x="55200" y="25131"/>
                    </a:lnTo>
                    <a:lnTo>
                      <a:pt x="92190" y="6047"/>
                    </a:lnTo>
                    <a:lnTo>
                      <a:pt x="120086" y="0"/>
                    </a:lnTo>
                    <a:lnTo>
                      <a:pt x="136560" y="568"/>
                    </a:lnTo>
                    <a:lnTo>
                      <a:pt x="181394" y="10296"/>
                    </a:lnTo>
                    <a:lnTo>
                      <a:pt x="218354" y="30581"/>
                    </a:lnTo>
                    <a:lnTo>
                      <a:pt x="246164" y="59524"/>
                    </a:lnTo>
                    <a:lnTo>
                      <a:pt x="263546" y="95229"/>
                    </a:lnTo>
                    <a:lnTo>
                      <a:pt x="268712" y="121851"/>
                    </a:lnTo>
                    <a:lnTo>
                      <a:pt x="268086" y="138013"/>
                    </a:lnTo>
                    <a:lnTo>
                      <a:pt x="258060" y="182177"/>
                    </a:lnTo>
                    <a:lnTo>
                      <a:pt x="237327" y="218735"/>
                    </a:lnTo>
                    <a:lnTo>
                      <a:pt x="207833" y="246250"/>
                    </a:lnTo>
                    <a:lnTo>
                      <a:pt x="171525" y="263284"/>
                    </a:lnTo>
                    <a:lnTo>
                      <a:pt x="144496" y="268107"/>
                    </a:lnTo>
                    <a:lnTo>
                      <a:pt x="128582" y="267437"/>
                    </a:lnTo>
                    <a:lnTo>
                      <a:pt x="84962" y="257158"/>
                    </a:lnTo>
                    <a:lnTo>
                      <a:pt x="48742" y="236035"/>
                    </a:lnTo>
                    <a:lnTo>
                      <a:pt x="21488" y="206073"/>
                    </a:lnTo>
                    <a:lnTo>
                      <a:pt x="4765" y="169276"/>
                    </a:lnTo>
                    <a:lnTo>
                      <a:pt x="0" y="133844"/>
                    </a:lnTo>
                    <a:close/>
                  </a:path>
                </a:pathLst>
              </a:custGeom>
              <a:ln w="12700">
                <a:solidFill>
                  <a:srgbClr val="003357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" name="object 28">
                <a:extLst>
                  <a:ext uri="{FF2B5EF4-FFF2-40B4-BE49-F238E27FC236}">
                    <a16:creationId xmlns:a16="http://schemas.microsoft.com/office/drawing/2014/main" id="{EDB723CD-DF16-48E0-B456-AD424E6FF4C8}"/>
                  </a:ext>
                </a:extLst>
              </p:cNvPr>
              <p:cNvSpPr/>
              <p:nvPr/>
            </p:nvSpPr>
            <p:spPr>
              <a:xfrm>
                <a:off x="3802333" y="3835066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120065" y="0"/>
                    </a:moveTo>
                    <a:lnTo>
                      <a:pt x="79075" y="11155"/>
                    </a:lnTo>
                    <a:lnTo>
                      <a:pt x="44445" y="33835"/>
                    </a:lnTo>
                    <a:lnTo>
                      <a:pt x="18385" y="65829"/>
                    </a:lnTo>
                    <a:lnTo>
                      <a:pt x="3105" y="104925"/>
                    </a:lnTo>
                    <a:lnTo>
                      <a:pt x="0" y="133844"/>
                    </a:lnTo>
                    <a:lnTo>
                      <a:pt x="239" y="141938"/>
                    </a:lnTo>
                    <a:lnTo>
                      <a:pt x="9057" y="182177"/>
                    </a:lnTo>
                    <a:lnTo>
                      <a:pt x="29440" y="216919"/>
                    </a:lnTo>
                    <a:lnTo>
                      <a:pt x="59841" y="244157"/>
                    </a:lnTo>
                    <a:lnTo>
                      <a:pt x="98709" y="261888"/>
                    </a:lnTo>
                    <a:lnTo>
                      <a:pt x="144495" y="268106"/>
                    </a:lnTo>
                    <a:lnTo>
                      <a:pt x="158225" y="266382"/>
                    </a:lnTo>
                    <a:lnTo>
                      <a:pt x="196345" y="253158"/>
                    </a:lnTo>
                    <a:lnTo>
                      <a:pt x="228330" y="228975"/>
                    </a:lnTo>
                    <a:lnTo>
                      <a:pt x="252218" y="195269"/>
                    </a:lnTo>
                    <a:lnTo>
                      <a:pt x="266047" y="153478"/>
                    </a:lnTo>
                    <a:lnTo>
                      <a:pt x="268709" y="121834"/>
                    </a:lnTo>
                    <a:lnTo>
                      <a:pt x="266795" y="108290"/>
                    </a:lnTo>
                    <a:lnTo>
                      <a:pt x="253148" y="70758"/>
                    </a:lnTo>
                    <a:lnTo>
                      <a:pt x="228648" y="39354"/>
                    </a:lnTo>
                    <a:lnTo>
                      <a:pt x="194584" y="15976"/>
                    </a:lnTo>
                    <a:lnTo>
                      <a:pt x="152247" y="2520"/>
                    </a:lnTo>
                    <a:lnTo>
                      <a:pt x="12006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" name="object 30">
                <a:extLst>
                  <a:ext uri="{FF2B5EF4-FFF2-40B4-BE49-F238E27FC236}">
                    <a16:creationId xmlns:a16="http://schemas.microsoft.com/office/drawing/2014/main" id="{64D9BB61-DCC4-4E2D-866B-76096DBD1CDC}"/>
                  </a:ext>
                </a:extLst>
              </p:cNvPr>
              <p:cNvSpPr/>
              <p:nvPr/>
            </p:nvSpPr>
            <p:spPr>
              <a:xfrm>
                <a:off x="3864795" y="3596574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120086" y="0"/>
                    </a:moveTo>
                    <a:lnTo>
                      <a:pt x="79130" y="11155"/>
                    </a:lnTo>
                    <a:lnTo>
                      <a:pt x="44496" y="33835"/>
                    </a:lnTo>
                    <a:lnTo>
                      <a:pt x="18413" y="65829"/>
                    </a:lnTo>
                    <a:lnTo>
                      <a:pt x="3111" y="104925"/>
                    </a:lnTo>
                    <a:lnTo>
                      <a:pt x="0" y="133844"/>
                    </a:lnTo>
                    <a:lnTo>
                      <a:pt x="240" y="141938"/>
                    </a:lnTo>
                    <a:lnTo>
                      <a:pt x="9072" y="182177"/>
                    </a:lnTo>
                    <a:lnTo>
                      <a:pt x="29480" y="216919"/>
                    </a:lnTo>
                    <a:lnTo>
                      <a:pt x="59896" y="244157"/>
                    </a:lnTo>
                    <a:lnTo>
                      <a:pt x="98757" y="261888"/>
                    </a:lnTo>
                    <a:lnTo>
                      <a:pt x="144496" y="268107"/>
                    </a:lnTo>
                    <a:lnTo>
                      <a:pt x="158245" y="266384"/>
                    </a:lnTo>
                    <a:lnTo>
                      <a:pt x="196392" y="253164"/>
                    </a:lnTo>
                    <a:lnTo>
                      <a:pt x="228373" y="228983"/>
                    </a:lnTo>
                    <a:lnTo>
                      <a:pt x="252242" y="195279"/>
                    </a:lnTo>
                    <a:lnTo>
                      <a:pt x="266054" y="153491"/>
                    </a:lnTo>
                    <a:lnTo>
                      <a:pt x="268712" y="121851"/>
                    </a:lnTo>
                    <a:lnTo>
                      <a:pt x="266803" y="108305"/>
                    </a:lnTo>
                    <a:lnTo>
                      <a:pt x="253180" y="70768"/>
                    </a:lnTo>
                    <a:lnTo>
                      <a:pt x="228704" y="39360"/>
                    </a:lnTo>
                    <a:lnTo>
                      <a:pt x="194652" y="15978"/>
                    </a:lnTo>
                    <a:lnTo>
                      <a:pt x="152301" y="2521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" name="object 32">
                <a:extLst>
                  <a:ext uri="{FF2B5EF4-FFF2-40B4-BE49-F238E27FC236}">
                    <a16:creationId xmlns:a16="http://schemas.microsoft.com/office/drawing/2014/main" id="{F5C1DB7C-547D-434C-A245-6AD5811A7EBD}"/>
                  </a:ext>
                </a:extLst>
              </p:cNvPr>
              <p:cNvSpPr/>
              <p:nvPr/>
            </p:nvSpPr>
            <p:spPr>
              <a:xfrm>
                <a:off x="4018536" y="3378508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120086" y="0"/>
                    </a:moveTo>
                    <a:lnTo>
                      <a:pt x="79130" y="11173"/>
                    </a:lnTo>
                    <a:lnTo>
                      <a:pt x="44496" y="33878"/>
                    </a:lnTo>
                    <a:lnTo>
                      <a:pt x="18413" y="65884"/>
                    </a:lnTo>
                    <a:lnTo>
                      <a:pt x="3111" y="104962"/>
                    </a:lnTo>
                    <a:lnTo>
                      <a:pt x="0" y="133843"/>
                    </a:lnTo>
                    <a:lnTo>
                      <a:pt x="238" y="141926"/>
                    </a:lnTo>
                    <a:lnTo>
                      <a:pt x="9078" y="182240"/>
                    </a:lnTo>
                    <a:lnTo>
                      <a:pt x="29469" y="216961"/>
                    </a:lnTo>
                    <a:lnTo>
                      <a:pt x="59882" y="244186"/>
                    </a:lnTo>
                    <a:lnTo>
                      <a:pt x="98738" y="261898"/>
                    </a:lnTo>
                    <a:lnTo>
                      <a:pt x="144467" y="268107"/>
                    </a:lnTo>
                    <a:lnTo>
                      <a:pt x="158201" y="266389"/>
                    </a:lnTo>
                    <a:lnTo>
                      <a:pt x="196328" y="253191"/>
                    </a:lnTo>
                    <a:lnTo>
                      <a:pt x="228320" y="229035"/>
                    </a:lnTo>
                    <a:lnTo>
                      <a:pt x="252214" y="195343"/>
                    </a:lnTo>
                    <a:lnTo>
                      <a:pt x="266047" y="153540"/>
                    </a:lnTo>
                    <a:lnTo>
                      <a:pt x="268711" y="121867"/>
                    </a:lnTo>
                    <a:lnTo>
                      <a:pt x="266798" y="108337"/>
                    </a:lnTo>
                    <a:lnTo>
                      <a:pt x="253154" y="70822"/>
                    </a:lnTo>
                    <a:lnTo>
                      <a:pt x="228656" y="39407"/>
                    </a:lnTo>
                    <a:lnTo>
                      <a:pt x="194596" y="16003"/>
                    </a:lnTo>
                    <a:lnTo>
                      <a:pt x="152264" y="2525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" name="object 33">
                <a:extLst>
                  <a:ext uri="{FF2B5EF4-FFF2-40B4-BE49-F238E27FC236}">
                    <a16:creationId xmlns:a16="http://schemas.microsoft.com/office/drawing/2014/main" id="{8B4DFB9C-6854-453D-98AC-BFF86F537695}"/>
                  </a:ext>
                </a:extLst>
              </p:cNvPr>
              <p:cNvSpPr/>
              <p:nvPr/>
            </p:nvSpPr>
            <p:spPr>
              <a:xfrm>
                <a:off x="4018536" y="3378508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0" y="133843"/>
                    </a:moveTo>
                    <a:lnTo>
                      <a:pt x="6876" y="91288"/>
                    </a:lnTo>
                    <a:lnTo>
                      <a:pt x="26019" y="54319"/>
                    </a:lnTo>
                    <a:lnTo>
                      <a:pt x="55200" y="25166"/>
                    </a:lnTo>
                    <a:lnTo>
                      <a:pt x="92190" y="6057"/>
                    </a:lnTo>
                    <a:lnTo>
                      <a:pt x="120086" y="0"/>
                    </a:lnTo>
                    <a:lnTo>
                      <a:pt x="136539" y="569"/>
                    </a:lnTo>
                    <a:lnTo>
                      <a:pt x="181340" y="10313"/>
                    </a:lnTo>
                    <a:lnTo>
                      <a:pt x="218302" y="30621"/>
                    </a:lnTo>
                    <a:lnTo>
                      <a:pt x="246131" y="59578"/>
                    </a:lnTo>
                    <a:lnTo>
                      <a:pt x="263536" y="95273"/>
                    </a:lnTo>
                    <a:lnTo>
                      <a:pt x="268711" y="121867"/>
                    </a:lnTo>
                    <a:lnTo>
                      <a:pt x="268083" y="138048"/>
                    </a:lnTo>
                    <a:lnTo>
                      <a:pt x="258040" y="182240"/>
                    </a:lnTo>
                    <a:lnTo>
                      <a:pt x="237281" y="218793"/>
                    </a:lnTo>
                    <a:lnTo>
                      <a:pt x="207771" y="246286"/>
                    </a:lnTo>
                    <a:lnTo>
                      <a:pt x="171470" y="263295"/>
                    </a:lnTo>
                    <a:lnTo>
                      <a:pt x="144467" y="268107"/>
                    </a:lnTo>
                    <a:lnTo>
                      <a:pt x="128557" y="267438"/>
                    </a:lnTo>
                    <a:lnTo>
                      <a:pt x="84945" y="257174"/>
                    </a:lnTo>
                    <a:lnTo>
                      <a:pt x="48729" y="236070"/>
                    </a:lnTo>
                    <a:lnTo>
                      <a:pt x="21478" y="206115"/>
                    </a:lnTo>
                    <a:lnTo>
                      <a:pt x="4759" y="169299"/>
                    </a:lnTo>
                    <a:lnTo>
                      <a:pt x="0" y="133843"/>
                    </a:lnTo>
                    <a:close/>
                  </a:path>
                </a:pathLst>
              </a:custGeom>
              <a:ln w="12700">
                <a:solidFill>
                  <a:srgbClr val="003357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" name="object 34">
                <a:extLst>
                  <a:ext uri="{FF2B5EF4-FFF2-40B4-BE49-F238E27FC236}">
                    <a16:creationId xmlns:a16="http://schemas.microsoft.com/office/drawing/2014/main" id="{06720C30-A1CB-4AF9-AC31-48DAA0B46EE8}"/>
                  </a:ext>
                </a:extLst>
              </p:cNvPr>
              <p:cNvSpPr/>
              <p:nvPr/>
            </p:nvSpPr>
            <p:spPr>
              <a:xfrm>
                <a:off x="4235839" y="3258075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120086" y="0"/>
                    </a:moveTo>
                    <a:lnTo>
                      <a:pt x="79130" y="11155"/>
                    </a:lnTo>
                    <a:lnTo>
                      <a:pt x="44496" y="33835"/>
                    </a:lnTo>
                    <a:lnTo>
                      <a:pt x="18413" y="65829"/>
                    </a:lnTo>
                    <a:lnTo>
                      <a:pt x="3111" y="104925"/>
                    </a:lnTo>
                    <a:lnTo>
                      <a:pt x="0" y="133844"/>
                    </a:lnTo>
                    <a:lnTo>
                      <a:pt x="240" y="141938"/>
                    </a:lnTo>
                    <a:lnTo>
                      <a:pt x="9072" y="182177"/>
                    </a:lnTo>
                    <a:lnTo>
                      <a:pt x="29480" y="216919"/>
                    </a:lnTo>
                    <a:lnTo>
                      <a:pt x="59896" y="244157"/>
                    </a:lnTo>
                    <a:lnTo>
                      <a:pt x="98757" y="261888"/>
                    </a:lnTo>
                    <a:lnTo>
                      <a:pt x="144496" y="268107"/>
                    </a:lnTo>
                    <a:lnTo>
                      <a:pt x="158245" y="266384"/>
                    </a:lnTo>
                    <a:lnTo>
                      <a:pt x="196392" y="253164"/>
                    </a:lnTo>
                    <a:lnTo>
                      <a:pt x="228373" y="228983"/>
                    </a:lnTo>
                    <a:lnTo>
                      <a:pt x="252242" y="195279"/>
                    </a:lnTo>
                    <a:lnTo>
                      <a:pt x="266054" y="153491"/>
                    </a:lnTo>
                    <a:lnTo>
                      <a:pt x="268712" y="121851"/>
                    </a:lnTo>
                    <a:lnTo>
                      <a:pt x="266803" y="108305"/>
                    </a:lnTo>
                    <a:lnTo>
                      <a:pt x="253180" y="70768"/>
                    </a:lnTo>
                    <a:lnTo>
                      <a:pt x="228704" y="39360"/>
                    </a:lnTo>
                    <a:lnTo>
                      <a:pt x="194652" y="15978"/>
                    </a:lnTo>
                    <a:lnTo>
                      <a:pt x="152301" y="2521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" name="object 35">
                <a:extLst>
                  <a:ext uri="{FF2B5EF4-FFF2-40B4-BE49-F238E27FC236}">
                    <a16:creationId xmlns:a16="http://schemas.microsoft.com/office/drawing/2014/main" id="{E3196AA3-673B-4B65-97F7-FB35823E6598}"/>
                  </a:ext>
                </a:extLst>
              </p:cNvPr>
              <p:cNvSpPr/>
              <p:nvPr/>
            </p:nvSpPr>
            <p:spPr>
              <a:xfrm>
                <a:off x="4235839" y="3258075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0" y="133844"/>
                    </a:moveTo>
                    <a:lnTo>
                      <a:pt x="6876" y="91241"/>
                    </a:lnTo>
                    <a:lnTo>
                      <a:pt x="26019" y="54266"/>
                    </a:lnTo>
                    <a:lnTo>
                      <a:pt x="55200" y="25131"/>
                    </a:lnTo>
                    <a:lnTo>
                      <a:pt x="92190" y="6047"/>
                    </a:lnTo>
                    <a:lnTo>
                      <a:pt x="120086" y="0"/>
                    </a:lnTo>
                    <a:lnTo>
                      <a:pt x="136560" y="568"/>
                    </a:lnTo>
                    <a:lnTo>
                      <a:pt x="181394" y="10296"/>
                    </a:lnTo>
                    <a:lnTo>
                      <a:pt x="218354" y="30581"/>
                    </a:lnTo>
                    <a:lnTo>
                      <a:pt x="246164" y="59524"/>
                    </a:lnTo>
                    <a:lnTo>
                      <a:pt x="263546" y="95229"/>
                    </a:lnTo>
                    <a:lnTo>
                      <a:pt x="268712" y="121851"/>
                    </a:lnTo>
                    <a:lnTo>
                      <a:pt x="268086" y="138013"/>
                    </a:lnTo>
                    <a:lnTo>
                      <a:pt x="258060" y="182177"/>
                    </a:lnTo>
                    <a:lnTo>
                      <a:pt x="237327" y="218735"/>
                    </a:lnTo>
                    <a:lnTo>
                      <a:pt x="207833" y="246250"/>
                    </a:lnTo>
                    <a:lnTo>
                      <a:pt x="171525" y="263284"/>
                    </a:lnTo>
                    <a:lnTo>
                      <a:pt x="144496" y="268107"/>
                    </a:lnTo>
                    <a:lnTo>
                      <a:pt x="128582" y="267437"/>
                    </a:lnTo>
                    <a:lnTo>
                      <a:pt x="84962" y="257158"/>
                    </a:lnTo>
                    <a:lnTo>
                      <a:pt x="48742" y="236035"/>
                    </a:lnTo>
                    <a:lnTo>
                      <a:pt x="21488" y="206073"/>
                    </a:lnTo>
                    <a:lnTo>
                      <a:pt x="4765" y="169276"/>
                    </a:lnTo>
                    <a:lnTo>
                      <a:pt x="0" y="133844"/>
                    </a:lnTo>
                    <a:close/>
                  </a:path>
                </a:pathLst>
              </a:custGeom>
              <a:ln w="12700">
                <a:solidFill>
                  <a:srgbClr val="003357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" name="object 36">
                <a:extLst>
                  <a:ext uri="{FF2B5EF4-FFF2-40B4-BE49-F238E27FC236}">
                    <a16:creationId xmlns:a16="http://schemas.microsoft.com/office/drawing/2014/main" id="{232EE2EF-FCC7-4592-A7B2-247C45D8754E}"/>
                  </a:ext>
                </a:extLst>
              </p:cNvPr>
              <p:cNvSpPr/>
              <p:nvPr/>
            </p:nvSpPr>
            <p:spPr>
              <a:xfrm>
                <a:off x="4484501" y="3197816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120086" y="0"/>
                    </a:moveTo>
                    <a:lnTo>
                      <a:pt x="79130" y="11155"/>
                    </a:lnTo>
                    <a:lnTo>
                      <a:pt x="44496" y="33835"/>
                    </a:lnTo>
                    <a:lnTo>
                      <a:pt x="18413" y="65829"/>
                    </a:lnTo>
                    <a:lnTo>
                      <a:pt x="3111" y="104925"/>
                    </a:lnTo>
                    <a:lnTo>
                      <a:pt x="0" y="133844"/>
                    </a:lnTo>
                    <a:lnTo>
                      <a:pt x="239" y="141926"/>
                    </a:lnTo>
                    <a:lnTo>
                      <a:pt x="9072" y="182177"/>
                    </a:lnTo>
                    <a:lnTo>
                      <a:pt x="29474" y="216914"/>
                    </a:lnTo>
                    <a:lnTo>
                      <a:pt x="59889" y="244155"/>
                    </a:lnTo>
                    <a:lnTo>
                      <a:pt x="98747" y="261888"/>
                    </a:lnTo>
                    <a:lnTo>
                      <a:pt x="144481" y="268107"/>
                    </a:lnTo>
                    <a:lnTo>
                      <a:pt x="158213" y="266384"/>
                    </a:lnTo>
                    <a:lnTo>
                      <a:pt x="196336" y="253164"/>
                    </a:lnTo>
                    <a:lnTo>
                      <a:pt x="228325" y="228982"/>
                    </a:lnTo>
                    <a:lnTo>
                      <a:pt x="252216" y="195279"/>
                    </a:lnTo>
                    <a:lnTo>
                      <a:pt x="266047" y="153491"/>
                    </a:lnTo>
                    <a:lnTo>
                      <a:pt x="268711" y="121851"/>
                    </a:lnTo>
                    <a:lnTo>
                      <a:pt x="266798" y="108305"/>
                    </a:lnTo>
                    <a:lnTo>
                      <a:pt x="253155" y="70768"/>
                    </a:lnTo>
                    <a:lnTo>
                      <a:pt x="228657" y="39360"/>
                    </a:lnTo>
                    <a:lnTo>
                      <a:pt x="194596" y="15978"/>
                    </a:lnTo>
                    <a:lnTo>
                      <a:pt x="152265" y="2521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" name="object 37">
                <a:extLst>
                  <a:ext uri="{FF2B5EF4-FFF2-40B4-BE49-F238E27FC236}">
                    <a16:creationId xmlns:a16="http://schemas.microsoft.com/office/drawing/2014/main" id="{655ED017-9F0B-4AA7-9B2F-607B041FAF4C}"/>
                  </a:ext>
                </a:extLst>
              </p:cNvPr>
              <p:cNvSpPr/>
              <p:nvPr/>
            </p:nvSpPr>
            <p:spPr>
              <a:xfrm>
                <a:off x="4484501" y="3197816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0" y="133844"/>
                    </a:moveTo>
                    <a:lnTo>
                      <a:pt x="6876" y="91241"/>
                    </a:lnTo>
                    <a:lnTo>
                      <a:pt x="26019" y="54266"/>
                    </a:lnTo>
                    <a:lnTo>
                      <a:pt x="55200" y="25131"/>
                    </a:lnTo>
                    <a:lnTo>
                      <a:pt x="92190" y="6047"/>
                    </a:lnTo>
                    <a:lnTo>
                      <a:pt x="120086" y="0"/>
                    </a:lnTo>
                    <a:lnTo>
                      <a:pt x="136539" y="568"/>
                    </a:lnTo>
                    <a:lnTo>
                      <a:pt x="181341" y="10296"/>
                    </a:lnTo>
                    <a:lnTo>
                      <a:pt x="218302" y="30581"/>
                    </a:lnTo>
                    <a:lnTo>
                      <a:pt x="246131" y="59524"/>
                    </a:lnTo>
                    <a:lnTo>
                      <a:pt x="263536" y="95229"/>
                    </a:lnTo>
                    <a:lnTo>
                      <a:pt x="268711" y="121851"/>
                    </a:lnTo>
                    <a:lnTo>
                      <a:pt x="268083" y="138013"/>
                    </a:lnTo>
                    <a:lnTo>
                      <a:pt x="258041" y="182177"/>
                    </a:lnTo>
                    <a:lnTo>
                      <a:pt x="237285" y="218735"/>
                    </a:lnTo>
                    <a:lnTo>
                      <a:pt x="207778" y="246250"/>
                    </a:lnTo>
                    <a:lnTo>
                      <a:pt x="171481" y="263284"/>
                    </a:lnTo>
                    <a:lnTo>
                      <a:pt x="144481" y="268107"/>
                    </a:lnTo>
                    <a:lnTo>
                      <a:pt x="128569" y="267437"/>
                    </a:lnTo>
                    <a:lnTo>
                      <a:pt x="84953" y="257157"/>
                    </a:lnTo>
                    <a:lnTo>
                      <a:pt x="48735" y="236032"/>
                    </a:lnTo>
                    <a:lnTo>
                      <a:pt x="21483" y="206067"/>
                    </a:lnTo>
                    <a:lnTo>
                      <a:pt x="4762" y="169267"/>
                    </a:lnTo>
                    <a:lnTo>
                      <a:pt x="0" y="133844"/>
                    </a:lnTo>
                    <a:close/>
                  </a:path>
                </a:pathLst>
              </a:custGeom>
              <a:ln w="12700">
                <a:solidFill>
                  <a:srgbClr val="003357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" name="object 28">
                <a:extLst>
                  <a:ext uri="{FF2B5EF4-FFF2-40B4-BE49-F238E27FC236}">
                    <a16:creationId xmlns:a16="http://schemas.microsoft.com/office/drawing/2014/main" id="{87DFC304-3AE1-4B38-BD81-5ED5A6F2CAD7}"/>
                  </a:ext>
                </a:extLst>
              </p:cNvPr>
              <p:cNvSpPr/>
              <p:nvPr/>
            </p:nvSpPr>
            <p:spPr>
              <a:xfrm flipH="1">
                <a:off x="5196729" y="3841482"/>
                <a:ext cx="194541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120065" y="0"/>
                    </a:moveTo>
                    <a:lnTo>
                      <a:pt x="79075" y="11155"/>
                    </a:lnTo>
                    <a:lnTo>
                      <a:pt x="44445" y="33835"/>
                    </a:lnTo>
                    <a:lnTo>
                      <a:pt x="18385" y="65829"/>
                    </a:lnTo>
                    <a:lnTo>
                      <a:pt x="3105" y="104925"/>
                    </a:lnTo>
                    <a:lnTo>
                      <a:pt x="0" y="133844"/>
                    </a:lnTo>
                    <a:lnTo>
                      <a:pt x="239" y="141938"/>
                    </a:lnTo>
                    <a:lnTo>
                      <a:pt x="9057" y="182177"/>
                    </a:lnTo>
                    <a:lnTo>
                      <a:pt x="29440" y="216919"/>
                    </a:lnTo>
                    <a:lnTo>
                      <a:pt x="59841" y="244157"/>
                    </a:lnTo>
                    <a:lnTo>
                      <a:pt x="98709" y="261888"/>
                    </a:lnTo>
                    <a:lnTo>
                      <a:pt x="144495" y="268106"/>
                    </a:lnTo>
                    <a:lnTo>
                      <a:pt x="158225" y="266382"/>
                    </a:lnTo>
                    <a:lnTo>
                      <a:pt x="196345" y="253158"/>
                    </a:lnTo>
                    <a:lnTo>
                      <a:pt x="228330" y="228975"/>
                    </a:lnTo>
                    <a:lnTo>
                      <a:pt x="252218" y="195269"/>
                    </a:lnTo>
                    <a:lnTo>
                      <a:pt x="266047" y="153478"/>
                    </a:lnTo>
                    <a:lnTo>
                      <a:pt x="268709" y="121834"/>
                    </a:lnTo>
                    <a:lnTo>
                      <a:pt x="266795" y="108290"/>
                    </a:lnTo>
                    <a:lnTo>
                      <a:pt x="253148" y="70758"/>
                    </a:lnTo>
                    <a:lnTo>
                      <a:pt x="228648" y="39354"/>
                    </a:lnTo>
                    <a:lnTo>
                      <a:pt x="194584" y="15976"/>
                    </a:lnTo>
                    <a:lnTo>
                      <a:pt x="152247" y="2520"/>
                    </a:lnTo>
                    <a:lnTo>
                      <a:pt x="120065" y="0"/>
                    </a:lnTo>
                    <a:close/>
                  </a:path>
                </a:pathLst>
              </a:custGeom>
              <a:solidFill>
                <a:srgbClr val="2E75B6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2" name="object 30">
                <a:extLst>
                  <a:ext uri="{FF2B5EF4-FFF2-40B4-BE49-F238E27FC236}">
                    <a16:creationId xmlns:a16="http://schemas.microsoft.com/office/drawing/2014/main" id="{4DBD9964-6128-46F5-B9CB-D1AA515483F6}"/>
                  </a:ext>
                </a:extLst>
              </p:cNvPr>
              <p:cNvSpPr/>
              <p:nvPr/>
            </p:nvSpPr>
            <p:spPr>
              <a:xfrm flipH="1">
                <a:off x="5129099" y="3602990"/>
                <a:ext cx="194541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4">
                    <a:moveTo>
                      <a:pt x="120086" y="0"/>
                    </a:moveTo>
                    <a:lnTo>
                      <a:pt x="79130" y="11155"/>
                    </a:lnTo>
                    <a:lnTo>
                      <a:pt x="44496" y="33835"/>
                    </a:lnTo>
                    <a:lnTo>
                      <a:pt x="18413" y="65829"/>
                    </a:lnTo>
                    <a:lnTo>
                      <a:pt x="3111" y="104925"/>
                    </a:lnTo>
                    <a:lnTo>
                      <a:pt x="0" y="133844"/>
                    </a:lnTo>
                    <a:lnTo>
                      <a:pt x="240" y="141938"/>
                    </a:lnTo>
                    <a:lnTo>
                      <a:pt x="9072" y="182177"/>
                    </a:lnTo>
                    <a:lnTo>
                      <a:pt x="29480" y="216919"/>
                    </a:lnTo>
                    <a:lnTo>
                      <a:pt x="59896" y="244157"/>
                    </a:lnTo>
                    <a:lnTo>
                      <a:pt x="98757" y="261888"/>
                    </a:lnTo>
                    <a:lnTo>
                      <a:pt x="144496" y="268107"/>
                    </a:lnTo>
                    <a:lnTo>
                      <a:pt x="158245" y="266384"/>
                    </a:lnTo>
                    <a:lnTo>
                      <a:pt x="196392" y="253164"/>
                    </a:lnTo>
                    <a:lnTo>
                      <a:pt x="228373" y="228983"/>
                    </a:lnTo>
                    <a:lnTo>
                      <a:pt x="252242" y="195279"/>
                    </a:lnTo>
                    <a:lnTo>
                      <a:pt x="266054" y="153491"/>
                    </a:lnTo>
                    <a:lnTo>
                      <a:pt x="268712" y="121851"/>
                    </a:lnTo>
                    <a:lnTo>
                      <a:pt x="266803" y="108305"/>
                    </a:lnTo>
                    <a:lnTo>
                      <a:pt x="253180" y="70768"/>
                    </a:lnTo>
                    <a:lnTo>
                      <a:pt x="228704" y="39360"/>
                    </a:lnTo>
                    <a:lnTo>
                      <a:pt x="194652" y="15978"/>
                    </a:lnTo>
                    <a:lnTo>
                      <a:pt x="152301" y="2521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2E75B6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" name="object 32">
                <a:extLst>
                  <a:ext uri="{FF2B5EF4-FFF2-40B4-BE49-F238E27FC236}">
                    <a16:creationId xmlns:a16="http://schemas.microsoft.com/office/drawing/2014/main" id="{E1B3713D-8FC1-4A4E-8B17-8A547FF674AD}"/>
                  </a:ext>
                </a:extLst>
              </p:cNvPr>
              <p:cNvSpPr/>
              <p:nvPr/>
            </p:nvSpPr>
            <p:spPr>
              <a:xfrm>
                <a:off x="4943213" y="3398797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120086" y="0"/>
                    </a:moveTo>
                    <a:lnTo>
                      <a:pt x="79130" y="11173"/>
                    </a:lnTo>
                    <a:lnTo>
                      <a:pt x="44496" y="33878"/>
                    </a:lnTo>
                    <a:lnTo>
                      <a:pt x="18413" y="65884"/>
                    </a:lnTo>
                    <a:lnTo>
                      <a:pt x="3111" y="104962"/>
                    </a:lnTo>
                    <a:lnTo>
                      <a:pt x="0" y="133843"/>
                    </a:lnTo>
                    <a:lnTo>
                      <a:pt x="238" y="141926"/>
                    </a:lnTo>
                    <a:lnTo>
                      <a:pt x="9078" y="182240"/>
                    </a:lnTo>
                    <a:lnTo>
                      <a:pt x="29469" y="216961"/>
                    </a:lnTo>
                    <a:lnTo>
                      <a:pt x="59882" y="244186"/>
                    </a:lnTo>
                    <a:lnTo>
                      <a:pt x="98738" y="261898"/>
                    </a:lnTo>
                    <a:lnTo>
                      <a:pt x="144467" y="268107"/>
                    </a:lnTo>
                    <a:lnTo>
                      <a:pt x="158201" y="266389"/>
                    </a:lnTo>
                    <a:lnTo>
                      <a:pt x="196328" y="253191"/>
                    </a:lnTo>
                    <a:lnTo>
                      <a:pt x="228320" y="229035"/>
                    </a:lnTo>
                    <a:lnTo>
                      <a:pt x="252214" y="195343"/>
                    </a:lnTo>
                    <a:lnTo>
                      <a:pt x="266047" y="153540"/>
                    </a:lnTo>
                    <a:lnTo>
                      <a:pt x="268711" y="121867"/>
                    </a:lnTo>
                    <a:lnTo>
                      <a:pt x="266798" y="108337"/>
                    </a:lnTo>
                    <a:lnTo>
                      <a:pt x="253154" y="70822"/>
                    </a:lnTo>
                    <a:lnTo>
                      <a:pt x="228656" y="39407"/>
                    </a:lnTo>
                    <a:lnTo>
                      <a:pt x="194596" y="16003"/>
                    </a:lnTo>
                    <a:lnTo>
                      <a:pt x="152264" y="2525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" name="object 34">
                <a:extLst>
                  <a:ext uri="{FF2B5EF4-FFF2-40B4-BE49-F238E27FC236}">
                    <a16:creationId xmlns:a16="http://schemas.microsoft.com/office/drawing/2014/main" id="{F7062E8A-495D-4007-AC08-16C89075466C}"/>
                  </a:ext>
                </a:extLst>
              </p:cNvPr>
              <p:cNvSpPr/>
              <p:nvPr/>
            </p:nvSpPr>
            <p:spPr>
              <a:xfrm>
                <a:off x="4729181" y="3270834"/>
                <a:ext cx="179674" cy="179250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268605">
                    <a:moveTo>
                      <a:pt x="120086" y="0"/>
                    </a:moveTo>
                    <a:lnTo>
                      <a:pt x="79130" y="11155"/>
                    </a:lnTo>
                    <a:lnTo>
                      <a:pt x="44496" y="33835"/>
                    </a:lnTo>
                    <a:lnTo>
                      <a:pt x="18413" y="65829"/>
                    </a:lnTo>
                    <a:lnTo>
                      <a:pt x="3111" y="104925"/>
                    </a:lnTo>
                    <a:lnTo>
                      <a:pt x="0" y="133844"/>
                    </a:lnTo>
                    <a:lnTo>
                      <a:pt x="240" y="141938"/>
                    </a:lnTo>
                    <a:lnTo>
                      <a:pt x="9072" y="182177"/>
                    </a:lnTo>
                    <a:lnTo>
                      <a:pt x="29480" y="216919"/>
                    </a:lnTo>
                    <a:lnTo>
                      <a:pt x="59896" y="244157"/>
                    </a:lnTo>
                    <a:lnTo>
                      <a:pt x="98757" y="261888"/>
                    </a:lnTo>
                    <a:lnTo>
                      <a:pt x="144496" y="268107"/>
                    </a:lnTo>
                    <a:lnTo>
                      <a:pt x="158245" y="266384"/>
                    </a:lnTo>
                    <a:lnTo>
                      <a:pt x="196392" y="253164"/>
                    </a:lnTo>
                    <a:lnTo>
                      <a:pt x="228373" y="228983"/>
                    </a:lnTo>
                    <a:lnTo>
                      <a:pt x="252242" y="195279"/>
                    </a:lnTo>
                    <a:lnTo>
                      <a:pt x="266054" y="153491"/>
                    </a:lnTo>
                    <a:lnTo>
                      <a:pt x="268712" y="121851"/>
                    </a:lnTo>
                    <a:lnTo>
                      <a:pt x="266803" y="108305"/>
                    </a:lnTo>
                    <a:lnTo>
                      <a:pt x="253180" y="70768"/>
                    </a:lnTo>
                    <a:lnTo>
                      <a:pt x="228704" y="39360"/>
                    </a:lnTo>
                    <a:lnTo>
                      <a:pt x="194652" y="15978"/>
                    </a:lnTo>
                    <a:lnTo>
                      <a:pt x="152301" y="2521"/>
                    </a:lnTo>
                    <a:lnTo>
                      <a:pt x="1200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FD5F7C-753E-4FDB-8086-F95C555DE39E}"/>
              </a:ext>
            </a:extLst>
          </p:cNvPr>
          <p:cNvCxnSpPr>
            <a:cxnSpLocks/>
            <a:stCxn id="37" idx="3"/>
            <a:endCxn id="7" idx="1"/>
          </p:cNvCxnSpPr>
          <p:nvPr/>
        </p:nvCxnSpPr>
        <p:spPr>
          <a:xfrm>
            <a:off x="4368799" y="1507869"/>
            <a:ext cx="456388" cy="2263392"/>
          </a:xfrm>
          <a:prstGeom prst="line">
            <a:avLst/>
          </a:prstGeom>
          <a:ln w="28575">
            <a:solidFill>
              <a:srgbClr val="051C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7A1D20-F714-4654-856A-5928A6484CAA}"/>
              </a:ext>
            </a:extLst>
          </p:cNvPr>
          <p:cNvCxnSpPr>
            <a:cxnSpLocks/>
            <a:stCxn id="34" idx="1"/>
            <a:endCxn id="8" idx="3"/>
          </p:cNvCxnSpPr>
          <p:nvPr/>
        </p:nvCxnSpPr>
        <p:spPr>
          <a:xfrm flipH="1">
            <a:off x="7366813" y="1507869"/>
            <a:ext cx="449180" cy="2263603"/>
          </a:xfrm>
          <a:prstGeom prst="line">
            <a:avLst/>
          </a:prstGeom>
          <a:ln w="28575">
            <a:solidFill>
              <a:srgbClr val="051C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9EB94E-9317-4A44-AACB-AF4E1E15610B}"/>
              </a:ext>
            </a:extLst>
          </p:cNvPr>
          <p:cNvGrpSpPr/>
          <p:nvPr/>
        </p:nvGrpSpPr>
        <p:grpSpPr>
          <a:xfrm>
            <a:off x="7815993" y="1162134"/>
            <a:ext cx="3826932" cy="838250"/>
            <a:chOff x="6226175" y="1162134"/>
            <a:chExt cx="5702300" cy="83825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843E70-6728-4C7A-91C7-63F0A7B7DC99}"/>
                </a:ext>
              </a:extLst>
            </p:cNvPr>
            <p:cNvSpPr/>
            <p:nvPr/>
          </p:nvSpPr>
          <p:spPr>
            <a:xfrm>
              <a:off x="6226175" y="1162134"/>
              <a:ext cx="5702300" cy="691470"/>
            </a:xfrm>
            <a:prstGeom prst="rect">
              <a:avLst/>
            </a:pr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bg1"/>
                  </a:solidFill>
                  <a:latin typeface="+mj-lt"/>
                </a:rPr>
                <a:t>Where we want to be..</a:t>
              </a:r>
              <a:endParaRPr lang="en-HK" sz="20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72AE212-A60D-4A14-A071-6F7C32741284}"/>
                </a:ext>
              </a:extLst>
            </p:cNvPr>
            <p:cNvSpPr/>
            <p:nvPr/>
          </p:nvSpPr>
          <p:spPr>
            <a:xfrm>
              <a:off x="6226175" y="1636553"/>
              <a:ext cx="5702300" cy="363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TW" sz="1600" i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77042BF-0CEF-47AA-A991-6998CEFBB79C}"/>
              </a:ext>
            </a:extLst>
          </p:cNvPr>
          <p:cNvGrpSpPr/>
          <p:nvPr/>
        </p:nvGrpSpPr>
        <p:grpSpPr>
          <a:xfrm>
            <a:off x="547254" y="1162133"/>
            <a:ext cx="3821545" cy="838251"/>
            <a:chOff x="6226175" y="1162133"/>
            <a:chExt cx="5702300" cy="83825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250AF52-0EE7-4E1F-A9C0-7648747E6841}"/>
                </a:ext>
              </a:extLst>
            </p:cNvPr>
            <p:cNvSpPr/>
            <p:nvPr/>
          </p:nvSpPr>
          <p:spPr>
            <a:xfrm>
              <a:off x="6226175" y="1162133"/>
              <a:ext cx="5702300" cy="6914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tx1"/>
                  </a:solidFill>
                  <a:latin typeface="+mj-lt"/>
                </a:rPr>
                <a:t>Where we are today..</a:t>
              </a:r>
              <a:endParaRPr lang="en-HK" sz="2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AADFF1-906E-4C88-91CE-690F9C248B6C}"/>
                </a:ext>
              </a:extLst>
            </p:cNvPr>
            <p:cNvSpPr/>
            <p:nvPr/>
          </p:nvSpPr>
          <p:spPr>
            <a:xfrm>
              <a:off x="6226175" y="1636553"/>
              <a:ext cx="5702300" cy="363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TW" sz="1600" i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22DAC86-425D-4B8D-ACFD-A7914211E3EB}"/>
              </a:ext>
            </a:extLst>
          </p:cNvPr>
          <p:cNvSpPr/>
          <p:nvPr/>
        </p:nvSpPr>
        <p:spPr>
          <a:xfrm>
            <a:off x="559409" y="1982287"/>
            <a:ext cx="3797234" cy="40820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 err="1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16F3A3-CB36-4FD4-83FD-E2F885BEE172}"/>
              </a:ext>
            </a:extLst>
          </p:cNvPr>
          <p:cNvGrpSpPr/>
          <p:nvPr/>
        </p:nvGrpSpPr>
        <p:grpSpPr>
          <a:xfrm>
            <a:off x="663753" y="2065283"/>
            <a:ext cx="3588546" cy="1249477"/>
            <a:chOff x="663753" y="2065283"/>
            <a:chExt cx="3588546" cy="1249477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B8B5DEE-A38D-49BF-B4C4-73493196A79F}"/>
                </a:ext>
              </a:extLst>
            </p:cNvPr>
            <p:cNvSpPr/>
            <p:nvPr/>
          </p:nvSpPr>
          <p:spPr>
            <a:xfrm>
              <a:off x="663753" y="2065283"/>
              <a:ext cx="3588546" cy="1249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590DD7-287A-4C2D-B186-33CC82DC0DCE}"/>
                </a:ext>
              </a:extLst>
            </p:cNvPr>
            <p:cNvSpPr/>
            <p:nvPr/>
          </p:nvSpPr>
          <p:spPr>
            <a:xfrm>
              <a:off x="735164" y="2452421"/>
              <a:ext cx="475200" cy="4752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tx1"/>
                  </a:solidFill>
                  <a:latin typeface="+mj-lt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9F13F2B-74C9-4460-8DC9-E399624C4A07}"/>
                </a:ext>
              </a:extLst>
            </p:cNvPr>
            <p:cNvSpPr/>
            <p:nvPr/>
          </p:nvSpPr>
          <p:spPr>
            <a:xfrm>
              <a:off x="1371870" y="2065283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0BEDFCE-F3F0-4882-9EB1-91129407B5DD}"/>
              </a:ext>
            </a:extLst>
          </p:cNvPr>
          <p:cNvGrpSpPr/>
          <p:nvPr/>
        </p:nvGrpSpPr>
        <p:grpSpPr>
          <a:xfrm>
            <a:off x="663753" y="3385728"/>
            <a:ext cx="3588546" cy="1249477"/>
            <a:chOff x="663753" y="3385728"/>
            <a:chExt cx="3588546" cy="1249477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C5852D-E8FB-4F0A-8736-54F3FC767B16}"/>
                </a:ext>
              </a:extLst>
            </p:cNvPr>
            <p:cNvSpPr/>
            <p:nvPr/>
          </p:nvSpPr>
          <p:spPr>
            <a:xfrm>
              <a:off x="663753" y="3385728"/>
              <a:ext cx="3588546" cy="1249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0E779DC-C54A-44D6-B27C-C2EA04828EEB}"/>
                </a:ext>
              </a:extLst>
            </p:cNvPr>
            <p:cNvSpPr/>
            <p:nvPr/>
          </p:nvSpPr>
          <p:spPr>
            <a:xfrm>
              <a:off x="739081" y="3772866"/>
              <a:ext cx="475200" cy="4752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tx1"/>
                  </a:solidFill>
                  <a:latin typeface="+mj-lt"/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3D4693-E237-465D-BB59-179432D9C2AC}"/>
                </a:ext>
              </a:extLst>
            </p:cNvPr>
            <p:cNvSpPr/>
            <p:nvPr/>
          </p:nvSpPr>
          <p:spPr>
            <a:xfrm>
              <a:off x="1371870" y="3385728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FA59926-B5DA-447F-9C3E-FAA0145509F4}"/>
              </a:ext>
            </a:extLst>
          </p:cNvPr>
          <p:cNvGrpSpPr/>
          <p:nvPr/>
        </p:nvGrpSpPr>
        <p:grpSpPr>
          <a:xfrm>
            <a:off x="663753" y="4706173"/>
            <a:ext cx="3588546" cy="1255024"/>
            <a:chOff x="663753" y="4706173"/>
            <a:chExt cx="3588546" cy="125502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4F6BF5A-0987-427B-95CB-DE72E2E1C2A1}"/>
                </a:ext>
              </a:extLst>
            </p:cNvPr>
            <p:cNvSpPr/>
            <p:nvPr/>
          </p:nvSpPr>
          <p:spPr>
            <a:xfrm>
              <a:off x="663753" y="4711720"/>
              <a:ext cx="3588546" cy="1249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316EF22-A22D-4D74-8518-306A147633F7}"/>
                </a:ext>
              </a:extLst>
            </p:cNvPr>
            <p:cNvSpPr/>
            <p:nvPr/>
          </p:nvSpPr>
          <p:spPr>
            <a:xfrm>
              <a:off x="735164" y="5098858"/>
              <a:ext cx="475200" cy="4752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tx1"/>
                  </a:solidFill>
                  <a:latin typeface="+mj-lt"/>
                </a:rPr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6C1491B-DA21-4974-B4CE-53A3DF7E46DB}"/>
                </a:ext>
              </a:extLst>
            </p:cNvPr>
            <p:cNvSpPr/>
            <p:nvPr/>
          </p:nvSpPr>
          <p:spPr>
            <a:xfrm>
              <a:off x="1371870" y="4706173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18D1B400-1E70-49B1-96EA-D2D2F58494FC}"/>
              </a:ext>
            </a:extLst>
          </p:cNvPr>
          <p:cNvSpPr/>
          <p:nvPr/>
        </p:nvSpPr>
        <p:spPr>
          <a:xfrm>
            <a:off x="7823641" y="1982287"/>
            <a:ext cx="3797234" cy="40820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 err="1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3E98A1C-D45C-473E-90FC-0F4E51E79300}"/>
              </a:ext>
            </a:extLst>
          </p:cNvPr>
          <p:cNvGrpSpPr/>
          <p:nvPr/>
        </p:nvGrpSpPr>
        <p:grpSpPr>
          <a:xfrm>
            <a:off x="7927985" y="2065283"/>
            <a:ext cx="3588546" cy="1249477"/>
            <a:chOff x="663753" y="2065283"/>
            <a:chExt cx="3588546" cy="124947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2AD651D-8081-4E0D-83EE-F747F9091B54}"/>
                </a:ext>
              </a:extLst>
            </p:cNvPr>
            <p:cNvSpPr/>
            <p:nvPr/>
          </p:nvSpPr>
          <p:spPr>
            <a:xfrm>
              <a:off x="663753" y="2065283"/>
              <a:ext cx="3588546" cy="1249477"/>
            </a:xfrm>
            <a:prstGeom prst="rect">
              <a:avLst/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28BA34B-368E-4321-A3A5-F96BA9530B33}"/>
                </a:ext>
              </a:extLst>
            </p:cNvPr>
            <p:cNvSpPr/>
            <p:nvPr/>
          </p:nvSpPr>
          <p:spPr>
            <a:xfrm>
              <a:off x="735164" y="2452421"/>
              <a:ext cx="475200" cy="475200"/>
            </a:xfrm>
            <a:prstGeom prst="ellipse">
              <a:avLst/>
            </a:prstGeom>
            <a:solidFill>
              <a:srgbClr val="073779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15DE699-BBCB-477B-812A-AE023421CB57}"/>
                </a:ext>
              </a:extLst>
            </p:cNvPr>
            <p:cNvSpPr/>
            <p:nvPr/>
          </p:nvSpPr>
          <p:spPr>
            <a:xfrm>
              <a:off x="1371870" y="2065283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7EA1C10-5167-4EE1-BEEC-419F058BB9A6}"/>
              </a:ext>
            </a:extLst>
          </p:cNvPr>
          <p:cNvGrpSpPr/>
          <p:nvPr/>
        </p:nvGrpSpPr>
        <p:grpSpPr>
          <a:xfrm>
            <a:off x="7927985" y="3385728"/>
            <a:ext cx="3588546" cy="1249477"/>
            <a:chOff x="663753" y="3385728"/>
            <a:chExt cx="3588546" cy="12494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7BD3D7-0445-4493-9CF8-A6C8751CF639}"/>
                </a:ext>
              </a:extLst>
            </p:cNvPr>
            <p:cNvSpPr/>
            <p:nvPr/>
          </p:nvSpPr>
          <p:spPr>
            <a:xfrm>
              <a:off x="663753" y="3385728"/>
              <a:ext cx="3588546" cy="1249477"/>
            </a:xfrm>
            <a:prstGeom prst="rect">
              <a:avLst/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9C3053E-9B00-4DE7-BC38-55D90E176011}"/>
                </a:ext>
              </a:extLst>
            </p:cNvPr>
            <p:cNvSpPr/>
            <p:nvPr/>
          </p:nvSpPr>
          <p:spPr>
            <a:xfrm>
              <a:off x="739081" y="3772866"/>
              <a:ext cx="475200" cy="475200"/>
            </a:xfrm>
            <a:prstGeom prst="ellipse">
              <a:avLst/>
            </a:prstGeom>
            <a:solidFill>
              <a:srgbClr val="073779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89B01A6-FE1F-4C0B-A775-B7F98D2073FA}"/>
                </a:ext>
              </a:extLst>
            </p:cNvPr>
            <p:cNvSpPr/>
            <p:nvPr/>
          </p:nvSpPr>
          <p:spPr>
            <a:xfrm>
              <a:off x="1371870" y="3385728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EE00F58-1999-4D03-A85F-D2063BE79536}"/>
              </a:ext>
            </a:extLst>
          </p:cNvPr>
          <p:cNvGrpSpPr/>
          <p:nvPr/>
        </p:nvGrpSpPr>
        <p:grpSpPr>
          <a:xfrm>
            <a:off x="7927985" y="4706173"/>
            <a:ext cx="3588546" cy="1255024"/>
            <a:chOff x="663753" y="4706173"/>
            <a:chExt cx="3588546" cy="1255024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FAB8657-87E6-49B6-8BB1-E487C61D96A0}"/>
                </a:ext>
              </a:extLst>
            </p:cNvPr>
            <p:cNvSpPr/>
            <p:nvPr/>
          </p:nvSpPr>
          <p:spPr>
            <a:xfrm>
              <a:off x="663753" y="4711720"/>
              <a:ext cx="3588546" cy="1249477"/>
            </a:xfrm>
            <a:prstGeom prst="rect">
              <a:avLst/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E8B0218-7932-4937-9656-190B8E28C13C}"/>
                </a:ext>
              </a:extLst>
            </p:cNvPr>
            <p:cNvSpPr/>
            <p:nvPr/>
          </p:nvSpPr>
          <p:spPr>
            <a:xfrm>
              <a:off x="735164" y="5098858"/>
              <a:ext cx="475200" cy="475200"/>
            </a:xfrm>
            <a:prstGeom prst="ellipse">
              <a:avLst/>
            </a:prstGeom>
            <a:solidFill>
              <a:srgbClr val="073779"/>
            </a:solidFill>
            <a:ln w="28575">
              <a:solidFill>
                <a:srgbClr val="051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CF11049-73AF-455A-BF2D-FA59EB610FDF}"/>
                </a:ext>
              </a:extLst>
            </p:cNvPr>
            <p:cNvSpPr/>
            <p:nvPr/>
          </p:nvSpPr>
          <p:spPr>
            <a:xfrm>
              <a:off x="1371870" y="4706173"/>
              <a:ext cx="2871749" cy="12494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HK">
                  <a:solidFill>
                    <a:schemeClr val="tx1"/>
                  </a:solidFill>
                </a:rPr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321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65D6EF-98B9-4452-B7FD-6250FEE9CA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D53293-CC87-44BE-AC62-7E29BFCB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(Company) has established foothold across the supply 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57173-1D1C-4746-82A9-940051134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76D93-8D1A-493E-940A-309BB5F6FB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Overview – Value Chain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783AB8-1BE5-4437-A62A-8E76C69AF5F6}"/>
              </a:ext>
            </a:extLst>
          </p:cNvPr>
          <p:cNvGrpSpPr/>
          <p:nvPr/>
        </p:nvGrpSpPr>
        <p:grpSpPr>
          <a:xfrm>
            <a:off x="548640" y="1809743"/>
            <a:ext cx="11092498" cy="1520370"/>
            <a:chOff x="250255" y="1607015"/>
            <a:chExt cx="11695734" cy="1603051"/>
          </a:xfrm>
        </p:grpSpPr>
        <p:sp>
          <p:nvSpPr>
            <p:cNvPr id="7" name="Rounded Rectangle 25">
              <a:extLst>
                <a:ext uri="{FF2B5EF4-FFF2-40B4-BE49-F238E27FC236}">
                  <a16:creationId xmlns:a16="http://schemas.microsoft.com/office/drawing/2014/main" id="{C34F080A-ACF7-49E3-A513-57CEB3C204D5}"/>
                </a:ext>
              </a:extLst>
            </p:cNvPr>
            <p:cNvSpPr/>
            <p:nvPr/>
          </p:nvSpPr>
          <p:spPr>
            <a:xfrm>
              <a:off x="9427443" y="2491296"/>
              <a:ext cx="2518546" cy="718770"/>
            </a:xfrm>
            <a:prstGeom prst="roundRect">
              <a:avLst/>
            </a:prstGeom>
            <a:solidFill>
              <a:srgbClr val="44546A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Post-sales </a:t>
              </a:r>
            </a:p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(Services)</a:t>
              </a: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20C2CB9-978E-4EF8-920B-BC27A4D9FDCE}"/>
                </a:ext>
              </a:extLst>
            </p:cNvPr>
            <p:cNvSpPr/>
            <p:nvPr/>
          </p:nvSpPr>
          <p:spPr>
            <a:xfrm>
              <a:off x="250255" y="2491296"/>
              <a:ext cx="2544304" cy="718770"/>
            </a:xfrm>
            <a:prstGeom prst="parallelogram">
              <a:avLst/>
            </a:prstGeom>
            <a:solidFill>
              <a:srgbClr val="44546A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Sourcing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8D2D875-3A1D-438B-B6DB-DC34966842C7}"/>
                </a:ext>
              </a:extLst>
            </p:cNvPr>
            <p:cNvSpPr/>
            <p:nvPr/>
          </p:nvSpPr>
          <p:spPr>
            <a:xfrm>
              <a:off x="2576476" y="2491296"/>
              <a:ext cx="2544304" cy="718770"/>
            </a:xfrm>
            <a:prstGeom prst="parallelogram">
              <a:avLst/>
            </a:prstGeom>
            <a:solidFill>
              <a:srgbClr val="44546A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Product development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9F1E4F2-6F16-4E8A-8465-6D9DE739579A}"/>
                </a:ext>
              </a:extLst>
            </p:cNvPr>
            <p:cNvSpPr/>
            <p:nvPr/>
          </p:nvSpPr>
          <p:spPr>
            <a:xfrm>
              <a:off x="4854234" y="2491296"/>
              <a:ext cx="2544304" cy="718770"/>
            </a:xfrm>
            <a:prstGeom prst="parallelogram">
              <a:avLst/>
            </a:prstGeom>
            <a:solidFill>
              <a:srgbClr val="44546A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Assembly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2824226-8846-49C8-B054-2C82825BFDCA}"/>
                </a:ext>
              </a:extLst>
            </p:cNvPr>
            <p:cNvSpPr/>
            <p:nvPr/>
          </p:nvSpPr>
          <p:spPr>
            <a:xfrm>
              <a:off x="7180454" y="2491296"/>
              <a:ext cx="2544304" cy="718770"/>
            </a:xfrm>
            <a:prstGeom prst="parallelogram">
              <a:avLst/>
            </a:prstGeom>
            <a:solidFill>
              <a:srgbClr val="44546A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bg1"/>
                  </a:solidFill>
                  <a:latin typeface="+mj-lt"/>
                </a:rPr>
                <a:t>Sales</a:t>
              </a:r>
            </a:p>
          </p:txBody>
        </p:sp>
        <p:pic>
          <p:nvPicPr>
            <p:cNvPr id="12" name="Picture 2" descr="Image result for sourcing icon">
              <a:extLst>
                <a:ext uri="{FF2B5EF4-FFF2-40B4-BE49-F238E27FC236}">
                  <a16:creationId xmlns:a16="http://schemas.microsoft.com/office/drawing/2014/main" id="{25606EF5-44B0-4A6A-8332-53EE09711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0923" y="1826194"/>
              <a:ext cx="578151" cy="57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Image result for production icon">
              <a:extLst>
                <a:ext uri="{FF2B5EF4-FFF2-40B4-BE49-F238E27FC236}">
                  <a16:creationId xmlns:a16="http://schemas.microsoft.com/office/drawing/2014/main" id="{C944D678-8DEB-43C2-820D-36177FD7FC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4505" y="1703388"/>
              <a:ext cx="823762" cy="823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Image result for production icon">
              <a:extLst>
                <a:ext uri="{FF2B5EF4-FFF2-40B4-BE49-F238E27FC236}">
                  <a16:creationId xmlns:a16="http://schemas.microsoft.com/office/drawing/2014/main" id="{1C79A2CA-EBF8-4C4E-8A7B-608D9DF79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8284" y="1607015"/>
              <a:ext cx="952500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Image result for repair icon">
              <a:extLst>
                <a:ext uri="{FF2B5EF4-FFF2-40B4-BE49-F238E27FC236}">
                  <a16:creationId xmlns:a16="http://schemas.microsoft.com/office/drawing/2014/main" id="{532ECECE-6F4F-429D-8B52-3CA93388CB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66944" y="1783037"/>
              <a:ext cx="708259" cy="708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Image result for sales icon">
              <a:extLst>
                <a:ext uri="{FF2B5EF4-FFF2-40B4-BE49-F238E27FC236}">
                  <a16:creationId xmlns:a16="http://schemas.microsoft.com/office/drawing/2014/main" id="{E63124F9-58E8-4B13-9D02-1629F0414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2751" y="1703388"/>
              <a:ext cx="833967" cy="833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6B3EC0-1FA5-42AB-8AC2-ECB85692D1ED}"/>
              </a:ext>
            </a:extLst>
          </p:cNvPr>
          <p:cNvGrpSpPr/>
          <p:nvPr/>
        </p:nvGrpSpPr>
        <p:grpSpPr>
          <a:xfrm>
            <a:off x="548640" y="3389931"/>
            <a:ext cx="11023248" cy="1766270"/>
            <a:chOff x="250255" y="3403765"/>
            <a:chExt cx="11622718" cy="208263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9FAF497-49BC-43BF-9FD4-F6D298039622}"/>
                </a:ext>
              </a:extLst>
            </p:cNvPr>
            <p:cNvSpPr/>
            <p:nvPr/>
          </p:nvSpPr>
          <p:spPr>
            <a:xfrm>
              <a:off x="250255" y="3403767"/>
              <a:ext cx="2326221" cy="207964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(agreement with </a:t>
              </a:r>
              <a:r>
                <a:rPr lang="en-GB" sz="1600" err="1">
                  <a:solidFill>
                    <a:schemeClr val="tx1"/>
                  </a:solidFill>
                  <a:latin typeface="+mj-lt"/>
                </a:rPr>
                <a:t>Billerud</a:t>
              </a:r>
              <a:r>
                <a:rPr lang="en-GB" sz="1600">
                  <a:solidFill>
                    <a:schemeClr val="tx1"/>
                  </a:solidFill>
                  <a:latin typeface="+mj-lt"/>
                </a:rPr>
                <a:t>)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9C4FDB-EA97-49F2-84F5-83B429BA07D7}"/>
                </a:ext>
              </a:extLst>
            </p:cNvPr>
            <p:cNvSpPr/>
            <p:nvPr/>
          </p:nvSpPr>
          <p:spPr>
            <a:xfrm>
              <a:off x="7180454" y="3403766"/>
              <a:ext cx="2326221" cy="207964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Involving end users for market testing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188D9E-95F7-4938-954F-06B429951169}"/>
                </a:ext>
              </a:extLst>
            </p:cNvPr>
            <p:cNvSpPr/>
            <p:nvPr/>
          </p:nvSpPr>
          <p:spPr>
            <a:xfrm>
              <a:off x="9546752" y="3403765"/>
              <a:ext cx="2326221" cy="207964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Modification &amp; customization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F2D6F7B-CFF7-4454-9B3A-54D1B2EDFFEF}"/>
                </a:ext>
              </a:extLst>
            </p:cNvPr>
            <p:cNvSpPr/>
            <p:nvPr/>
          </p:nvSpPr>
          <p:spPr>
            <a:xfrm>
              <a:off x="2618725" y="3403765"/>
              <a:ext cx="2235510" cy="207964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Constant validation with clients through prototyping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600">
                <a:solidFill>
                  <a:schemeClr val="tx1"/>
                </a:solidFill>
                <a:latin typeface="+mj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(lean production)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10BDE0-E067-4F75-9CE7-1A1E15CE0838}"/>
                </a:ext>
              </a:extLst>
            </p:cNvPr>
            <p:cNvSpPr/>
            <p:nvPr/>
          </p:nvSpPr>
          <p:spPr>
            <a:xfrm>
              <a:off x="4904867" y="3406751"/>
              <a:ext cx="2235510" cy="207964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>
                  <a:solidFill>
                    <a:schemeClr val="tx1"/>
                  </a:solidFill>
                  <a:latin typeface="+mj-lt"/>
                </a:rPr>
                <a:t>n/a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CA18A40-8A91-4AE3-BB35-0E74D8F6BB37}"/>
              </a:ext>
            </a:extLst>
          </p:cNvPr>
          <p:cNvSpPr/>
          <p:nvPr/>
        </p:nvSpPr>
        <p:spPr>
          <a:xfrm>
            <a:off x="300038" y="5690650"/>
            <a:ext cx="11591925" cy="475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Key takeaway – please align to the bottom guide (18 </a:t>
            </a:r>
            <a:r>
              <a:rPr lang="en-US" b="1" err="1"/>
              <a:t>pt</a:t>
            </a:r>
            <a:r>
              <a:rPr lang="en-US" b="1"/>
              <a:t>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D1FFA6-D201-461B-959C-EEF65B941483}"/>
              </a:ext>
            </a:extLst>
          </p:cNvPr>
          <p:cNvGrpSpPr/>
          <p:nvPr/>
        </p:nvGrpSpPr>
        <p:grpSpPr>
          <a:xfrm>
            <a:off x="419380" y="1190273"/>
            <a:ext cx="11472583" cy="376041"/>
            <a:chOff x="533400" y="1316950"/>
            <a:chExt cx="4997520" cy="37604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4C83222-AE9B-42C9-9420-2CC53444FDC6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1116A0-6EFD-41A1-92A7-A98B99E3D542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Industry supply chain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44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82634-44B1-4CA7-83E4-24BA251B5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20656-093F-411F-B1F2-2F2314FA211B}"/>
              </a:ext>
            </a:extLst>
          </p:cNvPr>
          <p:cNvSpPr/>
          <p:nvPr/>
        </p:nvSpPr>
        <p:spPr>
          <a:xfrm>
            <a:off x="300039" y="767556"/>
            <a:ext cx="11591924" cy="5398294"/>
          </a:xfrm>
          <a:prstGeom prst="rect">
            <a:avLst/>
          </a:prstGeom>
          <a:solidFill>
            <a:schemeClr val="tx1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Recommendation</a:t>
            </a:r>
          </a:p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____________</a:t>
            </a:r>
          </a:p>
        </p:txBody>
      </p:sp>
    </p:spTree>
    <p:extLst>
      <p:ext uri="{BB962C8B-B14F-4D97-AF65-F5344CB8AC3E}">
        <p14:creationId xmlns:p14="http://schemas.microsoft.com/office/powerpoint/2010/main" val="50927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04314-B979-47C2-962B-5EC74F0020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HK"/>
              <a:t>Strategy validation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5E481-8A80-425A-832C-569C847F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Tri-factors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596BB-7513-47FC-9D3E-154F138AF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0DC6BE9-287C-44DC-A3F3-1A24DF577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7FC9E3-BEFA-45C3-A55B-427E27A8E869}"/>
              </a:ext>
            </a:extLst>
          </p:cNvPr>
          <p:cNvGrpSpPr/>
          <p:nvPr/>
        </p:nvGrpSpPr>
        <p:grpSpPr>
          <a:xfrm>
            <a:off x="419378" y="1182327"/>
            <a:ext cx="11466297" cy="501674"/>
            <a:chOff x="465131" y="1069269"/>
            <a:chExt cx="8320917" cy="7332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C71EA1-F7FA-4755-8D5F-F7CABCE2EAE7}"/>
                </a:ext>
              </a:extLst>
            </p:cNvPr>
            <p:cNvSpPr/>
            <p:nvPr/>
          </p:nvSpPr>
          <p:spPr>
            <a:xfrm>
              <a:off x="465131" y="1069269"/>
              <a:ext cx="1405067" cy="733286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latin typeface="+mj-lt"/>
                  <a:ea typeface="Arial" charset="0"/>
                  <a:cs typeface="Calibri Light" panose="020F0302020204030204" pitchFamily="34" charset="0"/>
                </a:rPr>
                <a:t>Objective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325915-3CB3-4F6A-A016-9E7A7E65EFD0}"/>
                </a:ext>
              </a:extLst>
            </p:cNvPr>
            <p:cNvSpPr/>
            <p:nvPr/>
          </p:nvSpPr>
          <p:spPr>
            <a:xfrm>
              <a:off x="1870199" y="1069269"/>
              <a:ext cx="6915849" cy="733286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To provide 10x values to all stakeholders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6781AB1-C7E5-4810-9494-7FBC161C6D4B}"/>
              </a:ext>
            </a:extLst>
          </p:cNvPr>
          <p:cNvSpPr/>
          <p:nvPr/>
        </p:nvSpPr>
        <p:spPr>
          <a:xfrm>
            <a:off x="1989693" y="2486382"/>
            <a:ext cx="1308644" cy="12779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0" name="Triangle 5">
            <a:extLst>
              <a:ext uri="{FF2B5EF4-FFF2-40B4-BE49-F238E27FC236}">
                <a16:creationId xmlns:a16="http://schemas.microsoft.com/office/drawing/2014/main" id="{665FAD39-DA72-4978-AC98-FF67B0E5A2FB}"/>
              </a:ext>
            </a:extLst>
          </p:cNvPr>
          <p:cNvSpPr/>
          <p:nvPr/>
        </p:nvSpPr>
        <p:spPr>
          <a:xfrm>
            <a:off x="1083299" y="3125371"/>
            <a:ext cx="3146410" cy="2289777"/>
          </a:xfrm>
          <a:prstGeom prst="triangle">
            <a:avLst/>
          </a:prstGeom>
          <a:noFill/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A14815-937A-44A2-99D2-986E65028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42" y="2733283"/>
            <a:ext cx="792346" cy="79234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880DD9A-6018-462B-9250-335AC01EDB73}"/>
              </a:ext>
            </a:extLst>
          </p:cNvPr>
          <p:cNvGrpSpPr/>
          <p:nvPr/>
        </p:nvGrpSpPr>
        <p:grpSpPr>
          <a:xfrm>
            <a:off x="690051" y="5018973"/>
            <a:ext cx="792346" cy="1026039"/>
            <a:chOff x="5353348" y="3314713"/>
            <a:chExt cx="540000" cy="69926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BD8D61B-854C-4C72-9480-B851EE534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3348" y="3314713"/>
              <a:ext cx="540000" cy="54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1922F0-51E2-42B5-BDB3-F5C3A6FF27B9}"/>
                </a:ext>
              </a:extLst>
            </p:cNvPr>
            <p:cNvSpPr txBox="1"/>
            <p:nvPr/>
          </p:nvSpPr>
          <p:spPr>
            <a:xfrm>
              <a:off x="5362649" y="3867150"/>
              <a:ext cx="500006" cy="14683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400" b="1"/>
                <a:t>Instructor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BC1358-C9CD-4F03-8B76-E7C55F49BAB4}"/>
              </a:ext>
            </a:extLst>
          </p:cNvPr>
          <p:cNvGrpSpPr/>
          <p:nvPr/>
        </p:nvGrpSpPr>
        <p:grpSpPr>
          <a:xfrm>
            <a:off x="3729958" y="4994210"/>
            <a:ext cx="792346" cy="1026039"/>
            <a:chOff x="7269524" y="3314713"/>
            <a:chExt cx="540000" cy="69926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CB3AD57-F153-4754-BF51-6057D8F08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69524" y="3314713"/>
              <a:ext cx="540000" cy="540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B13351-5EAA-4CB8-BD7D-2A7EFBD83242}"/>
                </a:ext>
              </a:extLst>
            </p:cNvPr>
            <p:cNvSpPr txBox="1"/>
            <p:nvPr/>
          </p:nvSpPr>
          <p:spPr>
            <a:xfrm>
              <a:off x="7339622" y="3867150"/>
              <a:ext cx="399804" cy="1468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400" b="1"/>
                <a:t>Student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B0242D-69FD-4AE8-B441-FC3D6C40E368}"/>
              </a:ext>
            </a:extLst>
          </p:cNvPr>
          <p:cNvGrpSpPr/>
          <p:nvPr/>
        </p:nvGrpSpPr>
        <p:grpSpPr>
          <a:xfrm>
            <a:off x="419381" y="1915827"/>
            <a:ext cx="4406620" cy="376041"/>
            <a:chOff x="533400" y="1316950"/>
            <a:chExt cx="4997520" cy="37604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575E89-8B5B-40C2-9032-6D0131C9AA26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CC6EA1-B974-4450-B0EB-E68B68EF2911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Stakeholder relationship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CAFF2C-2D9F-448C-8930-BB18058F3CC5}"/>
              </a:ext>
            </a:extLst>
          </p:cNvPr>
          <p:cNvGrpSpPr/>
          <p:nvPr/>
        </p:nvGrpSpPr>
        <p:grpSpPr>
          <a:xfrm>
            <a:off x="5129589" y="1915826"/>
            <a:ext cx="6756085" cy="376041"/>
            <a:chOff x="533400" y="1316950"/>
            <a:chExt cx="4997520" cy="3760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BD782DA-4578-406D-91CD-36FF501D5849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B9A076-7916-4C8D-BCB2-3913662C6CE8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Values to each stakeholder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1812E8C-B941-4A76-AE32-C6E9AC06C741}"/>
              </a:ext>
            </a:extLst>
          </p:cNvPr>
          <p:cNvSpPr/>
          <p:nvPr/>
        </p:nvSpPr>
        <p:spPr>
          <a:xfrm>
            <a:off x="5129589" y="2484247"/>
            <a:ext cx="2124000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Stakeholder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D996E3-F12E-4E1A-9417-3532D645C4EB}"/>
              </a:ext>
            </a:extLst>
          </p:cNvPr>
          <p:cNvSpPr/>
          <p:nvPr/>
        </p:nvSpPr>
        <p:spPr>
          <a:xfrm>
            <a:off x="9767963" y="2484247"/>
            <a:ext cx="2124000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Stakeholder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4324E8-0904-445F-8685-28EB092083D4}"/>
              </a:ext>
            </a:extLst>
          </p:cNvPr>
          <p:cNvSpPr/>
          <p:nvPr/>
        </p:nvSpPr>
        <p:spPr>
          <a:xfrm>
            <a:off x="7448776" y="2484247"/>
            <a:ext cx="2124000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Stakeholder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EE6214-7816-48B3-97F9-479BE74FDADA}"/>
              </a:ext>
            </a:extLst>
          </p:cNvPr>
          <p:cNvSpPr/>
          <p:nvPr/>
        </p:nvSpPr>
        <p:spPr>
          <a:xfrm>
            <a:off x="5129590" y="3108530"/>
            <a:ext cx="2124000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D5C5F5-F905-42EB-B727-2DB01E959808}"/>
              </a:ext>
            </a:extLst>
          </p:cNvPr>
          <p:cNvSpPr/>
          <p:nvPr/>
        </p:nvSpPr>
        <p:spPr>
          <a:xfrm>
            <a:off x="5129590" y="4174923"/>
            <a:ext cx="2124000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C6D4BF-ECA1-4CC0-953F-7A22F22BC2C3}"/>
              </a:ext>
            </a:extLst>
          </p:cNvPr>
          <p:cNvSpPr/>
          <p:nvPr/>
        </p:nvSpPr>
        <p:spPr>
          <a:xfrm>
            <a:off x="5129590" y="5241316"/>
            <a:ext cx="2124000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782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brown-themed bar">
            <a:extLst>
              <a:ext uri="{FF2B5EF4-FFF2-40B4-BE49-F238E27FC236}">
                <a16:creationId xmlns:a16="http://schemas.microsoft.com/office/drawing/2014/main" id="{CC5BD11E-8E05-974E-A944-922BC6FCC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" t="29573" r="-67" b="39105"/>
          <a:stretch/>
        </p:blipFill>
        <p:spPr bwMode="auto">
          <a:xfrm>
            <a:off x="419380" y="1636784"/>
            <a:ext cx="11487526" cy="269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Introducing…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Recommendation – Spark 2.0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1147935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Recommendation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DB19C-0B9F-034C-ACDE-392B8845B2F3}"/>
              </a:ext>
            </a:extLst>
          </p:cNvPr>
          <p:cNvSpPr/>
          <p:nvPr/>
        </p:nvSpPr>
        <p:spPr>
          <a:xfrm>
            <a:off x="419379" y="1650116"/>
            <a:ext cx="11472583" cy="2685223"/>
          </a:xfrm>
          <a:prstGeom prst="rect">
            <a:avLst/>
          </a:prstGeom>
          <a:solidFill>
            <a:schemeClr val="tx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HK" sz="2400" b="1">
              <a:solidFill>
                <a:schemeClr val="bg1"/>
              </a:solidFill>
              <a:latin typeface="Product Sans" panose="020B040303050204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DDD270-5DAF-9A4C-8A1B-FB7306B4BCEE}"/>
              </a:ext>
            </a:extLst>
          </p:cNvPr>
          <p:cNvSpPr/>
          <p:nvPr/>
        </p:nvSpPr>
        <p:spPr>
          <a:xfrm>
            <a:off x="904082" y="2010693"/>
            <a:ext cx="9485185" cy="1128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HK" sz="7200">
                <a:solidFill>
                  <a:schemeClr val="bg1"/>
                </a:solidFill>
                <a:latin typeface="Permanent Marker" panose="02000000000000000000" pitchFamily="2" charset="0"/>
              </a:rPr>
              <a:t>Spark 2.0 </a:t>
            </a:r>
            <a:r>
              <a:rPr lang="en-HK" sz="2800">
                <a:solidFill>
                  <a:schemeClr val="bg1"/>
                </a:solidFill>
                <a:latin typeface="Permanent Marker" panose="02000000000000000000" pitchFamily="2" charset="0"/>
              </a:rPr>
              <a:t>(permanent marker 72 </a:t>
            </a:r>
            <a:r>
              <a:rPr lang="en-HK" sz="2800" err="1">
                <a:solidFill>
                  <a:schemeClr val="bg1"/>
                </a:solidFill>
                <a:latin typeface="Permanent Marker" panose="02000000000000000000" pitchFamily="2" charset="0"/>
              </a:rPr>
              <a:t>pt</a:t>
            </a:r>
            <a:r>
              <a:rPr lang="en-HK" sz="2800">
                <a:solidFill>
                  <a:schemeClr val="bg1"/>
                </a:solidFill>
                <a:latin typeface="Permanent Marker" panose="02000000000000000000" pitchFamily="2" charset="0"/>
              </a:rPr>
              <a:t>)</a:t>
            </a:r>
            <a:r>
              <a:rPr lang="en-HK" sz="7200">
                <a:solidFill>
                  <a:schemeClr val="bg1"/>
                </a:solidFill>
                <a:latin typeface="Permanent Marker" panose="02000000000000000000" pitchFamily="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E69027-C92B-8E42-B185-F21EC78F20DE}"/>
              </a:ext>
            </a:extLst>
          </p:cNvPr>
          <p:cNvSpPr/>
          <p:nvPr/>
        </p:nvSpPr>
        <p:spPr>
          <a:xfrm>
            <a:off x="904082" y="3053970"/>
            <a:ext cx="9648284" cy="6416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HK" sz="2000" b="1" i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One-liner description – value proposition (Calibri Light Italic 20 </a:t>
            </a:r>
            <a:r>
              <a:rPr lang="en-HK" sz="2000" b="1" i="1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pt</a:t>
            </a:r>
            <a:r>
              <a:rPr lang="en-HK" sz="2000" b="1" i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64B20-3098-394E-9CFA-69324F5117DB}"/>
              </a:ext>
            </a:extLst>
          </p:cNvPr>
          <p:cNvCxnSpPr>
            <a:cxnSpLocks/>
          </p:cNvCxnSpPr>
          <p:nvPr/>
        </p:nvCxnSpPr>
        <p:spPr>
          <a:xfrm>
            <a:off x="412605" y="4806269"/>
            <a:ext cx="568339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BBF36B-880B-BC4F-B8A8-BD20F48BCBC3}"/>
              </a:ext>
            </a:extLst>
          </p:cNvPr>
          <p:cNvSpPr txBox="1"/>
          <p:nvPr/>
        </p:nvSpPr>
        <p:spPr>
          <a:xfrm>
            <a:off x="419381" y="4436937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Key Features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ABEBF8-2E6F-CB4D-AB7D-D7ABB939B951}"/>
              </a:ext>
            </a:extLst>
          </p:cNvPr>
          <p:cNvCxnSpPr>
            <a:cxnSpLocks/>
          </p:cNvCxnSpPr>
          <p:nvPr/>
        </p:nvCxnSpPr>
        <p:spPr>
          <a:xfrm>
            <a:off x="6096000" y="4806693"/>
            <a:ext cx="568339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160281-75FB-DE4C-B0CD-A128A7C77364}"/>
              </a:ext>
            </a:extLst>
          </p:cNvPr>
          <p:cNvSpPr txBox="1"/>
          <p:nvPr/>
        </p:nvSpPr>
        <p:spPr>
          <a:xfrm>
            <a:off x="6102776" y="443736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Key Benefits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823B78D-6766-FB46-BD0D-C698F6930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766" y="5047487"/>
            <a:ext cx="428400" cy="428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D7D769-A922-3A4F-854D-64571632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302" y="5043844"/>
            <a:ext cx="432000" cy="43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68D150B-CB8A-724A-9BB8-47DAB4900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424" y="5043844"/>
            <a:ext cx="432000" cy="43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EF9CB9-AE62-6B44-88E8-E1DCA13E1D2F}"/>
              </a:ext>
            </a:extLst>
          </p:cNvPr>
          <p:cNvSpPr txBox="1"/>
          <p:nvPr/>
        </p:nvSpPr>
        <p:spPr>
          <a:xfrm>
            <a:off x="552090" y="5573366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E26D65-739D-1D42-8A69-320DC0D0C87B}"/>
              </a:ext>
            </a:extLst>
          </p:cNvPr>
          <p:cNvSpPr txBox="1"/>
          <p:nvPr/>
        </p:nvSpPr>
        <p:spPr>
          <a:xfrm>
            <a:off x="2414469" y="5578845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9B80D7-AA9E-1745-B176-FB1174E813B7}"/>
              </a:ext>
            </a:extLst>
          </p:cNvPr>
          <p:cNvSpPr txBox="1"/>
          <p:nvPr/>
        </p:nvSpPr>
        <p:spPr>
          <a:xfrm>
            <a:off x="4213591" y="5578845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677708-D106-C843-A7B1-2C9471AF4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45" y="5048494"/>
            <a:ext cx="428400" cy="428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83C80C-346A-6C4F-AFBD-8B3B5E084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381" y="5044851"/>
            <a:ext cx="432000" cy="43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334E1F0-DF9A-BC4C-B3D6-B666C79A0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503" y="5044851"/>
            <a:ext cx="432000" cy="43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73035CD-65CA-8149-9F1E-E87DE28E5FCC}"/>
              </a:ext>
            </a:extLst>
          </p:cNvPr>
          <p:cNvSpPr txBox="1"/>
          <p:nvPr/>
        </p:nvSpPr>
        <p:spPr>
          <a:xfrm>
            <a:off x="6184169" y="5574373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3338B1-1FDF-7D40-AFDC-E8EF910D936D}"/>
              </a:ext>
            </a:extLst>
          </p:cNvPr>
          <p:cNvSpPr txBox="1"/>
          <p:nvPr/>
        </p:nvSpPr>
        <p:spPr>
          <a:xfrm>
            <a:off x="8046548" y="5579852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A2360-80FD-AD4A-A04F-AAD8AB4AA77D}"/>
              </a:ext>
            </a:extLst>
          </p:cNvPr>
          <p:cNvSpPr txBox="1"/>
          <p:nvPr/>
        </p:nvSpPr>
        <p:spPr>
          <a:xfrm>
            <a:off x="9845670" y="5579852"/>
            <a:ext cx="1679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Shareable content</a:t>
            </a:r>
          </a:p>
        </p:txBody>
      </p:sp>
    </p:spTree>
    <p:extLst>
      <p:ext uri="{BB962C8B-B14F-4D97-AF65-F5344CB8AC3E}">
        <p14:creationId xmlns:p14="http://schemas.microsoft.com/office/powerpoint/2010/main" val="389791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profile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Target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40" y="2171734"/>
            <a:ext cx="2273300" cy="26924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379451" y="1618141"/>
            <a:ext cx="3463077" cy="3463077"/>
          </a:xfrm>
          <a:prstGeom prst="ellipse">
            <a:avLst/>
          </a:prstGeom>
          <a:noFill/>
          <a:ln w="28575">
            <a:solidFill>
              <a:srgbClr val="0737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/>
            <a:endParaRPr lang="en-US" sz="2800" b="1" i="1"/>
          </a:p>
        </p:txBody>
      </p:sp>
      <p:sp>
        <p:nvSpPr>
          <p:cNvPr id="8" name="Oval 7"/>
          <p:cNvSpPr/>
          <p:nvPr/>
        </p:nvSpPr>
        <p:spPr>
          <a:xfrm>
            <a:off x="4639583" y="1629870"/>
            <a:ext cx="604157" cy="604157"/>
          </a:xfrm>
          <a:prstGeom prst="ellipse">
            <a:avLst/>
          </a:prstGeom>
          <a:solidFill>
            <a:srgbClr val="073779"/>
          </a:solidFill>
          <a:ln>
            <a:solidFill>
              <a:srgbClr val="07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/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10" name="Oval 9"/>
          <p:cNvSpPr/>
          <p:nvPr/>
        </p:nvSpPr>
        <p:spPr>
          <a:xfrm>
            <a:off x="4669484" y="4477061"/>
            <a:ext cx="604157" cy="604157"/>
          </a:xfrm>
          <a:prstGeom prst="ellipse">
            <a:avLst/>
          </a:prstGeom>
          <a:solidFill>
            <a:srgbClr val="073779"/>
          </a:solidFill>
          <a:ln>
            <a:solidFill>
              <a:srgbClr val="07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/>
            <a:r>
              <a:rPr lang="en-US" altLang="zh-CN" sz="2000"/>
              <a:t>3</a:t>
            </a:r>
            <a:endParaRPr lang="en-US" sz="2000"/>
          </a:p>
        </p:txBody>
      </p:sp>
      <p:sp>
        <p:nvSpPr>
          <p:cNvPr id="12" name="Oval 11"/>
          <p:cNvSpPr/>
          <p:nvPr/>
        </p:nvSpPr>
        <p:spPr>
          <a:xfrm>
            <a:off x="4035426" y="3032371"/>
            <a:ext cx="604157" cy="604157"/>
          </a:xfrm>
          <a:prstGeom prst="ellipse">
            <a:avLst/>
          </a:prstGeom>
          <a:solidFill>
            <a:srgbClr val="073779"/>
          </a:solidFill>
          <a:ln>
            <a:solidFill>
              <a:srgbClr val="07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/>
            <a:r>
              <a:rPr lang="en-US" altLang="zh-CN" sz="2000"/>
              <a:t>2</a:t>
            </a:r>
            <a:endParaRPr lang="en-US" sz="2000"/>
          </a:p>
        </p:txBody>
      </p:sp>
      <p:sp>
        <p:nvSpPr>
          <p:cNvPr id="13" name="Rectangle 12"/>
          <p:cNvSpPr/>
          <p:nvPr/>
        </p:nvSpPr>
        <p:spPr>
          <a:xfrm>
            <a:off x="285761" y="2980507"/>
            <a:ext cx="36588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000">
                <a:solidFill>
                  <a:srgbClr val="073779"/>
                </a:solidFill>
              </a:rPr>
              <a:t>I would prioritize other things first when planning my marriage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915" y="1483954"/>
            <a:ext cx="37881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rgbClr val="073779"/>
                </a:solidFill>
              </a:rPr>
              <a:t>“Weird combination for insurance to be in the wedding package”</a:t>
            </a:r>
            <a:endParaRPr lang="zh-CN" altLang="en-US" sz="2000" dirty="0">
              <a:solidFill>
                <a:srgbClr val="073779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BED1C5-31A5-DB42-A7A3-D930A5DFD739}"/>
              </a:ext>
            </a:extLst>
          </p:cNvPr>
          <p:cNvSpPr/>
          <p:nvPr/>
        </p:nvSpPr>
        <p:spPr>
          <a:xfrm>
            <a:off x="8221300" y="1372957"/>
            <a:ext cx="3414335" cy="765111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Key Considerations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8221299" y="2318634"/>
            <a:ext cx="3414335" cy="1055161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73779"/>
                </a:solidFill>
              </a:rPr>
              <a:t>Market research may not be accurately representing behavior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9835" y="4477061"/>
            <a:ext cx="40957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000">
                <a:solidFill>
                  <a:srgbClr val="073779"/>
                </a:solidFill>
              </a:rPr>
              <a:t>“I am already worried arranging my wedding, is this necessary”</a:t>
            </a:r>
            <a:endParaRPr lang="zh-CN" altLang="en-US" sz="2000">
              <a:solidFill>
                <a:srgbClr val="073779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8221298" y="3558632"/>
            <a:ext cx="3414335" cy="1055161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73779"/>
                </a:solidFill>
              </a:rPr>
              <a:t>Suggests wedding-relevant insurance as a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7325" y="4794872"/>
            <a:ext cx="335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Wedding Ring Insurance </a:t>
            </a:r>
          </a:p>
          <a:p>
            <a:pPr marL="285750" indent="-285750">
              <a:buFont typeface="Arial" charset="0"/>
              <a:buChar char="•"/>
            </a:pPr>
            <a:r>
              <a:rPr lang="en-US"/>
              <a:t>Runaway Groom Insurance </a:t>
            </a:r>
          </a:p>
          <a:p>
            <a:pPr marL="285750" indent="-285750">
              <a:buFont typeface="Arial" charset="0"/>
              <a:buChar char="•"/>
            </a:pPr>
            <a:r>
              <a:rPr lang="en-US"/>
              <a:t>Wedding Dress Stain Insurance</a:t>
            </a:r>
          </a:p>
        </p:txBody>
      </p:sp>
    </p:spTree>
    <p:extLst>
      <p:ext uri="{BB962C8B-B14F-4D97-AF65-F5344CB8AC3E}">
        <p14:creationId xmlns:p14="http://schemas.microsoft.com/office/powerpoint/2010/main" val="108434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row: Right 3">
            <a:extLst>
              <a:ext uri="{FF2B5EF4-FFF2-40B4-BE49-F238E27FC236}">
                <a16:creationId xmlns:a16="http://schemas.microsoft.com/office/drawing/2014/main" id="{A1D967E7-B84E-1D4A-8EE6-E7716AC7C533}"/>
              </a:ext>
            </a:extLst>
          </p:cNvPr>
          <p:cNvSpPr/>
          <p:nvPr/>
        </p:nvSpPr>
        <p:spPr>
          <a:xfrm>
            <a:off x="2349209" y="2106426"/>
            <a:ext cx="9542754" cy="42553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journey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Walkthrough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018A6-2B0C-7E44-B847-AFC17DD0EDDE}"/>
              </a:ext>
            </a:extLst>
          </p:cNvPr>
          <p:cNvCxnSpPr>
            <a:cxnSpLocks/>
          </p:cNvCxnSpPr>
          <p:nvPr/>
        </p:nvCxnSpPr>
        <p:spPr>
          <a:xfrm>
            <a:off x="412605" y="1557623"/>
            <a:ext cx="1147935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2A9F5-443C-2544-84AC-400F695E3C0B}"/>
              </a:ext>
            </a:extLst>
          </p:cNvPr>
          <p:cNvSpPr txBox="1"/>
          <p:nvPr/>
        </p:nvSpPr>
        <p:spPr>
          <a:xfrm>
            <a:off x="419381" y="1188291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Customer Journey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38AF63-EC29-8E4F-A1DD-FA119A5204F4}"/>
              </a:ext>
            </a:extLst>
          </p:cNvPr>
          <p:cNvSpPr txBox="1"/>
          <p:nvPr/>
        </p:nvSpPr>
        <p:spPr>
          <a:xfrm>
            <a:off x="556366" y="4354197"/>
            <a:ext cx="2213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Jenny, 24 years old</a:t>
            </a:r>
          </a:p>
          <a:p>
            <a:pPr algn="ctr"/>
            <a:r>
              <a:rPr lang="en-US" sz="1400"/>
              <a:t>Lives in Montreal </a:t>
            </a:r>
          </a:p>
          <a:p>
            <a:pPr algn="ctr"/>
            <a:r>
              <a:rPr lang="en-US" sz="1400"/>
              <a:t>Works in Finance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F4D89F7-F994-F041-910F-75BAB0BC3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24" t="1762" r="22633" b="17263"/>
          <a:stretch>
            <a:fillRect/>
          </a:stretch>
        </p:blipFill>
        <p:spPr>
          <a:xfrm>
            <a:off x="556366" y="1880158"/>
            <a:ext cx="2213918" cy="2287237"/>
          </a:xfrm>
          <a:custGeom>
            <a:avLst/>
            <a:gdLst>
              <a:gd name="connsiteX0" fmla="*/ 2388994 w 4777988"/>
              <a:gd name="connsiteY0" fmla="*/ 0 h 4936222"/>
              <a:gd name="connsiteX1" fmla="*/ 4777988 w 4777988"/>
              <a:gd name="connsiteY1" fmla="*/ 2468111 h 4936222"/>
              <a:gd name="connsiteX2" fmla="*/ 2388994 w 4777988"/>
              <a:gd name="connsiteY2" fmla="*/ 4936222 h 4936222"/>
              <a:gd name="connsiteX3" fmla="*/ 0 w 4777988"/>
              <a:gd name="connsiteY3" fmla="*/ 2468111 h 4936222"/>
              <a:gd name="connsiteX4" fmla="*/ 2388994 w 4777988"/>
              <a:gd name="connsiteY4" fmla="*/ 0 h 493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7988" h="4936222">
                <a:moveTo>
                  <a:pt x="2388994" y="0"/>
                </a:moveTo>
                <a:cubicBezTo>
                  <a:pt x="3708399" y="0"/>
                  <a:pt x="4777988" y="1105011"/>
                  <a:pt x="4777988" y="2468111"/>
                </a:cubicBezTo>
                <a:cubicBezTo>
                  <a:pt x="4777988" y="3831211"/>
                  <a:pt x="3708399" y="4936222"/>
                  <a:pt x="2388994" y="4936222"/>
                </a:cubicBezTo>
                <a:cubicBezTo>
                  <a:pt x="1069589" y="4936222"/>
                  <a:pt x="0" y="3831211"/>
                  <a:pt x="0" y="2468111"/>
                </a:cubicBezTo>
                <a:cubicBezTo>
                  <a:pt x="0" y="1105011"/>
                  <a:pt x="1069589" y="0"/>
                  <a:pt x="2388994" y="0"/>
                </a:cubicBezTo>
                <a:close/>
              </a:path>
            </a:pathLst>
          </a:custGeom>
        </p:spPr>
      </p:pic>
      <p:sp>
        <p:nvSpPr>
          <p:cNvPr id="7" name="Pentagon 6">
            <a:extLst>
              <a:ext uri="{FF2B5EF4-FFF2-40B4-BE49-F238E27FC236}">
                <a16:creationId xmlns:a16="http://schemas.microsoft.com/office/drawing/2014/main" id="{0CD35374-DC01-5C47-950B-26DD7289672B}"/>
              </a:ext>
            </a:extLst>
          </p:cNvPr>
          <p:cNvSpPr/>
          <p:nvPr/>
        </p:nvSpPr>
        <p:spPr>
          <a:xfrm>
            <a:off x="3006677" y="2084643"/>
            <a:ext cx="2252546" cy="425533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Engage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14F4843D-8C05-8640-B087-F39977BC62E1}"/>
              </a:ext>
            </a:extLst>
          </p:cNvPr>
          <p:cNvSpPr/>
          <p:nvPr/>
        </p:nvSpPr>
        <p:spPr>
          <a:xfrm>
            <a:off x="5259223" y="2090928"/>
            <a:ext cx="2213918" cy="430478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Purchase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hevron 34">
            <a:extLst>
              <a:ext uri="{FF2B5EF4-FFF2-40B4-BE49-F238E27FC236}">
                <a16:creationId xmlns:a16="http://schemas.microsoft.com/office/drawing/2014/main" id="{9E81B1B0-9312-724B-A151-65F8F8DA58A6}"/>
              </a:ext>
            </a:extLst>
          </p:cNvPr>
          <p:cNvSpPr/>
          <p:nvPr/>
        </p:nvSpPr>
        <p:spPr>
          <a:xfrm>
            <a:off x="7473141" y="2090928"/>
            <a:ext cx="2213918" cy="430478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Retain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6" name="Chevron 35">
            <a:extLst>
              <a:ext uri="{FF2B5EF4-FFF2-40B4-BE49-F238E27FC236}">
                <a16:creationId xmlns:a16="http://schemas.microsoft.com/office/drawing/2014/main" id="{757E2757-A1F1-094B-8FF1-BC5FA60A4691}"/>
              </a:ext>
            </a:extLst>
          </p:cNvPr>
          <p:cNvSpPr/>
          <p:nvPr/>
        </p:nvSpPr>
        <p:spPr>
          <a:xfrm>
            <a:off x="9719454" y="2090928"/>
            <a:ext cx="2172509" cy="430478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Share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C8DB01-5C60-E84F-8CD1-E918768AE29B}"/>
              </a:ext>
            </a:extLst>
          </p:cNvPr>
          <p:cNvSpPr/>
          <p:nvPr/>
        </p:nvSpPr>
        <p:spPr>
          <a:xfrm>
            <a:off x="3006677" y="2814487"/>
            <a:ext cx="2213918" cy="614513"/>
          </a:xfrm>
          <a:prstGeom prst="rect">
            <a:avLst/>
          </a:prstGeom>
          <a:solidFill>
            <a:srgbClr val="298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Objective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D7B699-3882-1A48-AC7A-7E9C0A9FEB71}"/>
              </a:ext>
            </a:extLst>
          </p:cNvPr>
          <p:cNvSpPr/>
          <p:nvPr/>
        </p:nvSpPr>
        <p:spPr>
          <a:xfrm>
            <a:off x="3006677" y="3562129"/>
            <a:ext cx="2213918" cy="1738248"/>
          </a:xfrm>
          <a:prstGeom prst="rect">
            <a:avLst/>
          </a:prstGeom>
          <a:solidFill>
            <a:srgbClr val="298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Tactic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0833BE-2BCD-2846-97EB-532D3A3B9FEC}"/>
              </a:ext>
            </a:extLst>
          </p:cNvPr>
          <p:cNvSpPr/>
          <p:nvPr/>
        </p:nvSpPr>
        <p:spPr>
          <a:xfrm>
            <a:off x="3025991" y="5433505"/>
            <a:ext cx="2213918" cy="614513"/>
          </a:xfrm>
          <a:prstGeom prst="rect">
            <a:avLst/>
          </a:prstGeom>
          <a:solidFill>
            <a:srgbClr val="E87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Impact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EF7E8A-9D2A-E449-98E0-F05F491F2095}"/>
              </a:ext>
            </a:extLst>
          </p:cNvPr>
          <p:cNvSpPr/>
          <p:nvPr/>
        </p:nvSpPr>
        <p:spPr>
          <a:xfrm>
            <a:off x="5390501" y="2814378"/>
            <a:ext cx="6357213" cy="614512"/>
          </a:xfrm>
          <a:prstGeom prst="rect">
            <a:avLst/>
          </a:prstGeom>
          <a:solidFill>
            <a:srgbClr val="DDE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To trigger brand awareness for the product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363418-4A4A-5C44-9CC6-7CF32E2BF1BB}"/>
              </a:ext>
            </a:extLst>
          </p:cNvPr>
          <p:cNvSpPr/>
          <p:nvPr/>
        </p:nvSpPr>
        <p:spPr>
          <a:xfrm>
            <a:off x="5401495" y="3562129"/>
            <a:ext cx="1293774" cy="1738248"/>
          </a:xfrm>
          <a:prstGeom prst="rect">
            <a:avLst/>
          </a:prstGeom>
          <a:solidFill>
            <a:srgbClr val="DDE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</a:rPr>
              <a:t>Product placement at central business districts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99C424-514B-624E-8848-3911CA495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169" y="3562129"/>
            <a:ext cx="2320119" cy="17382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885D9EB-F32B-0E45-9797-67AE2107A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771" y="3562129"/>
            <a:ext cx="2320119" cy="1738248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FB144317-8AC3-2546-B773-62826964B619}"/>
              </a:ext>
            </a:extLst>
          </p:cNvPr>
          <p:cNvSpPr/>
          <p:nvPr/>
        </p:nvSpPr>
        <p:spPr>
          <a:xfrm>
            <a:off x="6876169" y="3562129"/>
            <a:ext cx="2320119" cy="1738248"/>
          </a:xfrm>
          <a:prstGeom prst="rect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Cafes located in the CBD area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222E1C-64C3-5D47-9DD6-2008A6DC9580}"/>
              </a:ext>
            </a:extLst>
          </p:cNvPr>
          <p:cNvSpPr/>
          <p:nvPr/>
        </p:nvSpPr>
        <p:spPr>
          <a:xfrm>
            <a:off x="9400770" y="3562129"/>
            <a:ext cx="2320119" cy="1738248"/>
          </a:xfrm>
          <a:prstGeom prst="rect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Sponsored vending machines at corporate offices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0123EB-B89B-964D-A575-10DCB3995CBD}"/>
              </a:ext>
            </a:extLst>
          </p:cNvPr>
          <p:cNvSpPr/>
          <p:nvPr/>
        </p:nvSpPr>
        <p:spPr>
          <a:xfrm>
            <a:off x="5401493" y="5433505"/>
            <a:ext cx="6357213" cy="614512"/>
          </a:xfrm>
          <a:prstGeom prst="rect">
            <a:avLst/>
          </a:prstGeom>
          <a:solidFill>
            <a:srgbClr val="E87E2E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Generate brand recognition around the product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DE678C-DAC7-4044-9383-66E5962B0405}"/>
              </a:ext>
            </a:extLst>
          </p:cNvPr>
          <p:cNvGrpSpPr/>
          <p:nvPr/>
        </p:nvGrpSpPr>
        <p:grpSpPr>
          <a:xfrm>
            <a:off x="3040155" y="6983637"/>
            <a:ext cx="8865972" cy="403591"/>
            <a:chOff x="1263387" y="920392"/>
            <a:chExt cx="7582995" cy="324000"/>
          </a:xfrm>
        </p:grpSpPr>
        <p:sp>
          <p:nvSpPr>
            <p:cNvPr id="25" name="object 13">
              <a:extLst>
                <a:ext uri="{FF2B5EF4-FFF2-40B4-BE49-F238E27FC236}">
                  <a16:creationId xmlns:a16="http://schemas.microsoft.com/office/drawing/2014/main" id="{A1C45860-1AEE-44AD-9D83-C106B8118AD2}"/>
                </a:ext>
              </a:extLst>
            </p:cNvPr>
            <p:cNvSpPr/>
            <p:nvPr/>
          </p:nvSpPr>
          <p:spPr>
            <a:xfrm>
              <a:off x="1263387" y="920392"/>
              <a:ext cx="2476518" cy="324000"/>
            </a:xfrm>
            <a:custGeom>
              <a:avLst/>
              <a:gdLst/>
              <a:ahLst/>
              <a:cxnLst/>
              <a:rect l="l" t="t" r="r" b="b"/>
              <a:pathLst>
                <a:path w="2156459" h="654685">
                  <a:moveTo>
                    <a:pt x="2156460" y="0"/>
                  </a:moveTo>
                  <a:lnTo>
                    <a:pt x="163575" y="0"/>
                  </a:lnTo>
                  <a:lnTo>
                    <a:pt x="0" y="654176"/>
                  </a:lnTo>
                  <a:lnTo>
                    <a:pt x="1992884" y="654176"/>
                  </a:lnTo>
                  <a:lnTo>
                    <a:pt x="2156460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HK" b="1">
                  <a:solidFill>
                    <a:schemeClr val="bg1"/>
                  </a:solidFill>
                  <a:latin typeface="+mj-lt"/>
                </a:rPr>
                <a:t>Awareness/ Interest</a:t>
              </a:r>
              <a:endParaRPr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object 13">
              <a:extLst>
                <a:ext uri="{FF2B5EF4-FFF2-40B4-BE49-F238E27FC236}">
                  <a16:creationId xmlns:a16="http://schemas.microsoft.com/office/drawing/2014/main" id="{56A17449-5A4D-4D6D-8131-06E53A62894D}"/>
                </a:ext>
              </a:extLst>
            </p:cNvPr>
            <p:cNvSpPr/>
            <p:nvPr/>
          </p:nvSpPr>
          <p:spPr>
            <a:xfrm>
              <a:off x="3739905" y="920392"/>
              <a:ext cx="2476518" cy="324000"/>
            </a:xfrm>
            <a:custGeom>
              <a:avLst/>
              <a:gdLst/>
              <a:ahLst/>
              <a:cxnLst/>
              <a:rect l="l" t="t" r="r" b="b"/>
              <a:pathLst>
                <a:path w="2156459" h="654685">
                  <a:moveTo>
                    <a:pt x="2156460" y="0"/>
                  </a:moveTo>
                  <a:lnTo>
                    <a:pt x="163575" y="0"/>
                  </a:lnTo>
                  <a:lnTo>
                    <a:pt x="0" y="654176"/>
                  </a:lnTo>
                  <a:lnTo>
                    <a:pt x="1992884" y="654176"/>
                  </a:lnTo>
                  <a:lnTo>
                    <a:pt x="2156460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HK" b="1">
                  <a:solidFill>
                    <a:schemeClr val="bg1"/>
                  </a:solidFill>
                  <a:latin typeface="+mj-lt"/>
                </a:rPr>
                <a:t>Evaluation of alternative</a:t>
              </a:r>
              <a:endParaRPr b="1">
                <a:solidFill>
                  <a:schemeClr val="bg1"/>
                </a:solidFill>
                <a:latin typeface="+mj-lt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029901A-3241-4572-B23B-B7A20BBB655F}"/>
                </a:ext>
              </a:extLst>
            </p:cNvPr>
            <p:cNvGrpSpPr/>
            <p:nvPr/>
          </p:nvGrpSpPr>
          <p:grpSpPr>
            <a:xfrm>
              <a:off x="6216423" y="920392"/>
              <a:ext cx="2629959" cy="324000"/>
              <a:chOff x="3554242" y="1794732"/>
              <a:chExt cx="2629959" cy="360000"/>
            </a:xfrm>
            <a:solidFill>
              <a:srgbClr val="051C2C"/>
            </a:solidFill>
          </p:grpSpPr>
          <p:sp>
            <p:nvSpPr>
              <p:cNvPr id="28" name="object 14">
                <a:extLst>
                  <a:ext uri="{FF2B5EF4-FFF2-40B4-BE49-F238E27FC236}">
                    <a16:creationId xmlns:a16="http://schemas.microsoft.com/office/drawing/2014/main" id="{F5E80868-B9AC-49AD-90A5-4DA7F69567E2}"/>
                  </a:ext>
                </a:extLst>
              </p:cNvPr>
              <p:cNvSpPr/>
              <p:nvPr/>
            </p:nvSpPr>
            <p:spPr>
              <a:xfrm>
                <a:off x="5342467" y="1794732"/>
                <a:ext cx="841734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1368425" h="654685">
                    <a:moveTo>
                      <a:pt x="1096899" y="0"/>
                    </a:moveTo>
                    <a:lnTo>
                      <a:pt x="271399" y="0"/>
                    </a:lnTo>
                    <a:lnTo>
                      <a:pt x="249144" y="899"/>
                    </a:lnTo>
                    <a:lnTo>
                      <a:pt x="206188" y="7889"/>
                    </a:lnTo>
                    <a:lnTo>
                      <a:pt x="165770" y="21332"/>
                    </a:lnTo>
                    <a:lnTo>
                      <a:pt x="128450" y="40668"/>
                    </a:lnTo>
                    <a:lnTo>
                      <a:pt x="94787" y="65340"/>
                    </a:lnTo>
                    <a:lnTo>
                      <a:pt x="65340" y="94787"/>
                    </a:lnTo>
                    <a:lnTo>
                      <a:pt x="40668" y="128450"/>
                    </a:lnTo>
                    <a:lnTo>
                      <a:pt x="21332" y="165770"/>
                    </a:lnTo>
                    <a:lnTo>
                      <a:pt x="7889" y="206188"/>
                    </a:lnTo>
                    <a:lnTo>
                      <a:pt x="899" y="249144"/>
                    </a:lnTo>
                    <a:lnTo>
                      <a:pt x="0" y="271399"/>
                    </a:lnTo>
                    <a:lnTo>
                      <a:pt x="0" y="382904"/>
                    </a:lnTo>
                    <a:lnTo>
                      <a:pt x="3552" y="426916"/>
                    </a:lnTo>
                    <a:lnTo>
                      <a:pt x="13838" y="468663"/>
                    </a:lnTo>
                    <a:lnTo>
                      <a:pt x="30298" y="507588"/>
                    </a:lnTo>
                    <a:lnTo>
                      <a:pt x="52372" y="543132"/>
                    </a:lnTo>
                    <a:lnTo>
                      <a:pt x="79501" y="574738"/>
                    </a:lnTo>
                    <a:lnTo>
                      <a:pt x="111127" y="601848"/>
                    </a:lnTo>
                    <a:lnTo>
                      <a:pt x="146688" y="623905"/>
                    </a:lnTo>
                    <a:lnTo>
                      <a:pt x="185627" y="640351"/>
                    </a:lnTo>
                    <a:lnTo>
                      <a:pt x="227383" y="650627"/>
                    </a:lnTo>
                    <a:lnTo>
                      <a:pt x="271399" y="654176"/>
                    </a:lnTo>
                    <a:lnTo>
                      <a:pt x="1096899" y="654176"/>
                    </a:lnTo>
                    <a:lnTo>
                      <a:pt x="1140910" y="650627"/>
                    </a:lnTo>
                    <a:lnTo>
                      <a:pt x="1182657" y="640351"/>
                    </a:lnTo>
                    <a:lnTo>
                      <a:pt x="1221582" y="623905"/>
                    </a:lnTo>
                    <a:lnTo>
                      <a:pt x="1257126" y="601848"/>
                    </a:lnTo>
                    <a:lnTo>
                      <a:pt x="1288732" y="574738"/>
                    </a:lnTo>
                    <a:lnTo>
                      <a:pt x="1315842" y="543132"/>
                    </a:lnTo>
                    <a:lnTo>
                      <a:pt x="1337899" y="507588"/>
                    </a:lnTo>
                    <a:lnTo>
                      <a:pt x="1354345" y="468663"/>
                    </a:lnTo>
                    <a:lnTo>
                      <a:pt x="1364621" y="426916"/>
                    </a:lnTo>
                    <a:lnTo>
                      <a:pt x="1368171" y="382904"/>
                    </a:lnTo>
                    <a:lnTo>
                      <a:pt x="1368171" y="271399"/>
                    </a:lnTo>
                    <a:lnTo>
                      <a:pt x="1364621" y="227383"/>
                    </a:lnTo>
                    <a:lnTo>
                      <a:pt x="1354345" y="185627"/>
                    </a:lnTo>
                    <a:lnTo>
                      <a:pt x="1337899" y="146688"/>
                    </a:lnTo>
                    <a:lnTo>
                      <a:pt x="1315842" y="111127"/>
                    </a:lnTo>
                    <a:lnTo>
                      <a:pt x="1288732" y="79501"/>
                    </a:lnTo>
                    <a:lnTo>
                      <a:pt x="1257126" y="52372"/>
                    </a:lnTo>
                    <a:lnTo>
                      <a:pt x="1221582" y="30298"/>
                    </a:lnTo>
                    <a:lnTo>
                      <a:pt x="1182657" y="13838"/>
                    </a:lnTo>
                    <a:lnTo>
                      <a:pt x="1140910" y="3552"/>
                    </a:lnTo>
                    <a:lnTo>
                      <a:pt x="109689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 sz="1200"/>
              </a:p>
            </p:txBody>
          </p:sp>
          <p:sp>
            <p:nvSpPr>
              <p:cNvPr id="29" name="object 13">
                <a:extLst>
                  <a:ext uri="{FF2B5EF4-FFF2-40B4-BE49-F238E27FC236}">
                    <a16:creationId xmlns:a16="http://schemas.microsoft.com/office/drawing/2014/main" id="{6EC90B3D-DF87-4BAF-914F-347E709DF3AF}"/>
                  </a:ext>
                </a:extLst>
              </p:cNvPr>
              <p:cNvSpPr/>
              <p:nvPr/>
            </p:nvSpPr>
            <p:spPr>
              <a:xfrm>
                <a:off x="3554242" y="1794732"/>
                <a:ext cx="247651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2156459" h="654685">
                    <a:moveTo>
                      <a:pt x="2156460" y="0"/>
                    </a:moveTo>
                    <a:lnTo>
                      <a:pt x="163575" y="0"/>
                    </a:lnTo>
                    <a:lnTo>
                      <a:pt x="0" y="654176"/>
                    </a:lnTo>
                    <a:lnTo>
                      <a:pt x="1992884" y="654176"/>
                    </a:lnTo>
                    <a:lnTo>
                      <a:pt x="21564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HK" b="1">
                    <a:solidFill>
                      <a:schemeClr val="bg1"/>
                    </a:solidFill>
                    <a:latin typeface="+mj-lt"/>
                  </a:rPr>
                  <a:t>Purchase</a:t>
                </a:r>
                <a:endParaRPr b="1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829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4A7D5-E2A2-4EAB-9830-A50C80F67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HK"/>
              <a:t>Strategy walkthrough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57220C-FD69-433A-9F50-BF39FCA0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Customer journey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890E3-ADE3-487C-9E8C-F65747829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E8FDC9E-E93E-4A39-8DB9-95FFEC5F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Walkthrough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B0825-6BCF-4C00-9EE1-DD4B6C64D93E}"/>
              </a:ext>
            </a:extLst>
          </p:cNvPr>
          <p:cNvSpPr/>
          <p:nvPr/>
        </p:nvSpPr>
        <p:spPr>
          <a:xfrm>
            <a:off x="558264" y="2932739"/>
            <a:ext cx="1713793" cy="496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1400" b="1">
                <a:solidFill>
                  <a:schemeClr val="tx1"/>
                </a:solidFill>
                <a:latin typeface="+mj-lt"/>
              </a:rPr>
              <a:t>Alvin</a:t>
            </a:r>
            <a:r>
              <a:rPr lang="en-HK" sz="1400">
                <a:solidFill>
                  <a:schemeClr val="tx1"/>
                </a:solidFill>
                <a:latin typeface="+mj-lt"/>
              </a:rPr>
              <a:t>, guitarist</a:t>
            </a:r>
          </a:p>
        </p:txBody>
      </p:sp>
      <p:sp>
        <p:nvSpPr>
          <p:cNvPr id="7" name="Arrow: Right 3">
            <a:extLst>
              <a:ext uri="{FF2B5EF4-FFF2-40B4-BE49-F238E27FC236}">
                <a16:creationId xmlns:a16="http://schemas.microsoft.com/office/drawing/2014/main" id="{45542D71-5D2F-47F9-9E4F-D32AAB99793F}"/>
              </a:ext>
            </a:extLst>
          </p:cNvPr>
          <p:cNvSpPr/>
          <p:nvPr/>
        </p:nvSpPr>
        <p:spPr>
          <a:xfrm>
            <a:off x="2098384" y="1422687"/>
            <a:ext cx="9542754" cy="42553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CA050B-314E-4945-B527-01A6542A64E9}"/>
              </a:ext>
            </a:extLst>
          </p:cNvPr>
          <p:cNvSpPr/>
          <p:nvPr/>
        </p:nvSpPr>
        <p:spPr>
          <a:xfrm>
            <a:off x="558265" y="1125659"/>
            <a:ext cx="1713794" cy="1713794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8D74BF-53D5-451C-ADEF-304CB6F2B34E}"/>
              </a:ext>
            </a:extLst>
          </p:cNvPr>
          <p:cNvGrpSpPr/>
          <p:nvPr/>
        </p:nvGrpSpPr>
        <p:grpSpPr>
          <a:xfrm>
            <a:off x="3203130" y="1237160"/>
            <a:ext cx="1374284" cy="1101748"/>
            <a:chOff x="3879716" y="2034618"/>
            <a:chExt cx="1374284" cy="110174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955519-926D-4550-99AA-168F2DB2BF41}"/>
                </a:ext>
              </a:extLst>
            </p:cNvPr>
            <p:cNvSpPr/>
            <p:nvPr/>
          </p:nvSpPr>
          <p:spPr>
            <a:xfrm>
              <a:off x="4205411" y="2034618"/>
              <a:ext cx="715512" cy="7155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3DF24B-3F94-4913-BF99-3EFE5A1E72F0}"/>
                </a:ext>
              </a:extLst>
            </p:cNvPr>
            <p:cNvSpPr/>
            <p:nvPr/>
          </p:nvSpPr>
          <p:spPr>
            <a:xfrm>
              <a:off x="3879716" y="2822138"/>
              <a:ext cx="1374284" cy="3142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400" b="1">
                  <a:solidFill>
                    <a:schemeClr val="tx1"/>
                  </a:solidFill>
                  <a:latin typeface="+mj-lt"/>
                </a:rPr>
                <a:t>Consumption</a:t>
              </a:r>
            </a:p>
          </p:txBody>
        </p:sp>
        <p:pic>
          <p:nvPicPr>
            <p:cNvPr id="12" name="Picture 6" descr="Image result for spending icon png">
              <a:extLst>
                <a:ext uri="{FF2B5EF4-FFF2-40B4-BE49-F238E27FC236}">
                  <a16:creationId xmlns:a16="http://schemas.microsoft.com/office/drawing/2014/main" id="{A31B78A7-8FD2-482C-A4A4-AA81F1F0C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6754" y="2182872"/>
              <a:ext cx="424442" cy="42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EA650-82BE-4488-84B1-58DC1AE0D4DA}"/>
              </a:ext>
            </a:extLst>
          </p:cNvPr>
          <p:cNvSpPr/>
          <p:nvPr/>
        </p:nvSpPr>
        <p:spPr>
          <a:xfrm>
            <a:off x="558264" y="3429000"/>
            <a:ext cx="1713793" cy="27431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HK" sz="1400">
                <a:solidFill>
                  <a:schemeClr val="tx1"/>
                </a:solidFill>
                <a:latin typeface="+mj-lt"/>
              </a:rPr>
              <a:t>Details..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99247-5826-44F5-90F7-3895B87D3924}"/>
              </a:ext>
            </a:extLst>
          </p:cNvPr>
          <p:cNvSpPr/>
          <p:nvPr/>
        </p:nvSpPr>
        <p:spPr>
          <a:xfrm>
            <a:off x="2505903" y="3428999"/>
            <a:ext cx="2768738" cy="2743191"/>
          </a:xfrm>
          <a:prstGeom prst="rect">
            <a:avLst/>
          </a:prstGeom>
          <a:noFill/>
          <a:ln w="28575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400">
                <a:solidFill>
                  <a:schemeClr val="tx1"/>
                </a:solidFill>
                <a:latin typeface="+mj-lt"/>
              </a:rPr>
              <a:t>Details..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ABBE6D-7E37-4CC8-8A23-A53D7C4183E2}"/>
              </a:ext>
            </a:extLst>
          </p:cNvPr>
          <p:cNvSpPr/>
          <p:nvPr/>
        </p:nvSpPr>
        <p:spPr>
          <a:xfrm>
            <a:off x="5689190" y="3429000"/>
            <a:ext cx="2768738" cy="2743191"/>
          </a:xfrm>
          <a:prstGeom prst="rect">
            <a:avLst/>
          </a:prstGeom>
          <a:noFill/>
          <a:ln w="28575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400">
                <a:solidFill>
                  <a:schemeClr val="tx1"/>
                </a:solidFill>
                <a:latin typeface="+mj-lt"/>
              </a:rPr>
              <a:t>Details..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DBB56E-51B4-4BB2-AD51-9D0664124A44}"/>
              </a:ext>
            </a:extLst>
          </p:cNvPr>
          <p:cNvSpPr/>
          <p:nvPr/>
        </p:nvSpPr>
        <p:spPr>
          <a:xfrm>
            <a:off x="8872477" y="3429000"/>
            <a:ext cx="2768738" cy="2743191"/>
          </a:xfrm>
          <a:prstGeom prst="rect">
            <a:avLst/>
          </a:prstGeom>
          <a:noFill/>
          <a:ln w="28575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400">
                <a:solidFill>
                  <a:schemeClr val="tx1"/>
                </a:solidFill>
                <a:latin typeface="+mj-lt"/>
              </a:rPr>
              <a:t>Details..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4EEFA7-3E3E-4767-ABC1-2BD057EEF795}"/>
              </a:ext>
            </a:extLst>
          </p:cNvPr>
          <p:cNvGrpSpPr/>
          <p:nvPr/>
        </p:nvGrpSpPr>
        <p:grpSpPr>
          <a:xfrm>
            <a:off x="3854272" y="2384389"/>
            <a:ext cx="72000" cy="987471"/>
            <a:chOff x="5436999" y="2513529"/>
            <a:chExt cx="72000" cy="98747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56EFCAC-D242-4C54-B0CE-16312ED4D812}"/>
                </a:ext>
              </a:extLst>
            </p:cNvPr>
            <p:cNvCxnSpPr/>
            <p:nvPr/>
          </p:nvCxnSpPr>
          <p:spPr>
            <a:xfrm>
              <a:off x="5472999" y="2549533"/>
              <a:ext cx="0" cy="924025"/>
            </a:xfrm>
            <a:prstGeom prst="line">
              <a:avLst/>
            </a:prstGeom>
            <a:ln w="9525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5BC2E40-F40A-4BEC-BDD6-8462023AA6B4}"/>
                </a:ext>
              </a:extLst>
            </p:cNvPr>
            <p:cNvSpPr/>
            <p:nvPr/>
          </p:nvSpPr>
          <p:spPr>
            <a:xfrm>
              <a:off x="5436999" y="2513529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2B1F62-2A61-40CE-8B21-FDDAD82415DF}"/>
                </a:ext>
              </a:extLst>
            </p:cNvPr>
            <p:cNvSpPr/>
            <p:nvPr/>
          </p:nvSpPr>
          <p:spPr>
            <a:xfrm>
              <a:off x="5436999" y="3429000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9397CD-6C38-4D81-9FC5-13BC87AA7133}"/>
              </a:ext>
            </a:extLst>
          </p:cNvPr>
          <p:cNvGrpSpPr/>
          <p:nvPr/>
        </p:nvGrpSpPr>
        <p:grpSpPr>
          <a:xfrm>
            <a:off x="7037559" y="2384389"/>
            <a:ext cx="72000" cy="987471"/>
            <a:chOff x="5436999" y="2513529"/>
            <a:chExt cx="72000" cy="98747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35E7A04-A443-4C86-B55C-F9D1E320C718}"/>
                </a:ext>
              </a:extLst>
            </p:cNvPr>
            <p:cNvCxnSpPr/>
            <p:nvPr/>
          </p:nvCxnSpPr>
          <p:spPr>
            <a:xfrm>
              <a:off x="5472999" y="2549533"/>
              <a:ext cx="0" cy="924025"/>
            </a:xfrm>
            <a:prstGeom prst="line">
              <a:avLst/>
            </a:prstGeom>
            <a:ln w="9525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5E31026-2AC7-4B62-80D8-849F0F73FB1A}"/>
                </a:ext>
              </a:extLst>
            </p:cNvPr>
            <p:cNvSpPr/>
            <p:nvPr/>
          </p:nvSpPr>
          <p:spPr>
            <a:xfrm>
              <a:off x="5436999" y="2513529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5E28E1A-82FB-47CE-9CF2-C1D13C60C098}"/>
                </a:ext>
              </a:extLst>
            </p:cNvPr>
            <p:cNvSpPr/>
            <p:nvPr/>
          </p:nvSpPr>
          <p:spPr>
            <a:xfrm>
              <a:off x="5436999" y="3429000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52F9C1A-38D1-43A3-AA19-8BB3BF4E7B4C}"/>
              </a:ext>
            </a:extLst>
          </p:cNvPr>
          <p:cNvGrpSpPr/>
          <p:nvPr/>
        </p:nvGrpSpPr>
        <p:grpSpPr>
          <a:xfrm>
            <a:off x="10220846" y="2384389"/>
            <a:ext cx="72000" cy="987471"/>
            <a:chOff x="5436999" y="2513529"/>
            <a:chExt cx="72000" cy="98747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29B540-E582-4EEC-8DDE-3D00693A092C}"/>
                </a:ext>
              </a:extLst>
            </p:cNvPr>
            <p:cNvCxnSpPr/>
            <p:nvPr/>
          </p:nvCxnSpPr>
          <p:spPr>
            <a:xfrm>
              <a:off x="5472999" y="2549533"/>
              <a:ext cx="0" cy="924025"/>
            </a:xfrm>
            <a:prstGeom prst="line">
              <a:avLst/>
            </a:prstGeom>
            <a:ln w="9525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455820C-421F-4D6B-90E0-6CD97D37FB77}"/>
                </a:ext>
              </a:extLst>
            </p:cNvPr>
            <p:cNvSpPr/>
            <p:nvPr/>
          </p:nvSpPr>
          <p:spPr>
            <a:xfrm>
              <a:off x="5436999" y="2513529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0B32680-44D7-4FC0-BCA0-9AE77FF01001}"/>
                </a:ext>
              </a:extLst>
            </p:cNvPr>
            <p:cNvSpPr/>
            <p:nvPr/>
          </p:nvSpPr>
          <p:spPr>
            <a:xfrm>
              <a:off x="5436999" y="3429000"/>
              <a:ext cx="72000" cy="72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 err="1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9A419EB-89CD-4E06-9881-B925B632C847}"/>
              </a:ext>
            </a:extLst>
          </p:cNvPr>
          <p:cNvGrpSpPr/>
          <p:nvPr/>
        </p:nvGrpSpPr>
        <p:grpSpPr>
          <a:xfrm>
            <a:off x="6676414" y="1237160"/>
            <a:ext cx="794290" cy="1106370"/>
            <a:chOff x="7252120" y="1794293"/>
            <a:chExt cx="794290" cy="110637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354D94-3177-44AC-AAAF-8ED7F91D9B6C}"/>
                </a:ext>
              </a:extLst>
            </p:cNvPr>
            <p:cNvSpPr/>
            <p:nvPr/>
          </p:nvSpPr>
          <p:spPr>
            <a:xfrm>
              <a:off x="7252120" y="2586435"/>
              <a:ext cx="794290" cy="3142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400" b="1">
                  <a:solidFill>
                    <a:schemeClr val="tx1"/>
                  </a:solidFill>
                  <a:latin typeface="+mj-lt"/>
                </a:rPr>
                <a:t>Invest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80DBCD8-4FE4-4719-84C1-D4B4FE275D63}"/>
                </a:ext>
              </a:extLst>
            </p:cNvPr>
            <p:cNvSpPr/>
            <p:nvPr/>
          </p:nvSpPr>
          <p:spPr>
            <a:xfrm>
              <a:off x="7291509" y="1794293"/>
              <a:ext cx="715512" cy="715512"/>
            </a:xfrm>
            <a:prstGeom prst="ellipse">
              <a:avLst/>
            </a:prstGeom>
            <a:solidFill>
              <a:srgbClr val="9DC3E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32" name="Picture 6" descr="Image result for invest icon png">
              <a:extLst>
                <a:ext uri="{FF2B5EF4-FFF2-40B4-BE49-F238E27FC236}">
                  <a16:creationId xmlns:a16="http://schemas.microsoft.com/office/drawing/2014/main" id="{BE2BC8FC-CE7C-41CC-9CE6-C54D1A08A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7973" y="1910836"/>
              <a:ext cx="473059" cy="473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C0CA31-E3C0-40FA-AF28-ABEFCF420E2C}"/>
              </a:ext>
            </a:extLst>
          </p:cNvPr>
          <p:cNvGrpSpPr/>
          <p:nvPr/>
        </p:nvGrpSpPr>
        <p:grpSpPr>
          <a:xfrm>
            <a:off x="9859701" y="1237160"/>
            <a:ext cx="794290" cy="1101748"/>
            <a:chOff x="9724326" y="1798915"/>
            <a:chExt cx="794290" cy="110174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22968DC-A0A4-4889-A9FE-510E52E8AC3C}"/>
                </a:ext>
              </a:extLst>
            </p:cNvPr>
            <p:cNvSpPr/>
            <p:nvPr/>
          </p:nvSpPr>
          <p:spPr>
            <a:xfrm>
              <a:off x="9763715" y="1798915"/>
              <a:ext cx="715512" cy="715512"/>
            </a:xfrm>
            <a:prstGeom prst="ellipse">
              <a:avLst/>
            </a:prstGeom>
            <a:solidFill>
              <a:srgbClr val="9DC3E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35" name="Picture 34" descr="Image result for mother icon png">
              <a:extLst>
                <a:ext uri="{FF2B5EF4-FFF2-40B4-BE49-F238E27FC236}">
                  <a16:creationId xmlns:a16="http://schemas.microsoft.com/office/drawing/2014/main" id="{B5A90510-9E18-4314-B7A3-BBE512003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6029" y="1922744"/>
              <a:ext cx="530884" cy="467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62A898-3C7D-4583-9FA7-B3876646D367}"/>
                </a:ext>
              </a:extLst>
            </p:cNvPr>
            <p:cNvSpPr/>
            <p:nvPr/>
          </p:nvSpPr>
          <p:spPr>
            <a:xfrm>
              <a:off x="9724326" y="2586435"/>
              <a:ext cx="794290" cy="3142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400" b="1">
                  <a:solidFill>
                    <a:schemeClr val="tx1"/>
                  </a:solidFill>
                  <a:latin typeface="+mj-lt"/>
                </a:rPr>
                <a:t>Family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11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/>
              <a:t>Recommendation 02 </a:t>
            </a:r>
            <a:r>
              <a:rPr lang="mr-IN" altLang="zh-TW"/>
              <a:t>–</a:t>
            </a:r>
            <a:r>
              <a:rPr lang="en-US" altLang="zh-TW"/>
              <a:t> Customer Journey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altLang="zh-TW"/>
              <a:t>Customer journey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4A65BDD-DA55-46F2-99B5-DE10F6AF77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Walkthrough</a:t>
            </a:r>
          </a:p>
        </p:txBody>
      </p:sp>
      <p:pic>
        <p:nvPicPr>
          <p:cNvPr id="6" name="Picture 8" descr="¸éåç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282" y="4809178"/>
            <a:ext cx="2325535" cy="128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4223359" y="1331939"/>
            <a:ext cx="565254" cy="1486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>
                <a:latin typeface="Calibri" charset="0"/>
                <a:ea typeface="Calibri" charset="0"/>
                <a:cs typeface="Calibri" charset="0"/>
              </a:rPr>
              <a:t>Survey to understand student interests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>
                <a:latin typeface="Calibri" charset="0"/>
                <a:ea typeface="Calibri" charset="0"/>
                <a:cs typeface="Calibri" charset="0"/>
              </a:rPr>
              <a:t>Students ’clock-in’ to system</a:t>
            </a:r>
          </a:p>
        </p:txBody>
      </p:sp>
      <p:pic>
        <p:nvPicPr>
          <p:cNvPr id="8" name="Picture 4" descr="sing phoneçåçæå°çµæ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3" r="7114"/>
          <a:stretch/>
        </p:blipFill>
        <p:spPr bwMode="auto">
          <a:xfrm>
            <a:off x="5657963" y="1628257"/>
            <a:ext cx="2338619" cy="130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5646675" y="1632550"/>
            <a:ext cx="5493275" cy="1295115"/>
          </a:xfrm>
          <a:prstGeom prst="rect">
            <a:avLst/>
          </a:prstGeom>
          <a:noFill/>
          <a:ln w="28575">
            <a:solidFill>
              <a:srgbClr val="06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24233" y="1408810"/>
            <a:ext cx="485774" cy="491847"/>
          </a:xfrm>
          <a:prstGeom prst="ellipse">
            <a:avLst/>
          </a:prstGeom>
          <a:solidFill>
            <a:srgbClr val="06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13530" y="1468376"/>
            <a:ext cx="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441" y="2087159"/>
            <a:ext cx="1064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Purchase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1179" y="1733216"/>
            <a:ext cx="309877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Amy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realizes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she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has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need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menstrual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cramp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insurance</a:t>
            </a:r>
            <a:endParaRPr lang="zh-TW" altLang="en-US" sz="1600"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She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buys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6-month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policy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from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ZA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from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its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online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platform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endParaRPr lang="en-US" sz="16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46675" y="4798949"/>
            <a:ext cx="5493275" cy="1295115"/>
          </a:xfrm>
          <a:prstGeom prst="rect">
            <a:avLst/>
          </a:prstGeom>
          <a:noFill/>
          <a:ln w="28575">
            <a:solidFill>
              <a:srgbClr val="06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24233" y="4575209"/>
            <a:ext cx="485774" cy="491847"/>
          </a:xfrm>
          <a:prstGeom prst="ellipse">
            <a:avLst/>
          </a:prstGeom>
          <a:solidFill>
            <a:srgbClr val="06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13530" y="4637676"/>
            <a:ext cx="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96583" y="4784786"/>
            <a:ext cx="314336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Amy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uploads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her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doctor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certificate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and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files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claim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her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medical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expenses</a:t>
            </a:r>
            <a:endParaRPr lang="zh-TW" altLang="en-US" sz="1600"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Amy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receives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her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compensation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within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short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period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time</a:t>
            </a:r>
            <a:endParaRPr lang="en-US" sz="1600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8" name="Curved Connector 17"/>
          <p:cNvCxnSpPr/>
          <p:nvPr/>
        </p:nvCxnSpPr>
        <p:spPr>
          <a:xfrm rot="10800000" flipV="1">
            <a:off x="5424233" y="1654733"/>
            <a:ext cx="12700" cy="1585917"/>
          </a:xfrm>
          <a:prstGeom prst="curvedConnector3">
            <a:avLst>
              <a:gd name="adj1" fmla="val 1800000"/>
            </a:avLst>
          </a:prstGeom>
          <a:ln w="28575">
            <a:solidFill>
              <a:srgbClr val="06377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/>
          <p:nvPr/>
        </p:nvCxnSpPr>
        <p:spPr>
          <a:xfrm rot="10800000" flipV="1">
            <a:off x="5419390" y="3237939"/>
            <a:ext cx="12700" cy="1585917"/>
          </a:xfrm>
          <a:prstGeom prst="curvedConnector3">
            <a:avLst>
              <a:gd name="adj1" fmla="val 1800000"/>
            </a:avLst>
          </a:prstGeom>
          <a:ln w="28575">
            <a:solidFill>
              <a:srgbClr val="06377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884941" y="2095339"/>
            <a:ext cx="619018" cy="662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0"/>
          <a:stretch/>
        </p:blipFill>
        <p:spPr>
          <a:xfrm rot="10962813">
            <a:off x="4916267" y="2177300"/>
            <a:ext cx="571256" cy="4987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883527" y="3719371"/>
            <a:ext cx="619018" cy="662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0"/>
          <a:stretch/>
        </p:blipFill>
        <p:spPr>
          <a:xfrm rot="10962813">
            <a:off x="4914853" y="3801332"/>
            <a:ext cx="571256" cy="49870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57DA27-0FE1-F94F-A0FA-FFF42C3CBEFC}"/>
              </a:ext>
            </a:extLst>
          </p:cNvPr>
          <p:cNvCxnSpPr/>
          <p:nvPr/>
        </p:nvCxnSpPr>
        <p:spPr>
          <a:xfrm>
            <a:off x="1061451" y="3761777"/>
            <a:ext cx="291206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DDD173F-5AF8-BF41-88DB-DFA031156F0E}"/>
              </a:ext>
            </a:extLst>
          </p:cNvPr>
          <p:cNvSpPr txBox="1"/>
          <p:nvPr/>
        </p:nvSpPr>
        <p:spPr>
          <a:xfrm>
            <a:off x="1461762" y="3556120"/>
            <a:ext cx="2111440" cy="379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srgbClr val="073779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Amy</a:t>
            </a:r>
            <a:endParaRPr lang="en-US" sz="1867" b="1" kern="0">
              <a:solidFill>
                <a:srgbClr val="073779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25194-394D-7B42-A94F-8A8EEC86D50C}"/>
              </a:ext>
            </a:extLst>
          </p:cNvPr>
          <p:cNvSpPr txBox="1"/>
          <p:nvPr/>
        </p:nvSpPr>
        <p:spPr>
          <a:xfrm>
            <a:off x="1061451" y="4010412"/>
            <a:ext cx="2912065" cy="2103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Age: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24</a:t>
            </a:r>
            <a:endParaRPr lang="zh-TW" altLang="en-US" sz="1867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380990" indent="-380990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Office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lady</a:t>
            </a:r>
            <a:endParaRPr lang="zh-TW" altLang="en-US" sz="1867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380990" indent="-380990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Experience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different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degrees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of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menstrual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cramps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every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month</a:t>
            </a:r>
            <a:endParaRPr lang="zh-TW" altLang="en-US" sz="1867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380990" indent="-380990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Sometimes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needs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seek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help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from</a:t>
            </a:r>
            <a:r>
              <a:rPr lang="zh-TW" altLang="en-US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867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doctor</a:t>
            </a:r>
            <a:endParaRPr lang="zh-TW" altLang="en-US" sz="1867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8" name="Picture 6" descr="eriod painçåçæå°çµæ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559" y="3224947"/>
            <a:ext cx="2358024" cy="132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961439" y="3546702"/>
            <a:ext cx="172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The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unfortunate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day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23637" y="3209038"/>
            <a:ext cx="30987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Amy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experiences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severe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cramps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on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the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first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day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of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her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period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and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could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not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work</a:t>
            </a:r>
            <a:endParaRPr lang="zh-TW" altLang="en-US" sz="1600"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She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applies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leave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and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visits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the</a:t>
            </a:r>
            <a:r>
              <a:rPr lang="zh-TW" altLang="en-US" sz="160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600">
                <a:latin typeface="Calibri" charset="0"/>
                <a:ea typeface="Calibri" charset="0"/>
                <a:cs typeface="Calibri" charset="0"/>
              </a:rPr>
              <a:t>doctor</a:t>
            </a:r>
            <a:endParaRPr lang="en-US" sz="16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29133" y="3239702"/>
            <a:ext cx="5493275" cy="1295115"/>
          </a:xfrm>
          <a:prstGeom prst="rect">
            <a:avLst/>
          </a:prstGeom>
          <a:noFill/>
          <a:ln w="28575">
            <a:solidFill>
              <a:srgbClr val="0637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424233" y="2994727"/>
            <a:ext cx="485774" cy="491847"/>
          </a:xfrm>
          <a:prstGeom prst="ellipse">
            <a:avLst/>
          </a:prstGeom>
          <a:solidFill>
            <a:srgbClr val="06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21029" y="3057201"/>
            <a:ext cx="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54396" y="5261840"/>
            <a:ext cx="172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Compensation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26" name="Picture 2" descr="ainful asian womançåçæå°çµæ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30" y="1474095"/>
            <a:ext cx="3089208" cy="205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BFA3C0B5-38AF-47C8-A4CA-E03517F49DD8}"/>
              </a:ext>
            </a:extLst>
          </p:cNvPr>
          <p:cNvGrpSpPr/>
          <p:nvPr/>
        </p:nvGrpSpPr>
        <p:grpSpPr>
          <a:xfrm>
            <a:off x="419380" y="1190273"/>
            <a:ext cx="11472583" cy="376041"/>
            <a:chOff x="533400" y="1316950"/>
            <a:chExt cx="4997520" cy="3760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CDDB202-A576-4E2C-A811-3E99FDE05217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A2990EC-2735-42BA-A305-EF3457963A77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Customer journey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925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AC1A8D-C07C-4075-899B-C8EC937487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BF6886-5499-4921-A118-A877F5B5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Omni-channel customer journey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88E14-6187-4EE1-9E9F-D7F39F5CB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1604-5F06-4496-ACD5-227CB2789B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Walkthrough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0B4B986-E85A-485B-9BD1-3160827E9F73}"/>
              </a:ext>
            </a:extLst>
          </p:cNvPr>
          <p:cNvGrpSpPr/>
          <p:nvPr/>
        </p:nvGrpSpPr>
        <p:grpSpPr>
          <a:xfrm>
            <a:off x="1953927" y="1151265"/>
            <a:ext cx="9970486" cy="2443817"/>
            <a:chOff x="1953927" y="1151265"/>
            <a:chExt cx="9970486" cy="244381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D81472F-573B-47AF-BE68-CE2F7D0EF052}"/>
                </a:ext>
              </a:extLst>
            </p:cNvPr>
            <p:cNvSpPr/>
            <p:nvPr/>
          </p:nvSpPr>
          <p:spPr>
            <a:xfrm>
              <a:off x="1953929" y="1151265"/>
              <a:ext cx="9970484" cy="285042"/>
            </a:xfrm>
            <a:prstGeom prst="rect">
              <a:avLst/>
            </a:prstGeom>
            <a:solidFill>
              <a:srgbClr val="073779"/>
            </a:solidFill>
            <a:ln>
              <a:solidFill>
                <a:srgbClr val="115E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400" b="1" i="1">
                  <a:solidFill>
                    <a:schemeClr val="bg1"/>
                  </a:solidFill>
                </a:rPr>
                <a:t>Illustrated user journey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8D06F4-9B4F-4662-BE89-492D17DA0E0A}"/>
                </a:ext>
              </a:extLst>
            </p:cNvPr>
            <p:cNvSpPr/>
            <p:nvPr/>
          </p:nvSpPr>
          <p:spPr>
            <a:xfrm>
              <a:off x="1953927" y="1151265"/>
              <a:ext cx="9970483" cy="2443817"/>
            </a:xfrm>
            <a:prstGeom prst="rect">
              <a:avLst/>
            </a:prstGeom>
            <a:noFill/>
            <a:ln w="19050">
              <a:solidFill>
                <a:srgbClr val="0737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32737E5-5875-4CB7-BF39-3DDCDC7C8596}"/>
              </a:ext>
            </a:extLst>
          </p:cNvPr>
          <p:cNvGrpSpPr/>
          <p:nvPr/>
        </p:nvGrpSpPr>
        <p:grpSpPr>
          <a:xfrm>
            <a:off x="263525" y="1637798"/>
            <a:ext cx="1690399" cy="1676261"/>
            <a:chOff x="263525" y="1637798"/>
            <a:chExt cx="1690399" cy="1676261"/>
          </a:xfrm>
        </p:grpSpPr>
        <p:pic>
          <p:nvPicPr>
            <p:cNvPr id="73" name="Picture 4" descr="Image result for store icon">
              <a:extLst>
                <a:ext uri="{FF2B5EF4-FFF2-40B4-BE49-F238E27FC236}">
                  <a16:creationId xmlns:a16="http://schemas.microsoft.com/office/drawing/2014/main" id="{DCB13876-B1FC-4A16-95EC-9F9080D20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107" y="1637798"/>
              <a:ext cx="891941" cy="891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59CF408-73FB-400A-9BB5-BE443BAA8CE0}"/>
                </a:ext>
              </a:extLst>
            </p:cNvPr>
            <p:cNvSpPr/>
            <p:nvPr/>
          </p:nvSpPr>
          <p:spPr>
            <a:xfrm>
              <a:off x="263525" y="2820251"/>
              <a:ext cx="1690399" cy="4938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b="1" i="1">
                  <a:solidFill>
                    <a:schemeClr val="tx1"/>
                  </a:solidFill>
                </a:rPr>
                <a:t>Store experience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8D5843E-74CB-4EDC-8EFC-B439ED1FBCEB}"/>
              </a:ext>
            </a:extLst>
          </p:cNvPr>
          <p:cNvGrpSpPr/>
          <p:nvPr/>
        </p:nvGrpSpPr>
        <p:grpSpPr>
          <a:xfrm>
            <a:off x="263525" y="4146832"/>
            <a:ext cx="1690399" cy="1935339"/>
            <a:chOff x="263525" y="4146832"/>
            <a:chExt cx="1690399" cy="1935339"/>
          </a:xfrm>
        </p:grpSpPr>
        <p:pic>
          <p:nvPicPr>
            <p:cNvPr id="76" name="Picture 2" descr="Image result for mobile phone icon">
              <a:extLst>
                <a:ext uri="{FF2B5EF4-FFF2-40B4-BE49-F238E27FC236}">
                  <a16:creationId xmlns:a16="http://schemas.microsoft.com/office/drawing/2014/main" id="{DC2FE595-E095-4322-979B-99E5B14DBC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2" t="12220" r="26669" b="11015"/>
            <a:stretch/>
          </p:blipFill>
          <p:spPr bwMode="auto">
            <a:xfrm>
              <a:off x="728400" y="4146832"/>
              <a:ext cx="760648" cy="126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D6AAC45-FC7C-4C5C-B74F-58C11C0DF547}"/>
                </a:ext>
              </a:extLst>
            </p:cNvPr>
            <p:cNvSpPr/>
            <p:nvPr/>
          </p:nvSpPr>
          <p:spPr>
            <a:xfrm>
              <a:off x="263525" y="5588363"/>
              <a:ext cx="1690399" cy="4938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b="1" i="1">
                  <a:solidFill>
                    <a:schemeClr val="tx1"/>
                  </a:solidFill>
                </a:rPr>
                <a:t>IUIGA App interactions</a:t>
              </a:r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33E805CC-B9A9-4D1F-8F6E-9C3ACC77C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210" y="4536266"/>
            <a:ext cx="408386" cy="408386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823F85B-69A0-41A9-9A87-FBE4E2B70F22}"/>
              </a:ext>
            </a:extLst>
          </p:cNvPr>
          <p:cNvCxnSpPr>
            <a:cxnSpLocks/>
          </p:cNvCxnSpPr>
          <p:nvPr/>
        </p:nvCxnSpPr>
        <p:spPr>
          <a:xfrm>
            <a:off x="3892546" y="4226349"/>
            <a:ext cx="0" cy="19556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96CEDDF-33B5-4052-9D8C-AAE4FFC8EE3B}"/>
              </a:ext>
            </a:extLst>
          </p:cNvPr>
          <p:cNvGrpSpPr/>
          <p:nvPr/>
        </p:nvGrpSpPr>
        <p:grpSpPr>
          <a:xfrm>
            <a:off x="2062866" y="1604879"/>
            <a:ext cx="1557952" cy="2314964"/>
            <a:chOff x="2062866" y="1604879"/>
            <a:chExt cx="1557952" cy="2314964"/>
          </a:xfrm>
        </p:grpSpPr>
        <p:pic>
          <p:nvPicPr>
            <p:cNvPr id="81" name="Picture 4" descr="Image result for beacon icon">
              <a:extLst>
                <a:ext uri="{FF2B5EF4-FFF2-40B4-BE49-F238E27FC236}">
                  <a16:creationId xmlns:a16="http://schemas.microsoft.com/office/drawing/2014/main" id="{C4115597-8AD5-4B46-9E2F-950EBAB58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4107" y="2051176"/>
              <a:ext cx="396928" cy="396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E1A6C5C-360E-4312-8B4A-BB5E40018D49}"/>
                </a:ext>
              </a:extLst>
            </p:cNvPr>
            <p:cNvGrpSpPr/>
            <p:nvPr/>
          </p:nvGrpSpPr>
          <p:grpSpPr>
            <a:xfrm>
              <a:off x="2062866" y="1604879"/>
              <a:ext cx="1557952" cy="2314964"/>
              <a:chOff x="2062866" y="1604879"/>
              <a:chExt cx="1557952" cy="2314964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51130D76-93C5-408F-B03F-AE08AE1EDC58}"/>
                  </a:ext>
                </a:extLst>
              </p:cNvPr>
              <p:cNvGrpSpPr/>
              <p:nvPr/>
            </p:nvGrpSpPr>
            <p:grpSpPr>
              <a:xfrm>
                <a:off x="2062866" y="1604879"/>
                <a:ext cx="1557952" cy="1578325"/>
                <a:chOff x="1995491" y="3982318"/>
                <a:chExt cx="1557952" cy="1578325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D5CF998B-1081-49FD-A65E-241D2E1713B2}"/>
                    </a:ext>
                  </a:extLst>
                </p:cNvPr>
                <p:cNvSpPr/>
                <p:nvPr/>
              </p:nvSpPr>
              <p:spPr>
                <a:xfrm>
                  <a:off x="2008806" y="3982318"/>
                  <a:ext cx="1544637" cy="2850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HK" sz="1600" b="1">
                      <a:solidFill>
                        <a:schemeClr val="tx1"/>
                      </a:solidFill>
                    </a:rPr>
                    <a:t>Identification</a:t>
                  </a: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673C959B-1014-4F32-BA86-96DBB6601A26}"/>
                    </a:ext>
                  </a:extLst>
                </p:cNvPr>
                <p:cNvSpPr/>
                <p:nvPr/>
              </p:nvSpPr>
              <p:spPr>
                <a:xfrm>
                  <a:off x="2383979" y="4782898"/>
                  <a:ext cx="794290" cy="3142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HK" sz="1400">
                      <a:solidFill>
                        <a:schemeClr val="tx1"/>
                      </a:solidFill>
                    </a:rPr>
                    <a:t>Beacons</a:t>
                  </a: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7689C328-0781-4FFD-9624-732522F77F7B}"/>
                    </a:ext>
                  </a:extLst>
                </p:cNvPr>
                <p:cNvSpPr/>
                <p:nvPr/>
              </p:nvSpPr>
              <p:spPr>
                <a:xfrm>
                  <a:off x="1995491" y="5184392"/>
                  <a:ext cx="1544637" cy="37625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HK" sz="1100">
                      <a:solidFill>
                        <a:schemeClr val="tx1"/>
                      </a:solidFill>
                    </a:rPr>
                    <a:t>Walking into </a:t>
                  </a:r>
                </a:p>
                <a:p>
                  <a:pPr algn="ctr"/>
                  <a:r>
                    <a:rPr lang="en-HK" sz="1100">
                      <a:solidFill>
                        <a:schemeClr val="tx1"/>
                      </a:solidFill>
                    </a:rPr>
                    <a:t>IUIGA Space</a:t>
                  </a:r>
                </a:p>
              </p:txBody>
            </p:sp>
          </p:grpSp>
          <p:pic>
            <p:nvPicPr>
              <p:cNvPr id="84" name="Picture 4" descr="Image result for footsteps icon png">
                <a:extLst>
                  <a:ext uri="{FF2B5EF4-FFF2-40B4-BE49-F238E27FC236}">
                    <a16:creationId xmlns:a16="http://schemas.microsoft.com/office/drawing/2014/main" id="{9F1DFEFF-52BA-40E7-8A69-9050416494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81615" y="3365311"/>
                <a:ext cx="554532" cy="5545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F90C8BA-FE84-481F-B64E-B5DC8CCEA29F}"/>
              </a:ext>
            </a:extLst>
          </p:cNvPr>
          <p:cNvGrpSpPr/>
          <p:nvPr/>
        </p:nvGrpSpPr>
        <p:grpSpPr>
          <a:xfrm>
            <a:off x="10341518" y="2391147"/>
            <a:ext cx="1544637" cy="1490174"/>
            <a:chOff x="10341518" y="2391147"/>
            <a:chExt cx="1544637" cy="1490174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7DB066F-3342-46A6-8732-F8E5CDD81F3D}"/>
                </a:ext>
              </a:extLst>
            </p:cNvPr>
            <p:cNvGrpSpPr/>
            <p:nvPr/>
          </p:nvGrpSpPr>
          <p:grpSpPr>
            <a:xfrm>
              <a:off x="10341518" y="2391147"/>
              <a:ext cx="1544637" cy="982783"/>
              <a:chOff x="10341518" y="2391147"/>
              <a:chExt cx="1544637" cy="982783"/>
            </a:xfrm>
          </p:grpSpPr>
          <p:sp>
            <p:nvSpPr>
              <p:cNvPr id="91" name="Arrow: Curved Left 90">
                <a:extLst>
                  <a:ext uri="{FF2B5EF4-FFF2-40B4-BE49-F238E27FC236}">
                    <a16:creationId xmlns:a16="http://schemas.microsoft.com/office/drawing/2014/main" id="{293FA4C8-A288-4F16-948A-3D32E36885E6}"/>
                  </a:ext>
                </a:extLst>
              </p:cNvPr>
              <p:cNvSpPr/>
              <p:nvPr/>
            </p:nvSpPr>
            <p:spPr>
              <a:xfrm rot="20162758">
                <a:off x="10997834" y="2391147"/>
                <a:ext cx="369608" cy="606390"/>
              </a:xfrm>
              <a:prstGeom prst="curvedLeftArrow">
                <a:avLst/>
              </a:prstGeom>
              <a:solidFill>
                <a:srgbClr val="FE5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B2496ED-E277-4B7D-886E-A089DEB67DFC}"/>
                  </a:ext>
                </a:extLst>
              </p:cNvPr>
              <p:cNvSpPr/>
              <p:nvPr/>
            </p:nvSpPr>
            <p:spPr>
              <a:xfrm>
                <a:off x="10341518" y="3088888"/>
                <a:ext cx="1544637" cy="2850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HK" sz="1400" b="1">
                    <a:solidFill>
                      <a:srgbClr val="FE5C51"/>
                    </a:solidFill>
                  </a:rPr>
                  <a:t>Retained loyal customer</a:t>
                </a:r>
              </a:p>
            </p:txBody>
          </p:sp>
        </p:grpSp>
        <p:pic>
          <p:nvPicPr>
            <p:cNvPr id="90" name="Picture 4" descr="Image result for footsteps icon png">
              <a:extLst>
                <a:ext uri="{FF2B5EF4-FFF2-40B4-BE49-F238E27FC236}">
                  <a16:creationId xmlns:a16="http://schemas.microsoft.com/office/drawing/2014/main" id="{1C9035DC-F422-4CCA-99C4-E2D931FC2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10972878" y="3478129"/>
              <a:ext cx="403192" cy="403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4E9552E-4AB2-4142-B8C2-70B0DF3428BF}"/>
              </a:ext>
            </a:extLst>
          </p:cNvPr>
          <p:cNvGrpSpPr/>
          <p:nvPr/>
        </p:nvGrpSpPr>
        <p:grpSpPr>
          <a:xfrm>
            <a:off x="3992487" y="4146831"/>
            <a:ext cx="1907799" cy="1618632"/>
            <a:chOff x="3992487" y="4146831"/>
            <a:chExt cx="1907799" cy="1618632"/>
          </a:xfrm>
        </p:grpSpPr>
        <p:pic>
          <p:nvPicPr>
            <p:cNvPr id="94" name="Picture 2" descr="Image result for mobile phone icon">
              <a:extLst>
                <a:ext uri="{FF2B5EF4-FFF2-40B4-BE49-F238E27FC236}">
                  <a16:creationId xmlns:a16="http://schemas.microsoft.com/office/drawing/2014/main" id="{79EBBA21-C481-4DF3-9C74-438779446F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2" t="12220" r="26669" b="11015"/>
            <a:stretch/>
          </p:blipFill>
          <p:spPr bwMode="auto">
            <a:xfrm>
              <a:off x="4574254" y="4146831"/>
              <a:ext cx="760648" cy="126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6" descr="Image result for turn right icon">
              <a:extLst>
                <a:ext uri="{FF2B5EF4-FFF2-40B4-BE49-F238E27FC236}">
                  <a16:creationId xmlns:a16="http://schemas.microsoft.com/office/drawing/2014/main" id="{2F1FA8B2-3BD7-4E30-A769-482363D27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8608" y="4508938"/>
              <a:ext cx="536136" cy="536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3F82D01-7CAB-4B4F-A4A0-59FC03FADB3E}"/>
                </a:ext>
              </a:extLst>
            </p:cNvPr>
            <p:cNvSpPr/>
            <p:nvPr/>
          </p:nvSpPr>
          <p:spPr>
            <a:xfrm>
              <a:off x="3992487" y="5418527"/>
              <a:ext cx="1907799" cy="3469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200" b="1">
                  <a:solidFill>
                    <a:schemeClr val="tx1"/>
                  </a:solidFill>
                </a:rPr>
                <a:t>AR</a:t>
              </a:r>
              <a:r>
                <a:rPr lang="en-HK" sz="1200">
                  <a:solidFill>
                    <a:schemeClr val="tx1"/>
                  </a:solidFill>
                </a:rPr>
                <a:t> immersive store navigation</a:t>
              </a:r>
            </a:p>
            <a:p>
              <a:r>
                <a:rPr lang="en-HK" sz="1200">
                  <a:solidFill>
                    <a:schemeClr val="tx1"/>
                  </a:solidFill>
                </a:rPr>
                <a:t>(Customers can also request for staff assistance)</a:t>
              </a: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2763FCC-CA93-41D8-AAE7-6BFC8B9B05B5}"/>
              </a:ext>
            </a:extLst>
          </p:cNvPr>
          <p:cNvCxnSpPr>
            <a:cxnSpLocks/>
          </p:cNvCxnSpPr>
          <p:nvPr/>
        </p:nvCxnSpPr>
        <p:spPr>
          <a:xfrm>
            <a:off x="5998875" y="4212932"/>
            <a:ext cx="0" cy="19556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AB1995-BF50-427E-9012-873CC761E705}"/>
              </a:ext>
            </a:extLst>
          </p:cNvPr>
          <p:cNvGrpSpPr/>
          <p:nvPr/>
        </p:nvGrpSpPr>
        <p:grpSpPr>
          <a:xfrm>
            <a:off x="6080325" y="4146831"/>
            <a:ext cx="1907799" cy="1618632"/>
            <a:chOff x="6080325" y="4146831"/>
            <a:chExt cx="1907799" cy="1618632"/>
          </a:xfrm>
        </p:grpSpPr>
        <p:pic>
          <p:nvPicPr>
            <p:cNvPr id="99" name="Picture 2" descr="Image result for mobile phone icon">
              <a:extLst>
                <a:ext uri="{FF2B5EF4-FFF2-40B4-BE49-F238E27FC236}">
                  <a16:creationId xmlns:a16="http://schemas.microsoft.com/office/drawing/2014/main" id="{3A3D9598-92E6-4CA7-B8B7-9879792DEF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2" t="12220" r="26669" b="11015"/>
            <a:stretch/>
          </p:blipFill>
          <p:spPr bwMode="auto">
            <a:xfrm>
              <a:off x="6643505" y="4146831"/>
              <a:ext cx="760648" cy="126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8" descr="Image result for promotions icon">
              <a:extLst>
                <a:ext uri="{FF2B5EF4-FFF2-40B4-BE49-F238E27FC236}">
                  <a16:creationId xmlns:a16="http://schemas.microsoft.com/office/drawing/2014/main" id="{015D6340-2343-4915-8E66-4F4634E699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682" y="4508938"/>
              <a:ext cx="448873" cy="448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E62596C-77E1-410F-B3E1-2DE3413973A8}"/>
                </a:ext>
              </a:extLst>
            </p:cNvPr>
            <p:cNvSpPr/>
            <p:nvPr/>
          </p:nvSpPr>
          <p:spPr>
            <a:xfrm>
              <a:off x="6080325" y="5418527"/>
              <a:ext cx="1907799" cy="3469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200" b="1">
                  <a:solidFill>
                    <a:schemeClr val="tx1"/>
                  </a:solidFill>
                </a:rPr>
                <a:t>Promotions</a:t>
              </a:r>
              <a:r>
                <a:rPr lang="en-HK" sz="1200">
                  <a:solidFill>
                    <a:schemeClr val="tx1"/>
                  </a:solidFill>
                </a:rPr>
                <a:t> information to stimulate impulse purchases</a:t>
              </a:r>
            </a:p>
          </p:txBody>
        </p: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5B2FACC-A1AA-464A-BFC6-E941C2C6A161}"/>
              </a:ext>
            </a:extLst>
          </p:cNvPr>
          <p:cNvCxnSpPr>
            <a:cxnSpLocks/>
          </p:cNvCxnSpPr>
          <p:nvPr/>
        </p:nvCxnSpPr>
        <p:spPr>
          <a:xfrm>
            <a:off x="8007253" y="4212932"/>
            <a:ext cx="0" cy="195566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5B80A1C-7973-462F-8FF1-2E5B045831EF}"/>
              </a:ext>
            </a:extLst>
          </p:cNvPr>
          <p:cNvGrpSpPr/>
          <p:nvPr/>
        </p:nvGrpSpPr>
        <p:grpSpPr>
          <a:xfrm>
            <a:off x="8423806" y="4146830"/>
            <a:ext cx="1907799" cy="1618633"/>
            <a:chOff x="8423806" y="4146830"/>
            <a:chExt cx="1907799" cy="1618633"/>
          </a:xfrm>
        </p:grpSpPr>
        <p:pic>
          <p:nvPicPr>
            <p:cNvPr id="104" name="Picture 2" descr="Image result for mobile phone icon">
              <a:extLst>
                <a:ext uri="{FF2B5EF4-FFF2-40B4-BE49-F238E27FC236}">
                  <a16:creationId xmlns:a16="http://schemas.microsoft.com/office/drawing/2014/main" id="{D0CADFE7-8D31-4B8B-A504-B42FCAEF90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2" t="12220" r="26669" b="11015"/>
            <a:stretch/>
          </p:blipFill>
          <p:spPr bwMode="auto">
            <a:xfrm>
              <a:off x="8997382" y="4146830"/>
              <a:ext cx="760648" cy="126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Picture 10" descr="Image result for purchase button icon">
              <a:extLst>
                <a:ext uri="{FF2B5EF4-FFF2-40B4-BE49-F238E27FC236}">
                  <a16:creationId xmlns:a16="http://schemas.microsoft.com/office/drawing/2014/main" id="{12D9F2DF-6C6A-47FF-BD46-22CF90518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3813" y="4463335"/>
              <a:ext cx="527786" cy="527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BD91B50-1EC1-463C-9797-0019762CB632}"/>
                </a:ext>
              </a:extLst>
            </p:cNvPr>
            <p:cNvSpPr/>
            <p:nvPr/>
          </p:nvSpPr>
          <p:spPr>
            <a:xfrm>
              <a:off x="8423806" y="5418527"/>
              <a:ext cx="1907799" cy="3469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HK" sz="1200">
                  <a:solidFill>
                    <a:schemeClr val="tx1"/>
                  </a:solidFill>
                </a:rPr>
                <a:t> Customers click purchase on IUIGA App; products delivered directly to their home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9A0CFEC-6403-4E23-923B-2BDF4D4C65EB}"/>
              </a:ext>
            </a:extLst>
          </p:cNvPr>
          <p:cNvGrpSpPr/>
          <p:nvPr/>
        </p:nvGrpSpPr>
        <p:grpSpPr>
          <a:xfrm>
            <a:off x="7854375" y="1599068"/>
            <a:ext cx="2663394" cy="1597434"/>
            <a:chOff x="7854375" y="1599068"/>
            <a:chExt cx="2663394" cy="1597434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3390326-F936-44C7-8FF2-96D42C0E74E4}"/>
                </a:ext>
              </a:extLst>
            </p:cNvPr>
            <p:cNvGrpSpPr/>
            <p:nvPr/>
          </p:nvGrpSpPr>
          <p:grpSpPr>
            <a:xfrm>
              <a:off x="7854375" y="1599068"/>
              <a:ext cx="2663394" cy="1597434"/>
              <a:chOff x="7787000" y="3976507"/>
              <a:chExt cx="2663394" cy="1597434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1C33EAD-07C5-4BF5-AACA-F5E9372F1B13}"/>
                  </a:ext>
                </a:extLst>
              </p:cNvPr>
              <p:cNvSpPr/>
              <p:nvPr/>
            </p:nvSpPr>
            <p:spPr>
              <a:xfrm>
                <a:off x="8538013" y="3976507"/>
                <a:ext cx="1544637" cy="2850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HK" sz="1600" b="1">
                    <a:solidFill>
                      <a:schemeClr val="tx1"/>
                    </a:solidFill>
                  </a:rPr>
                  <a:t>Purchase</a:t>
                </a:r>
              </a:p>
            </p:txBody>
          </p:sp>
          <p:pic>
            <p:nvPicPr>
              <p:cNvPr id="111" name="Picture 4" descr="Image result for footsteps icon png">
                <a:extLst>
                  <a:ext uri="{FF2B5EF4-FFF2-40B4-BE49-F238E27FC236}">
                    <a16:creationId xmlns:a16="http://schemas.microsoft.com/office/drawing/2014/main" id="{4C680B07-B0F7-46DF-A73F-80685723D4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7787000" y="4616057"/>
                <a:ext cx="285042" cy="2850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BF5B196-A8A1-461B-A996-5F691E8F912B}"/>
                  </a:ext>
                </a:extLst>
              </p:cNvPr>
              <p:cNvSpPr/>
              <p:nvPr/>
            </p:nvSpPr>
            <p:spPr>
              <a:xfrm>
                <a:off x="8295102" y="5197690"/>
                <a:ext cx="2155292" cy="3762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1100" b="1">
                    <a:solidFill>
                      <a:schemeClr val="tx1"/>
                    </a:solidFill>
                  </a:rPr>
                  <a:t>Next-day delivery</a:t>
                </a:r>
                <a:r>
                  <a:rPr lang="en-HK" sz="1100">
                    <a:solidFill>
                      <a:schemeClr val="tx1"/>
                    </a:solidFill>
                  </a:rPr>
                  <a:t>; </a:t>
                </a:r>
              </a:p>
              <a:p>
                <a:pPr algn="ctr"/>
                <a:r>
                  <a:rPr lang="en-HK" sz="1100">
                    <a:solidFill>
                      <a:schemeClr val="tx1"/>
                    </a:solidFill>
                  </a:rPr>
                  <a:t>Walking out hands-free</a:t>
                </a:r>
              </a:p>
            </p:txBody>
          </p:sp>
        </p:grpSp>
        <p:pic>
          <p:nvPicPr>
            <p:cNvPr id="109" name="Picture 12" descr="Image result for delivery icon">
              <a:extLst>
                <a:ext uri="{FF2B5EF4-FFF2-40B4-BE49-F238E27FC236}">
                  <a16:creationId xmlns:a16="http://schemas.microsoft.com/office/drawing/2014/main" id="{B1481370-EAB4-4062-B62E-EC01E4B3B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0579" y="1950799"/>
              <a:ext cx="834251" cy="834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B8332F3-4882-4F67-9DDF-49998484AC40}"/>
              </a:ext>
            </a:extLst>
          </p:cNvPr>
          <p:cNvGrpSpPr/>
          <p:nvPr/>
        </p:nvGrpSpPr>
        <p:grpSpPr>
          <a:xfrm>
            <a:off x="3607503" y="1595254"/>
            <a:ext cx="2098471" cy="1593555"/>
            <a:chOff x="3607503" y="1595254"/>
            <a:chExt cx="2098471" cy="159355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081AA53-9F5F-4872-8341-9E13B05773E0}"/>
                </a:ext>
              </a:extLst>
            </p:cNvPr>
            <p:cNvGrpSpPr/>
            <p:nvPr/>
          </p:nvGrpSpPr>
          <p:grpSpPr>
            <a:xfrm>
              <a:off x="3607503" y="1595254"/>
              <a:ext cx="2098471" cy="1593555"/>
              <a:chOff x="3540128" y="3972693"/>
              <a:chExt cx="2098471" cy="1593555"/>
            </a:xfrm>
          </p:grpSpPr>
          <p:pic>
            <p:nvPicPr>
              <p:cNvPr id="116" name="Picture 4" descr="Image result for footsteps icon png">
                <a:extLst>
                  <a:ext uri="{FF2B5EF4-FFF2-40B4-BE49-F238E27FC236}">
                    <a16:creationId xmlns:a16="http://schemas.microsoft.com/office/drawing/2014/main" id="{2CC554DD-ABFD-4B1F-A457-981B3BFE7B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3540128" y="4616057"/>
                <a:ext cx="285042" cy="2850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B982B2C-3695-4C67-B223-0E7D7F7AF5E6}"/>
                  </a:ext>
                </a:extLst>
              </p:cNvPr>
              <p:cNvSpPr/>
              <p:nvPr/>
            </p:nvSpPr>
            <p:spPr>
              <a:xfrm>
                <a:off x="4093962" y="3972693"/>
                <a:ext cx="1544637" cy="2850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HK" sz="1600" b="1">
                    <a:solidFill>
                      <a:schemeClr val="tx1"/>
                    </a:solidFill>
                  </a:rPr>
                  <a:t>Navigate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481F73B7-C57E-412B-B266-484BDDFACF4C}"/>
                  </a:ext>
                </a:extLst>
              </p:cNvPr>
              <p:cNvSpPr/>
              <p:nvPr/>
            </p:nvSpPr>
            <p:spPr>
              <a:xfrm>
                <a:off x="4093962" y="5189997"/>
                <a:ext cx="1544637" cy="3762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1100">
                    <a:solidFill>
                      <a:schemeClr val="tx1"/>
                    </a:solidFill>
                  </a:rPr>
                  <a:t>Finding the products on their Wishlist</a:t>
                </a:r>
              </a:p>
            </p:txBody>
          </p:sp>
        </p:grpSp>
        <p:pic>
          <p:nvPicPr>
            <p:cNvPr id="115" name="Picture 14" descr="Image result for navigation icon">
              <a:extLst>
                <a:ext uri="{FF2B5EF4-FFF2-40B4-BE49-F238E27FC236}">
                  <a16:creationId xmlns:a16="http://schemas.microsoft.com/office/drawing/2014/main" id="{38264A4D-8DF5-4FDD-8046-E323163B5B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87"/>
            <a:stretch/>
          </p:blipFill>
          <p:spPr bwMode="auto">
            <a:xfrm>
              <a:off x="4623570" y="2065154"/>
              <a:ext cx="638466" cy="5625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6E7149D-4BF6-48BF-B6E2-88959FA63228}"/>
              </a:ext>
            </a:extLst>
          </p:cNvPr>
          <p:cNvGrpSpPr/>
          <p:nvPr/>
        </p:nvGrpSpPr>
        <p:grpSpPr>
          <a:xfrm>
            <a:off x="5821212" y="1599068"/>
            <a:ext cx="1985333" cy="1589741"/>
            <a:chOff x="5821212" y="1599068"/>
            <a:chExt cx="1985333" cy="1589741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ED67F653-24AF-4E70-B70C-900218FC2A73}"/>
                </a:ext>
              </a:extLst>
            </p:cNvPr>
            <p:cNvGrpSpPr/>
            <p:nvPr/>
          </p:nvGrpSpPr>
          <p:grpSpPr>
            <a:xfrm>
              <a:off x="5821212" y="1599068"/>
              <a:ext cx="1985333" cy="1589741"/>
              <a:chOff x="5753837" y="3976507"/>
              <a:chExt cx="1985333" cy="1589741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52F5D7D0-4B17-4EA0-A668-88ACCB2DE7B3}"/>
                  </a:ext>
                </a:extLst>
              </p:cNvPr>
              <p:cNvSpPr/>
              <p:nvPr/>
            </p:nvSpPr>
            <p:spPr>
              <a:xfrm>
                <a:off x="6194533" y="3976507"/>
                <a:ext cx="1544637" cy="2850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HK" sz="1600" b="1">
                    <a:solidFill>
                      <a:schemeClr val="tx1"/>
                    </a:solidFill>
                  </a:rPr>
                  <a:t>Discover</a:t>
                </a:r>
              </a:p>
            </p:txBody>
          </p:sp>
          <p:pic>
            <p:nvPicPr>
              <p:cNvPr id="123" name="Picture 4" descr="Image result for footsteps icon png">
                <a:extLst>
                  <a:ext uri="{FF2B5EF4-FFF2-40B4-BE49-F238E27FC236}">
                    <a16:creationId xmlns:a16="http://schemas.microsoft.com/office/drawing/2014/main" id="{E79E2182-7FEE-42B3-9D12-48BE3AA0C7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5753837" y="4616057"/>
                <a:ext cx="285042" cy="2850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CFEFECE5-E190-48EB-81DB-E9689B24D2FB}"/>
                  </a:ext>
                </a:extLst>
              </p:cNvPr>
              <p:cNvSpPr/>
              <p:nvPr/>
            </p:nvSpPr>
            <p:spPr>
              <a:xfrm>
                <a:off x="6194532" y="5189997"/>
                <a:ext cx="1544637" cy="3762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1100">
                    <a:solidFill>
                      <a:schemeClr val="tx1"/>
                    </a:solidFill>
                  </a:rPr>
                  <a:t>Discovering new and interesting products</a:t>
                </a:r>
              </a:p>
            </p:txBody>
          </p:sp>
        </p:grpSp>
        <p:pic>
          <p:nvPicPr>
            <p:cNvPr id="121" name="Picture 16" descr="Image result for product icon">
              <a:extLst>
                <a:ext uri="{FF2B5EF4-FFF2-40B4-BE49-F238E27FC236}">
                  <a16:creationId xmlns:a16="http://schemas.microsoft.com/office/drawing/2014/main" id="{9938D6FC-EC4D-4530-A705-FB3AF4365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2788" y="2065129"/>
              <a:ext cx="680660" cy="6806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49842DF-D456-4502-BE5E-270028A61AAE}"/>
              </a:ext>
            </a:extLst>
          </p:cNvPr>
          <p:cNvGrpSpPr/>
          <p:nvPr/>
        </p:nvGrpSpPr>
        <p:grpSpPr>
          <a:xfrm>
            <a:off x="10100793" y="4579438"/>
            <a:ext cx="461624" cy="461624"/>
            <a:chOff x="2964474" y="3126357"/>
            <a:chExt cx="311127" cy="311127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91B3AC4A-0390-4D6D-8F91-A311C0EE9DF8}"/>
                </a:ext>
              </a:extLst>
            </p:cNvPr>
            <p:cNvSpPr/>
            <p:nvPr/>
          </p:nvSpPr>
          <p:spPr>
            <a:xfrm>
              <a:off x="2964474" y="3126357"/>
              <a:ext cx="311127" cy="3111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B347153-8C9E-40DD-8ED2-92CF64E23E26}"/>
                </a:ext>
              </a:extLst>
            </p:cNvPr>
            <p:cNvGrpSpPr/>
            <p:nvPr/>
          </p:nvGrpSpPr>
          <p:grpSpPr>
            <a:xfrm>
              <a:off x="3000351" y="3192075"/>
              <a:ext cx="198734" cy="176187"/>
              <a:chOff x="4769791" y="4117107"/>
              <a:chExt cx="511061" cy="453080"/>
            </a:xfrm>
          </p:grpSpPr>
          <p:sp>
            <p:nvSpPr>
              <p:cNvPr id="128" name="L-Shape 127">
                <a:extLst>
                  <a:ext uri="{FF2B5EF4-FFF2-40B4-BE49-F238E27FC236}">
                    <a16:creationId xmlns:a16="http://schemas.microsoft.com/office/drawing/2014/main" id="{376AB648-3CFE-44DC-A256-15DF181EF41F}"/>
                  </a:ext>
                </a:extLst>
              </p:cNvPr>
              <p:cNvSpPr/>
              <p:nvPr/>
            </p:nvSpPr>
            <p:spPr>
              <a:xfrm rot="13500000">
                <a:off x="4827772" y="4117107"/>
                <a:ext cx="453080" cy="453080"/>
              </a:xfrm>
              <a:prstGeom prst="corner">
                <a:avLst>
                  <a:gd name="adj1" fmla="val 25070"/>
                  <a:gd name="adj2" fmla="val 26587"/>
                </a:avLst>
              </a:prstGeom>
              <a:solidFill>
                <a:srgbClr val="12C286"/>
              </a:solidFill>
              <a:ln>
                <a:solidFill>
                  <a:srgbClr val="12C2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sp>
            <p:nvSpPr>
              <p:cNvPr id="129" name="L-Shape 128">
                <a:extLst>
                  <a:ext uri="{FF2B5EF4-FFF2-40B4-BE49-F238E27FC236}">
                    <a16:creationId xmlns:a16="http://schemas.microsoft.com/office/drawing/2014/main" id="{7021DB7A-AC38-4C3B-A6C2-6BF79148422D}"/>
                  </a:ext>
                </a:extLst>
              </p:cNvPr>
              <p:cNvSpPr/>
              <p:nvPr/>
            </p:nvSpPr>
            <p:spPr>
              <a:xfrm rot="13500000">
                <a:off x="4769791" y="4225795"/>
                <a:ext cx="235705" cy="235705"/>
              </a:xfrm>
              <a:prstGeom prst="corner">
                <a:avLst>
                  <a:gd name="adj1" fmla="val 25070"/>
                  <a:gd name="adj2" fmla="val 26587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</p:grp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4997684-E983-4313-8BEB-8DDA62BB66FD}"/>
              </a:ext>
            </a:extLst>
          </p:cNvPr>
          <p:cNvSpPr/>
          <p:nvPr/>
        </p:nvSpPr>
        <p:spPr>
          <a:xfrm>
            <a:off x="10715835" y="4434460"/>
            <a:ext cx="1208576" cy="685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200" b="1">
                <a:solidFill>
                  <a:schemeClr val="tx1"/>
                </a:solidFill>
              </a:rPr>
              <a:t>Customers trained to purchase through IUIGA App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5CE67D9-E8B6-4C92-AE50-ED308892C988}"/>
              </a:ext>
            </a:extLst>
          </p:cNvPr>
          <p:cNvGrpSpPr/>
          <p:nvPr/>
        </p:nvGrpSpPr>
        <p:grpSpPr>
          <a:xfrm>
            <a:off x="2284016" y="4145305"/>
            <a:ext cx="1373585" cy="2256069"/>
            <a:chOff x="2284016" y="4145305"/>
            <a:chExt cx="1373585" cy="2256069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D11FE7B-EB07-4E73-983D-5DD95EF0D285}"/>
                </a:ext>
              </a:extLst>
            </p:cNvPr>
            <p:cNvGrpSpPr/>
            <p:nvPr/>
          </p:nvGrpSpPr>
          <p:grpSpPr>
            <a:xfrm>
              <a:off x="2284016" y="5433300"/>
              <a:ext cx="1373585" cy="968074"/>
              <a:chOff x="2370643" y="4490024"/>
              <a:chExt cx="1373585" cy="968074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5C1BD6E-A028-4F3B-A19B-2BAF1F309199}"/>
                  </a:ext>
                </a:extLst>
              </p:cNvPr>
              <p:cNvSpPr/>
              <p:nvPr/>
            </p:nvSpPr>
            <p:spPr>
              <a:xfrm>
                <a:off x="2403444" y="4490024"/>
                <a:ext cx="1340784" cy="3396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HK" sz="1200">
                    <a:solidFill>
                      <a:schemeClr val="tx1"/>
                    </a:solidFill>
                  </a:rPr>
                  <a:t>Customers receive push notification</a:t>
                </a:r>
              </a:p>
            </p:txBody>
          </p:sp>
          <p:sp>
            <p:nvSpPr>
              <p:cNvPr id="135" name="Isosceles Triangle 134">
                <a:extLst>
                  <a:ext uri="{FF2B5EF4-FFF2-40B4-BE49-F238E27FC236}">
                    <a16:creationId xmlns:a16="http://schemas.microsoft.com/office/drawing/2014/main" id="{14E6BF06-B81D-4291-AD74-8185A7D76958}"/>
                  </a:ext>
                </a:extLst>
              </p:cNvPr>
              <p:cNvSpPr/>
              <p:nvPr/>
            </p:nvSpPr>
            <p:spPr>
              <a:xfrm flipV="1">
                <a:off x="2806746" y="4966055"/>
                <a:ext cx="468577" cy="138020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ED6CE01-6F56-47FD-9340-C71F7927ED9A}"/>
                  </a:ext>
                </a:extLst>
              </p:cNvPr>
              <p:cNvSpPr/>
              <p:nvPr/>
            </p:nvSpPr>
            <p:spPr>
              <a:xfrm>
                <a:off x="2370643" y="5118426"/>
                <a:ext cx="1340784" cy="3396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HK" sz="1200">
                    <a:solidFill>
                      <a:schemeClr val="tx1"/>
                    </a:solidFill>
                  </a:rPr>
                  <a:t>Approve/ Deny</a:t>
                </a:r>
              </a:p>
            </p:txBody>
          </p:sp>
        </p:grpSp>
        <p:pic>
          <p:nvPicPr>
            <p:cNvPr id="133" name="Picture 2" descr="Image result for mobile phone icon">
              <a:extLst>
                <a:ext uri="{FF2B5EF4-FFF2-40B4-BE49-F238E27FC236}">
                  <a16:creationId xmlns:a16="http://schemas.microsoft.com/office/drawing/2014/main" id="{B6F9376B-58AE-4D6A-B350-6B1399C8F2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2" t="12220" r="26669" b="11015"/>
            <a:stretch/>
          </p:blipFill>
          <p:spPr bwMode="auto">
            <a:xfrm>
              <a:off x="2596176" y="4145305"/>
              <a:ext cx="760648" cy="126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C361ADF-F57E-4F7D-99B9-1270D8D17119}"/>
              </a:ext>
            </a:extLst>
          </p:cNvPr>
          <p:cNvCxnSpPr>
            <a:cxnSpLocks/>
          </p:cNvCxnSpPr>
          <p:nvPr/>
        </p:nvCxnSpPr>
        <p:spPr>
          <a:xfrm>
            <a:off x="1990140" y="4146832"/>
            <a:ext cx="0" cy="2035186"/>
          </a:xfrm>
          <a:prstGeom prst="line">
            <a:avLst/>
          </a:prstGeom>
          <a:ln w="76200">
            <a:solidFill>
              <a:srgbClr val="0737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25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0A98B-088B-4A0D-BB40-4CC9211148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4610B3-8EAD-4C1C-B063-C5C22221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Customer UI and backend CRM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201CA-8269-431E-AFC0-EA8535C19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BF079-E110-4C9D-8593-319D27CA3C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walkthrough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6C2B1D-DD46-4838-9B33-3A7111D6F25B}"/>
              </a:ext>
            </a:extLst>
          </p:cNvPr>
          <p:cNvGrpSpPr/>
          <p:nvPr/>
        </p:nvGrpSpPr>
        <p:grpSpPr>
          <a:xfrm>
            <a:off x="585331" y="1796878"/>
            <a:ext cx="2109346" cy="4249117"/>
            <a:chOff x="198437" y="1364495"/>
            <a:chExt cx="1655763" cy="33354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D5FF11-9C2C-49ED-B8DB-D2B592E6F7D5}"/>
                </a:ext>
              </a:extLst>
            </p:cNvPr>
            <p:cNvSpPr/>
            <p:nvPr/>
          </p:nvSpPr>
          <p:spPr>
            <a:xfrm>
              <a:off x="289560" y="1475274"/>
              <a:ext cx="1452879" cy="41972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8" name="Picture 6" descr="Image result for iphone 11 mockup png">
              <a:extLst>
                <a:ext uri="{FF2B5EF4-FFF2-40B4-BE49-F238E27FC236}">
                  <a16:creationId xmlns:a16="http://schemas.microsoft.com/office/drawing/2014/main" id="{3AF4894D-DE7B-4204-9406-3FEE8C2674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18" t="9053" r="29424" b="9043"/>
            <a:stretch/>
          </p:blipFill>
          <p:spPr bwMode="auto">
            <a:xfrm>
              <a:off x="198437" y="1364495"/>
              <a:ext cx="1655763" cy="3335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947A124-B4D4-4BDC-B700-9DA89ADCA2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321" b="9216"/>
            <a:stretch/>
          </p:blipFill>
          <p:spPr bwMode="auto">
            <a:xfrm>
              <a:off x="305544" y="1820659"/>
              <a:ext cx="1420909" cy="5346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178D80-EC96-475A-9452-1C6D0E39B09B}"/>
                </a:ext>
              </a:extLst>
            </p:cNvPr>
            <p:cNvSpPr/>
            <p:nvPr/>
          </p:nvSpPr>
          <p:spPr>
            <a:xfrm>
              <a:off x="305544" y="1820659"/>
              <a:ext cx="1420909" cy="534671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45000"/>
                  </a:schemeClr>
                </a:gs>
                <a:gs pos="0">
                  <a:srgbClr val="FF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C7F01D-4E62-4BFC-9510-6F8364050D8C}"/>
                </a:ext>
              </a:extLst>
            </p:cNvPr>
            <p:cNvSpPr/>
            <p:nvPr/>
          </p:nvSpPr>
          <p:spPr>
            <a:xfrm>
              <a:off x="305544" y="2216744"/>
              <a:ext cx="1420909" cy="2492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b="1">
                  <a:solidFill>
                    <a:schemeClr val="tx1"/>
                  </a:solidFill>
                  <a:latin typeface="Kaushan Script" panose="03060602040705080205" pitchFamily="66" charset="0"/>
                </a:rPr>
                <a:t>Welcome back!</a:t>
              </a:r>
            </a:p>
          </p:txBody>
        </p:sp>
        <p:pic>
          <p:nvPicPr>
            <p:cNvPr id="12" name="Google Shape;21;p18" descr="Image result for colgate logo">
              <a:extLst>
                <a:ext uri="{FF2B5EF4-FFF2-40B4-BE49-F238E27FC236}">
                  <a16:creationId xmlns:a16="http://schemas.microsoft.com/office/drawing/2014/main" id="{1F45287B-3126-403A-8733-5A90F857B0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4923" y="1645650"/>
              <a:ext cx="697827" cy="249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EC7B848-50E4-4AB2-89D4-9EC73984EED2}"/>
              </a:ext>
            </a:extLst>
          </p:cNvPr>
          <p:cNvSpPr/>
          <p:nvPr/>
        </p:nvSpPr>
        <p:spPr>
          <a:xfrm>
            <a:off x="7585244" y="3806703"/>
            <a:ext cx="412757" cy="775921"/>
          </a:xfrm>
          <a:prstGeom prst="downArrow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FBCB045-ACF8-4C2E-BD73-5F5977BBD03F}"/>
              </a:ext>
            </a:extLst>
          </p:cNvPr>
          <p:cNvSpPr/>
          <p:nvPr/>
        </p:nvSpPr>
        <p:spPr>
          <a:xfrm>
            <a:off x="10152661" y="3806703"/>
            <a:ext cx="412757" cy="775921"/>
          </a:xfrm>
          <a:prstGeom prst="downArrow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121FE01-7321-419D-94F0-DDEE25AE879F}"/>
              </a:ext>
            </a:extLst>
          </p:cNvPr>
          <p:cNvSpPr/>
          <p:nvPr/>
        </p:nvSpPr>
        <p:spPr>
          <a:xfrm>
            <a:off x="5017831" y="3806703"/>
            <a:ext cx="412757" cy="775921"/>
          </a:xfrm>
          <a:prstGeom prst="downArrow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375344-F4CB-45F7-A85C-933FE2860C87}"/>
              </a:ext>
            </a:extLst>
          </p:cNvPr>
          <p:cNvGrpSpPr/>
          <p:nvPr/>
        </p:nvGrpSpPr>
        <p:grpSpPr>
          <a:xfrm>
            <a:off x="2915003" y="3973924"/>
            <a:ext cx="996670" cy="1983432"/>
            <a:chOff x="1937502" y="3073400"/>
            <a:chExt cx="933733" cy="155692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5D941C8-D678-47C5-AA36-284D9B8860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4616" t="2774" r="47479" b="27432"/>
            <a:stretch/>
          </p:blipFill>
          <p:spPr>
            <a:xfrm>
              <a:off x="1937502" y="3073400"/>
              <a:ext cx="933733" cy="1556915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D3B206-DB4B-4A56-9E9C-B5F8DA758783}"/>
                </a:ext>
              </a:extLst>
            </p:cNvPr>
            <p:cNvSpPr/>
            <p:nvPr/>
          </p:nvSpPr>
          <p:spPr>
            <a:xfrm>
              <a:off x="1937502" y="3073400"/>
              <a:ext cx="933733" cy="1556925"/>
            </a:xfrm>
            <a:prstGeom prst="rect">
              <a:avLst/>
            </a:prstGeom>
            <a:solidFill>
              <a:srgbClr val="195E7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HK" sz="2000" b="1"/>
                <a:t>Backend </a:t>
              </a:r>
            </a:p>
            <a:p>
              <a:pPr algn="ctr"/>
              <a:r>
                <a:rPr lang="en-HK" sz="2000" b="1"/>
                <a:t>CRM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21E5E1-47C8-4E73-8FCB-0331ADFC6160}"/>
              </a:ext>
            </a:extLst>
          </p:cNvPr>
          <p:cNvGrpSpPr/>
          <p:nvPr/>
        </p:nvGrpSpPr>
        <p:grpSpPr>
          <a:xfrm>
            <a:off x="2915002" y="1892499"/>
            <a:ext cx="996670" cy="1986609"/>
            <a:chOff x="1937501" y="1439554"/>
            <a:chExt cx="933733" cy="1559419"/>
          </a:xfrm>
        </p:grpSpPr>
        <p:pic>
          <p:nvPicPr>
            <p:cNvPr id="20" name="Picture 8" descr="woman holding iPhone during daytime">
              <a:extLst>
                <a:ext uri="{FF2B5EF4-FFF2-40B4-BE49-F238E27FC236}">
                  <a16:creationId xmlns:a16="http://schemas.microsoft.com/office/drawing/2014/main" id="{DE3A9D62-910A-43E4-9EC0-C04EFC4AF6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47" t="1" r="45218" b="-1"/>
            <a:stretch/>
          </p:blipFill>
          <p:spPr bwMode="auto">
            <a:xfrm>
              <a:off x="1937501" y="1439554"/>
              <a:ext cx="933733" cy="1559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037912B-3A16-4751-B2A7-CC77B81A7516}"/>
                </a:ext>
              </a:extLst>
            </p:cNvPr>
            <p:cNvSpPr/>
            <p:nvPr/>
          </p:nvSpPr>
          <p:spPr>
            <a:xfrm>
              <a:off x="1937501" y="1439554"/>
              <a:ext cx="933733" cy="1556925"/>
            </a:xfrm>
            <a:prstGeom prst="rect">
              <a:avLst/>
            </a:prstGeom>
            <a:solidFill>
              <a:srgbClr val="195E7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HK" sz="2000" b="1"/>
                <a:t>Customer-facing</a:t>
              </a:r>
            </a:p>
          </p:txBody>
        </p:sp>
      </p:grp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96C9C918-FB63-42E1-9E73-1FC4B320F0C1}"/>
              </a:ext>
            </a:extLst>
          </p:cNvPr>
          <p:cNvSpPr/>
          <p:nvPr/>
        </p:nvSpPr>
        <p:spPr>
          <a:xfrm>
            <a:off x="4019531" y="1311120"/>
            <a:ext cx="2409360" cy="442227"/>
          </a:xfrm>
          <a:prstGeom prst="homePlate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b="1"/>
              <a:t>Purchase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04A722-6599-46EB-A11F-2634F3907DDD}"/>
              </a:ext>
            </a:extLst>
          </p:cNvPr>
          <p:cNvSpPr/>
          <p:nvPr/>
        </p:nvSpPr>
        <p:spPr>
          <a:xfrm>
            <a:off x="4019529" y="3973924"/>
            <a:ext cx="7544191" cy="25001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/>
              <a:t>Data collection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8BCBA4AE-2AC9-423A-B8E2-EA8ADDFA88EC}"/>
              </a:ext>
            </a:extLst>
          </p:cNvPr>
          <p:cNvSpPr/>
          <p:nvPr/>
        </p:nvSpPr>
        <p:spPr>
          <a:xfrm>
            <a:off x="6586944" y="1311120"/>
            <a:ext cx="2409360" cy="442227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b="1"/>
              <a:t>Feedback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DAFE12BC-B425-4EA3-9799-31782EAD6DDC}"/>
              </a:ext>
            </a:extLst>
          </p:cNvPr>
          <p:cNvSpPr/>
          <p:nvPr/>
        </p:nvSpPr>
        <p:spPr>
          <a:xfrm>
            <a:off x="9154361" y="1311120"/>
            <a:ext cx="2409360" cy="442227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000" b="1"/>
              <a:t>Reward</a:t>
            </a:r>
          </a:p>
        </p:txBody>
      </p:sp>
      <p:grpSp>
        <p:nvGrpSpPr>
          <p:cNvPr id="26" name="Google Shape;330;p6">
            <a:extLst>
              <a:ext uri="{FF2B5EF4-FFF2-40B4-BE49-F238E27FC236}">
                <a16:creationId xmlns:a16="http://schemas.microsoft.com/office/drawing/2014/main" id="{79AC4A4E-98D2-4EA6-A2E5-A833AC46008B}"/>
              </a:ext>
            </a:extLst>
          </p:cNvPr>
          <p:cNvGrpSpPr/>
          <p:nvPr/>
        </p:nvGrpSpPr>
        <p:grpSpPr>
          <a:xfrm>
            <a:off x="419380" y="1202035"/>
            <a:ext cx="3492291" cy="883677"/>
            <a:chOff x="292101" y="1216812"/>
            <a:chExt cx="5702300" cy="924874"/>
          </a:xfrm>
        </p:grpSpPr>
        <p:grpSp>
          <p:nvGrpSpPr>
            <p:cNvPr id="27" name="Google Shape;331;p6">
              <a:extLst>
                <a:ext uri="{FF2B5EF4-FFF2-40B4-BE49-F238E27FC236}">
                  <a16:creationId xmlns:a16="http://schemas.microsoft.com/office/drawing/2014/main" id="{3F94172F-1908-4CCD-B886-29A5CCFB1BD6}"/>
                </a:ext>
              </a:extLst>
            </p:cNvPr>
            <p:cNvGrpSpPr/>
            <p:nvPr/>
          </p:nvGrpSpPr>
          <p:grpSpPr>
            <a:xfrm>
              <a:off x="292101" y="1216812"/>
              <a:ext cx="5702300" cy="561043"/>
              <a:chOff x="292101" y="1216812"/>
              <a:chExt cx="5702300" cy="561043"/>
            </a:xfrm>
          </p:grpSpPr>
          <p:cxnSp>
            <p:nvCxnSpPr>
              <p:cNvPr id="29" name="Google Shape;332;p6">
                <a:extLst>
                  <a:ext uri="{FF2B5EF4-FFF2-40B4-BE49-F238E27FC236}">
                    <a16:creationId xmlns:a16="http://schemas.microsoft.com/office/drawing/2014/main" id="{F0DEE07E-D6C2-452F-BD72-151316D1360A}"/>
                  </a:ext>
                </a:extLst>
              </p:cNvPr>
              <p:cNvCxnSpPr/>
              <p:nvPr/>
            </p:nvCxnSpPr>
            <p:spPr>
              <a:xfrm>
                <a:off x="292101" y="1777855"/>
                <a:ext cx="57023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1717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0" name="Google Shape;333;p6">
                <a:extLst>
                  <a:ext uri="{FF2B5EF4-FFF2-40B4-BE49-F238E27FC236}">
                    <a16:creationId xmlns:a16="http://schemas.microsoft.com/office/drawing/2014/main" id="{85F1C264-946B-41BB-97D9-327B9DED11FF}"/>
                  </a:ext>
                </a:extLst>
              </p:cNvPr>
              <p:cNvSpPr/>
              <p:nvPr/>
            </p:nvSpPr>
            <p:spPr>
              <a:xfrm>
                <a:off x="292101" y="1216812"/>
                <a:ext cx="5702300" cy="5362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HK" altLang="zh-TW" i="0" u="none" strike="noStrike" cap="none">
                    <a:solidFill>
                      <a:schemeClr val="tx1"/>
                    </a:solidFill>
                    <a:latin typeface="+mn-lt"/>
                    <a:ea typeface="Arial"/>
                    <a:cs typeface="Arial"/>
                    <a:sym typeface="Arial"/>
                  </a:rPr>
                  <a:t>Colgate’s proprietary system</a:t>
                </a:r>
                <a:endParaRPr i="0" u="none" strike="noStrike" cap="none">
                  <a:solidFill>
                    <a:schemeClr val="tx1"/>
                  </a:solidFill>
                  <a:latin typeface="+mn-lt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" name="Google Shape;334;p6">
              <a:extLst>
                <a:ext uri="{FF2B5EF4-FFF2-40B4-BE49-F238E27FC236}">
                  <a16:creationId xmlns:a16="http://schemas.microsoft.com/office/drawing/2014/main" id="{4923752A-2F7E-4F79-B6E4-167A1E5C9DE4}"/>
                </a:ext>
              </a:extLst>
            </p:cNvPr>
            <p:cNvSpPr/>
            <p:nvPr/>
          </p:nvSpPr>
          <p:spPr>
            <a:xfrm>
              <a:off x="292101" y="1777855"/>
              <a:ext cx="5702300" cy="363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i="1" u="none" strike="noStrike" cap="none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7683F41-DD3A-483B-8038-FF7C16C291DE}"/>
              </a:ext>
            </a:extLst>
          </p:cNvPr>
          <p:cNvSpPr/>
          <p:nvPr/>
        </p:nvSpPr>
        <p:spPr>
          <a:xfrm>
            <a:off x="6586943" y="4696589"/>
            <a:ext cx="2409362" cy="661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Product usage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User experience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3862C0-D2D0-4E98-8D97-E6E109697A82}"/>
              </a:ext>
            </a:extLst>
          </p:cNvPr>
          <p:cNvSpPr/>
          <p:nvPr/>
        </p:nvSpPr>
        <p:spPr>
          <a:xfrm>
            <a:off x="9154360" y="4696589"/>
            <a:ext cx="2409362" cy="661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Reactions to different rewards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9954CD-E643-4C78-92B8-962CAA82C516}"/>
              </a:ext>
            </a:extLst>
          </p:cNvPr>
          <p:cNvSpPr/>
          <p:nvPr/>
        </p:nvSpPr>
        <p:spPr>
          <a:xfrm>
            <a:off x="4019529" y="4696589"/>
            <a:ext cx="2409362" cy="661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Purchase basket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Frequency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7AC868-CED4-4F07-888C-59EC15FD129D}"/>
              </a:ext>
            </a:extLst>
          </p:cNvPr>
          <p:cNvSpPr/>
          <p:nvPr/>
        </p:nvSpPr>
        <p:spPr>
          <a:xfrm>
            <a:off x="4019528" y="1892499"/>
            <a:ext cx="2482169" cy="1983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Point of sales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endParaRPr lang="en-HK" sz="600">
              <a:solidFill>
                <a:schemeClr val="tx1"/>
              </a:solidFill>
            </a:endParaRP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Customizable recommended package 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Promotional codes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“Dash button” for repeat purchases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3347EF-1CF9-4455-B2A9-CE31B0F98BED}"/>
              </a:ext>
            </a:extLst>
          </p:cNvPr>
          <p:cNvSpPr/>
          <p:nvPr/>
        </p:nvSpPr>
        <p:spPr>
          <a:xfrm>
            <a:off x="6586943" y="1892499"/>
            <a:ext cx="2482169" cy="1983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Effect monitoring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endParaRPr lang="en-HK" sz="600">
              <a:solidFill>
                <a:schemeClr val="tx1"/>
              </a:solidFill>
            </a:endParaRP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Teeth whitening scores (before/after selfies)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endParaRPr lang="en-HK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31A64B-BDEB-4ABE-8306-2AB82E6359CA}"/>
              </a:ext>
            </a:extLst>
          </p:cNvPr>
          <p:cNvSpPr/>
          <p:nvPr/>
        </p:nvSpPr>
        <p:spPr>
          <a:xfrm>
            <a:off x="9149958" y="1892499"/>
            <a:ext cx="2482169" cy="1983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Engagement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endParaRPr lang="en-HK" sz="600">
              <a:solidFill>
                <a:schemeClr val="tx1"/>
              </a:solidFill>
            </a:endParaRP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Customized rewards based on how much customers purchased</a:t>
            </a:r>
          </a:p>
          <a:p>
            <a:pPr marL="285750" indent="-285750">
              <a:buClr>
                <a:srgbClr val="195E78"/>
              </a:buClr>
              <a:buFont typeface="Wingdings" panose="05000000000000000000" pitchFamily="2" charset="2"/>
              <a:buChar char="§"/>
            </a:pPr>
            <a:r>
              <a:rPr lang="en-HK" sz="1600">
                <a:solidFill>
                  <a:schemeClr val="tx1"/>
                </a:solidFill>
              </a:rPr>
              <a:t>Flexible redemption options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534D3C-D996-4547-BB35-AA07DC4B5BFC}"/>
              </a:ext>
            </a:extLst>
          </p:cNvPr>
          <p:cNvSpPr/>
          <p:nvPr/>
        </p:nvSpPr>
        <p:spPr>
          <a:xfrm>
            <a:off x="4019528" y="5358581"/>
            <a:ext cx="2409359" cy="598762"/>
          </a:xfrm>
          <a:prstGeom prst="rect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Improved inventory management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340102-FBEA-42B2-9977-22BD4B11F1A8}"/>
              </a:ext>
            </a:extLst>
          </p:cNvPr>
          <p:cNvSpPr/>
          <p:nvPr/>
        </p:nvSpPr>
        <p:spPr>
          <a:xfrm>
            <a:off x="6586945" y="5358581"/>
            <a:ext cx="2409359" cy="598762"/>
          </a:xfrm>
          <a:prstGeom prst="rect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Continuous product improvement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5BC963-828E-4F9C-A140-55B97D14DEF5}"/>
              </a:ext>
            </a:extLst>
          </p:cNvPr>
          <p:cNvSpPr/>
          <p:nvPr/>
        </p:nvSpPr>
        <p:spPr>
          <a:xfrm>
            <a:off x="9154362" y="5358581"/>
            <a:ext cx="2409359" cy="598762"/>
          </a:xfrm>
          <a:prstGeom prst="rect">
            <a:avLst/>
          </a:prstGeom>
          <a:solidFill>
            <a:srgbClr val="94C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rgbClr val="195E78"/>
              </a:buClr>
            </a:pPr>
            <a:r>
              <a:rPr lang="en-HK" b="1">
                <a:solidFill>
                  <a:schemeClr val="tx1"/>
                </a:solidFill>
              </a:rPr>
              <a:t>Enhanced incentive program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9ACDB1D-CEC5-4AD0-9475-BE9E1C464095}"/>
              </a:ext>
            </a:extLst>
          </p:cNvPr>
          <p:cNvGrpSpPr/>
          <p:nvPr/>
        </p:nvGrpSpPr>
        <p:grpSpPr>
          <a:xfrm>
            <a:off x="870190" y="3335381"/>
            <a:ext cx="1661745" cy="500453"/>
            <a:chOff x="551513" y="2507870"/>
            <a:chExt cx="1304412" cy="392838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943EA7-FF2E-422A-84C4-CB593E0EF4F8}"/>
                </a:ext>
              </a:extLst>
            </p:cNvPr>
            <p:cNvSpPr/>
            <p:nvPr/>
          </p:nvSpPr>
          <p:spPr>
            <a:xfrm>
              <a:off x="551513" y="2507891"/>
              <a:ext cx="392817" cy="392817"/>
            </a:xfrm>
            <a:prstGeom prst="ellipse">
              <a:avLst/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436F1B7-22CB-4F5B-AB81-91CC84132EC5}"/>
                </a:ext>
              </a:extLst>
            </p:cNvPr>
            <p:cNvSpPr/>
            <p:nvPr/>
          </p:nvSpPr>
          <p:spPr>
            <a:xfrm>
              <a:off x="944330" y="2507870"/>
              <a:ext cx="911595" cy="3928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700" i="1">
                  <a:solidFill>
                    <a:schemeClr val="tx1"/>
                  </a:solidFill>
                </a:rPr>
                <a:t>Way to go, Christy! Keep up the effort.</a:t>
              </a:r>
              <a:endParaRPr lang="en-HK" sz="700" i="1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19307B-2D4E-487F-BE38-140D6AC9CDAE}"/>
              </a:ext>
            </a:extLst>
          </p:cNvPr>
          <p:cNvGrpSpPr/>
          <p:nvPr/>
        </p:nvGrpSpPr>
        <p:grpSpPr>
          <a:xfrm>
            <a:off x="786438" y="3982788"/>
            <a:ext cx="1717974" cy="886088"/>
            <a:chOff x="485771" y="3032384"/>
            <a:chExt cx="1348550" cy="69554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6161698-A314-4EEE-8E1E-6CC43110DFD6}"/>
                </a:ext>
              </a:extLst>
            </p:cNvPr>
            <p:cNvGrpSpPr/>
            <p:nvPr/>
          </p:nvGrpSpPr>
          <p:grpSpPr>
            <a:xfrm>
              <a:off x="555857" y="3100468"/>
              <a:ext cx="1278464" cy="627464"/>
              <a:chOff x="555857" y="3032199"/>
              <a:chExt cx="1278464" cy="627464"/>
            </a:xfrm>
          </p:grpSpPr>
          <p:pic>
            <p:nvPicPr>
              <p:cNvPr id="49" name="Picture 4">
                <a:extLst>
                  <a:ext uri="{FF2B5EF4-FFF2-40B4-BE49-F238E27FC236}">
                    <a16:creationId xmlns:a16="http://schemas.microsoft.com/office/drawing/2014/main" id="{12F5A477-2D6B-411D-B7BD-9435C29C37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clrChange>
                  <a:clrFrom>
                    <a:srgbClr val="F8F8F8"/>
                  </a:clrFrom>
                  <a:clrTo>
                    <a:srgbClr val="F8F8F8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03" t="22548" r="8922" b="55323"/>
              <a:stretch/>
            </p:blipFill>
            <p:spPr bwMode="auto">
              <a:xfrm>
                <a:off x="555857" y="3032199"/>
                <a:ext cx="1262242" cy="6274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59683A1-82AD-46BF-92E0-5B0169C8C449}"/>
                  </a:ext>
                </a:extLst>
              </p:cNvPr>
              <p:cNvSpPr/>
              <p:nvPr/>
            </p:nvSpPr>
            <p:spPr>
              <a:xfrm>
                <a:off x="1288324" y="3152062"/>
                <a:ext cx="545997" cy="3600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B0063E5-B0A1-456E-B6BE-4EA2331CA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8324" y="3063878"/>
                <a:ext cx="0" cy="495271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5E8707C-D6A0-4790-BED6-CA652DCCB19F}"/>
                  </a:ext>
                </a:extLst>
              </p:cNvPr>
              <p:cNvSpPr/>
              <p:nvPr/>
            </p:nvSpPr>
            <p:spPr>
              <a:xfrm>
                <a:off x="1254603" y="3271905"/>
                <a:ext cx="63382" cy="63382"/>
              </a:xfrm>
              <a:prstGeom prst="ellipse">
                <a:avLst/>
              </a:prstGeom>
              <a:solidFill>
                <a:srgbClr val="98BF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D140EDF-9B63-4399-B9CA-D881F79BDB4C}"/>
                  </a:ext>
                </a:extLst>
              </p:cNvPr>
              <p:cNvSpPr/>
              <p:nvPr/>
            </p:nvSpPr>
            <p:spPr>
              <a:xfrm>
                <a:off x="1263435" y="3280737"/>
                <a:ext cx="45719" cy="45719"/>
              </a:xfrm>
              <a:prstGeom prst="ellipse">
                <a:avLst/>
              </a:prstGeom>
              <a:solidFill>
                <a:srgbClr val="2679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DDC4ED7-F015-463B-A411-929366F61885}"/>
                </a:ext>
              </a:extLst>
            </p:cNvPr>
            <p:cNvGrpSpPr/>
            <p:nvPr/>
          </p:nvGrpSpPr>
          <p:grpSpPr>
            <a:xfrm>
              <a:off x="485771" y="3032384"/>
              <a:ext cx="1332000" cy="56965"/>
              <a:chOff x="485771" y="3032384"/>
              <a:chExt cx="1332000" cy="56965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C022164-CC4F-4F7F-B218-823F98A50D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771" y="3067570"/>
                <a:ext cx="1332000" cy="583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782986E-A6C1-4A5E-BBE0-B01778242977}"/>
                  </a:ext>
                </a:extLst>
              </p:cNvPr>
              <p:cNvSpPr/>
              <p:nvPr/>
            </p:nvSpPr>
            <p:spPr>
              <a:xfrm>
                <a:off x="867021" y="3032384"/>
                <a:ext cx="627200" cy="569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00">
                    <a:solidFill>
                      <a:schemeClr val="tx1"/>
                    </a:solidFill>
                  </a:rPr>
                  <a:t>Your whitening journey</a:t>
                </a:r>
                <a:endParaRPr lang="en-HK" sz="30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46" name="Picture 45" descr="A picture containing meter&#10;&#10;Description automatically generated">
              <a:extLst>
                <a:ext uri="{FF2B5EF4-FFF2-40B4-BE49-F238E27FC236}">
                  <a16:creationId xmlns:a16="http://schemas.microsoft.com/office/drawing/2014/main" id="{A23DFFD8-D26B-4B35-A956-20EAB2BC5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82972" y="3293160"/>
              <a:ext cx="324020" cy="31074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704CC7-5C79-4486-8383-C387DED94FA1}"/>
              </a:ext>
            </a:extLst>
          </p:cNvPr>
          <p:cNvGrpSpPr/>
          <p:nvPr/>
        </p:nvGrpSpPr>
        <p:grpSpPr>
          <a:xfrm>
            <a:off x="877683" y="5056057"/>
            <a:ext cx="1492662" cy="394573"/>
            <a:chOff x="557395" y="3922837"/>
            <a:chExt cx="1171688" cy="309726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9252C7C-825E-47F1-95F2-FA3ECBDDE1AE}"/>
                </a:ext>
              </a:extLst>
            </p:cNvPr>
            <p:cNvSpPr/>
            <p:nvPr/>
          </p:nvSpPr>
          <p:spPr>
            <a:xfrm>
              <a:off x="557395" y="3922937"/>
              <a:ext cx="309626" cy="309626"/>
            </a:xfrm>
            <a:prstGeom prst="roundRect">
              <a:avLst/>
            </a:prstGeom>
            <a:solidFill>
              <a:srgbClr val="F7A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56" name="Picture 2" descr="Image result for purchase icon png">
              <a:extLst>
                <a:ext uri="{FF2B5EF4-FFF2-40B4-BE49-F238E27FC236}">
                  <a16:creationId xmlns:a16="http://schemas.microsoft.com/office/drawing/2014/main" id="{43C2EB2C-975A-42AD-9BE1-9BF0C24FD1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345" y="3975346"/>
              <a:ext cx="225793" cy="225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5056764-7CC4-49B6-83A8-0A9387DF0523}"/>
                </a:ext>
              </a:extLst>
            </p:cNvPr>
            <p:cNvSpPr/>
            <p:nvPr/>
          </p:nvSpPr>
          <p:spPr>
            <a:xfrm>
              <a:off x="991086" y="3922837"/>
              <a:ext cx="309626" cy="309626"/>
            </a:xfrm>
            <a:prstGeom prst="roundRect">
              <a:avLst/>
            </a:prstGeom>
            <a:solidFill>
              <a:srgbClr val="F7A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06F1A05-CD02-43E0-8796-11F54D4020A0}"/>
                </a:ext>
              </a:extLst>
            </p:cNvPr>
            <p:cNvSpPr/>
            <p:nvPr/>
          </p:nvSpPr>
          <p:spPr>
            <a:xfrm>
              <a:off x="1419457" y="3922837"/>
              <a:ext cx="309626" cy="309626"/>
            </a:xfrm>
            <a:prstGeom prst="roundRect">
              <a:avLst/>
            </a:prstGeom>
            <a:solidFill>
              <a:srgbClr val="F7A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pic>
          <p:nvPicPr>
            <p:cNvPr id="59" name="Picture 6" descr="Image result for reward icon png">
              <a:extLst>
                <a:ext uri="{FF2B5EF4-FFF2-40B4-BE49-F238E27FC236}">
                  <a16:creationId xmlns:a16="http://schemas.microsoft.com/office/drawing/2014/main" id="{580A35CC-4280-4B6E-8A81-4FA8CAB0A1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7577" y="3977819"/>
              <a:ext cx="226027" cy="220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8" descr="Image result for new icon png">
              <a:extLst>
                <a:ext uri="{FF2B5EF4-FFF2-40B4-BE49-F238E27FC236}">
                  <a16:creationId xmlns:a16="http://schemas.microsoft.com/office/drawing/2014/main" id="{76EE3ED0-DAA9-4DAD-9002-61C6B0E0E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1315" y="3987725"/>
              <a:ext cx="201034" cy="201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382C139B-579B-4C30-B668-D143BF4F6254}"/>
              </a:ext>
            </a:extLst>
          </p:cNvPr>
          <p:cNvSpPr/>
          <p:nvPr/>
        </p:nvSpPr>
        <p:spPr>
          <a:xfrm>
            <a:off x="841055" y="5450502"/>
            <a:ext cx="476284" cy="330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500" b="1">
                <a:solidFill>
                  <a:schemeClr val="tx1"/>
                </a:solidFill>
              </a:rPr>
              <a:t>Indigo Dash</a:t>
            </a:r>
            <a:endParaRPr lang="en-HK" sz="500" b="1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4372F2-2199-456C-B85E-AE6B4740CAF9}"/>
              </a:ext>
            </a:extLst>
          </p:cNvPr>
          <p:cNvSpPr/>
          <p:nvPr/>
        </p:nvSpPr>
        <p:spPr>
          <a:xfrm>
            <a:off x="1355058" y="5450502"/>
            <a:ext cx="535512" cy="330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500" b="1">
                <a:solidFill>
                  <a:schemeClr val="tx1"/>
                </a:solidFill>
              </a:rPr>
              <a:t>Rewards</a:t>
            </a:r>
            <a:endParaRPr lang="en-HK" sz="500" b="1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0E4F27-362E-473F-B30C-52A172438FCA}"/>
              </a:ext>
            </a:extLst>
          </p:cNvPr>
          <p:cNvSpPr/>
          <p:nvPr/>
        </p:nvSpPr>
        <p:spPr>
          <a:xfrm>
            <a:off x="1902741" y="5450502"/>
            <a:ext cx="532054" cy="330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500" b="1">
                <a:solidFill>
                  <a:schemeClr val="tx1"/>
                </a:solidFill>
              </a:rPr>
              <a:t>Discover</a:t>
            </a:r>
            <a:endParaRPr lang="en-HK" sz="500" b="1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1E7BF80-0855-44E0-8827-2A6633CE2554}"/>
              </a:ext>
            </a:extLst>
          </p:cNvPr>
          <p:cNvSpPr/>
          <p:nvPr/>
        </p:nvSpPr>
        <p:spPr>
          <a:xfrm>
            <a:off x="873826" y="3342269"/>
            <a:ext cx="504295" cy="504295"/>
          </a:xfrm>
          <a:prstGeom prst="ellipse">
            <a:avLst/>
          </a:prstGeom>
          <a:blipFill>
            <a:blip r:embed="rId13"/>
            <a:stretch>
              <a:fillRect/>
            </a:stretch>
          </a:blip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6673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7B2EC9E-1229-451E-BB4D-2F453201DC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2C2A41-2228-4543-8ECF-25E9A90F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Phone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6BFBE-1060-4C50-8A3D-C306F3E3E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D48F03-A40B-468A-8A7B-5F6CCB0C71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 err="1"/>
              <a:t>Mockup</a:t>
            </a:r>
            <a:endParaRPr lang="en-H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7CC872-4D05-479A-B71C-4FAB01DC146E}"/>
              </a:ext>
            </a:extLst>
          </p:cNvPr>
          <p:cNvGrpSpPr/>
          <p:nvPr/>
        </p:nvGrpSpPr>
        <p:grpSpPr>
          <a:xfrm>
            <a:off x="218662" y="1054299"/>
            <a:ext cx="2905538" cy="5163644"/>
            <a:chOff x="4825069" y="1832471"/>
            <a:chExt cx="2541862" cy="4517329"/>
          </a:xfrm>
        </p:grpSpPr>
        <p:pic>
          <p:nvPicPr>
            <p:cNvPr id="7" name="Picture 2" descr="Image result for iphone x mockup">
              <a:extLst>
                <a:ext uri="{FF2B5EF4-FFF2-40B4-BE49-F238E27FC236}">
                  <a16:creationId xmlns:a16="http://schemas.microsoft.com/office/drawing/2014/main" id="{12ABB5DC-F8A0-4353-8186-95EA796FE2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200" b="86133" l="35000" r="64550">
                          <a14:backgroundMark x1="41000" y1="21200" x2="59800" y2="807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85" t="15699" r="35538" b="13979"/>
            <a:stretch/>
          </p:blipFill>
          <p:spPr bwMode="auto">
            <a:xfrm>
              <a:off x="4825069" y="1832471"/>
              <a:ext cx="2541862" cy="4517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0" descr="Image result for iphone battery wifi icon">
              <a:extLst>
                <a:ext uri="{FF2B5EF4-FFF2-40B4-BE49-F238E27FC236}">
                  <a16:creationId xmlns:a16="http://schemas.microsoft.com/office/drawing/2014/main" id="{F10C5367-3B9F-4173-B83C-50C493BCCD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86" b="50000"/>
            <a:stretch/>
          </p:blipFill>
          <p:spPr bwMode="auto">
            <a:xfrm>
              <a:off x="6711952" y="2069141"/>
              <a:ext cx="293764" cy="53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0B64843-5E51-42E8-A1C4-647C1C69BB6B}"/>
              </a:ext>
            </a:extLst>
          </p:cNvPr>
          <p:cNvSpPr/>
          <p:nvPr/>
        </p:nvSpPr>
        <p:spPr>
          <a:xfrm>
            <a:off x="6361043" y="1832598"/>
            <a:ext cx="5530920" cy="480664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Title box (20 </a:t>
            </a:r>
            <a:r>
              <a:rPr lang="en-US" sz="2000" b="1" err="1"/>
              <a:t>pt</a:t>
            </a:r>
            <a:r>
              <a:rPr lang="en-US" sz="2000" b="1"/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287F3A-B271-4E64-B946-EB359F1C1E50}"/>
              </a:ext>
            </a:extLst>
          </p:cNvPr>
          <p:cNvGrpSpPr/>
          <p:nvPr/>
        </p:nvGrpSpPr>
        <p:grpSpPr>
          <a:xfrm>
            <a:off x="2670183" y="1787700"/>
            <a:ext cx="3386785" cy="554400"/>
            <a:chOff x="7728339" y="1979301"/>
            <a:chExt cx="3386785" cy="5544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30452B-43C7-42D0-B17D-EC010F86023B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7728339" y="2256501"/>
              <a:ext cx="2832385" cy="0"/>
            </a:xfrm>
            <a:prstGeom prst="line">
              <a:avLst/>
            </a:prstGeom>
            <a:ln w="28575">
              <a:solidFill>
                <a:srgbClr val="115E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BDB2AB-78F3-4500-A41F-CA0717612B67}"/>
                </a:ext>
              </a:extLst>
            </p:cNvPr>
            <p:cNvSpPr/>
            <p:nvPr/>
          </p:nvSpPr>
          <p:spPr>
            <a:xfrm>
              <a:off x="10560724" y="1979301"/>
              <a:ext cx="554400" cy="554400"/>
            </a:xfrm>
            <a:prstGeom prst="ellipse">
              <a:avLst/>
            </a:prstGeom>
            <a:noFill/>
            <a:ln w="28575">
              <a:solidFill>
                <a:srgbClr val="115E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Icon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6D4566A-77AD-4C19-A02A-EC45AB67AD3E}"/>
              </a:ext>
            </a:extLst>
          </p:cNvPr>
          <p:cNvSpPr/>
          <p:nvPr/>
        </p:nvSpPr>
        <p:spPr>
          <a:xfrm>
            <a:off x="3124199" y="2079965"/>
            <a:ext cx="2378369" cy="96154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rgbClr val="115E93"/>
              </a:buClr>
              <a:buFont typeface="Times New Roman" panose="02020603050405020304" pitchFamily="18" charset="0"/>
              <a:buChar char="■"/>
            </a:pPr>
            <a:r>
              <a:rPr lang="en-HK" sz="1400">
                <a:solidFill>
                  <a:schemeClr val="tx1"/>
                </a:solidFill>
                <a:latin typeface="+mj-lt"/>
              </a:rPr>
              <a:t>Content (14 </a:t>
            </a:r>
            <a:r>
              <a:rPr lang="en-HK" sz="1400" err="1">
                <a:solidFill>
                  <a:schemeClr val="tx1"/>
                </a:solidFill>
                <a:latin typeface="+mj-lt"/>
              </a:rPr>
              <a:t>pt</a:t>
            </a:r>
            <a:r>
              <a:rPr lang="en-HK" sz="140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285750" indent="-285750">
              <a:buClr>
                <a:srgbClr val="115E93"/>
              </a:buClr>
              <a:buFont typeface="Times New Roman" panose="02020603050405020304" pitchFamily="18" charset="0"/>
              <a:buChar char="■"/>
            </a:pPr>
            <a:r>
              <a:rPr lang="en-HK" sz="1400">
                <a:solidFill>
                  <a:schemeClr val="tx1"/>
                </a:solidFill>
                <a:latin typeface="+mj-lt"/>
              </a:rPr>
              <a:t>...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A045BE-38E4-4E40-94F3-2490AA56113D}"/>
              </a:ext>
            </a:extLst>
          </p:cNvPr>
          <p:cNvGrpSpPr/>
          <p:nvPr/>
        </p:nvGrpSpPr>
        <p:grpSpPr>
          <a:xfrm>
            <a:off x="2670183" y="3816492"/>
            <a:ext cx="3386785" cy="554400"/>
            <a:chOff x="7728339" y="1979301"/>
            <a:chExt cx="3386785" cy="5544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960556-2152-445E-B892-848946FD7BFE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7728339" y="2256501"/>
              <a:ext cx="2832385" cy="0"/>
            </a:xfrm>
            <a:prstGeom prst="line">
              <a:avLst/>
            </a:prstGeom>
            <a:ln w="28575">
              <a:solidFill>
                <a:srgbClr val="115E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2D1C619-5A8D-43E0-9335-D0E9AA86BD33}"/>
                </a:ext>
              </a:extLst>
            </p:cNvPr>
            <p:cNvSpPr/>
            <p:nvPr/>
          </p:nvSpPr>
          <p:spPr>
            <a:xfrm>
              <a:off x="10560724" y="1979301"/>
              <a:ext cx="554400" cy="554400"/>
            </a:xfrm>
            <a:prstGeom prst="ellipse">
              <a:avLst/>
            </a:prstGeom>
            <a:noFill/>
            <a:ln w="28575">
              <a:solidFill>
                <a:srgbClr val="115E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Icon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59A821F-A5DE-495F-AE7A-ED73EA9CB907}"/>
              </a:ext>
            </a:extLst>
          </p:cNvPr>
          <p:cNvSpPr/>
          <p:nvPr/>
        </p:nvSpPr>
        <p:spPr>
          <a:xfrm>
            <a:off x="3124199" y="4108757"/>
            <a:ext cx="2378369" cy="96154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lr>
                <a:srgbClr val="115E93"/>
              </a:buClr>
              <a:buFont typeface="Times New Roman" panose="02020603050405020304" pitchFamily="18" charset="0"/>
              <a:buChar char="■"/>
            </a:pPr>
            <a:r>
              <a:rPr lang="en-HK" sz="1400">
                <a:solidFill>
                  <a:schemeClr val="tx1"/>
                </a:solidFill>
                <a:latin typeface="+mj-lt"/>
              </a:rPr>
              <a:t>Content (14 </a:t>
            </a:r>
            <a:r>
              <a:rPr lang="en-HK" sz="1400" err="1">
                <a:solidFill>
                  <a:schemeClr val="tx1"/>
                </a:solidFill>
                <a:latin typeface="+mj-lt"/>
              </a:rPr>
              <a:t>pt</a:t>
            </a:r>
            <a:r>
              <a:rPr lang="en-HK" sz="140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285750" indent="-285750">
              <a:buClr>
                <a:srgbClr val="115E93"/>
              </a:buClr>
              <a:buFont typeface="Times New Roman" panose="02020603050405020304" pitchFamily="18" charset="0"/>
              <a:buChar char="■"/>
            </a:pPr>
            <a:r>
              <a:rPr lang="en-HK" sz="1400">
                <a:solidFill>
                  <a:schemeClr val="tx1"/>
                </a:solidFill>
                <a:latin typeface="+mj-lt"/>
              </a:rPr>
              <a:t>...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C6C090-34E7-4E17-ABA0-92A5BC17E7EF}"/>
              </a:ext>
            </a:extLst>
          </p:cNvPr>
          <p:cNvGrpSpPr/>
          <p:nvPr/>
        </p:nvGrpSpPr>
        <p:grpSpPr>
          <a:xfrm>
            <a:off x="3124199" y="1190273"/>
            <a:ext cx="8767764" cy="376041"/>
            <a:chOff x="533400" y="1316950"/>
            <a:chExt cx="4997520" cy="37604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D26E5E4-D8A7-414A-A5D5-2F0A493CE1AC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BF8BA1-1257-4241-BB7C-C1C6C51BFD3F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Title (Calibri 18 </a:t>
              </a:r>
              <a:r>
                <a:rPr lang="en-HK" err="1">
                  <a:solidFill>
                    <a:schemeClr val="tx1"/>
                  </a:solidFill>
                </a:rPr>
                <a:t>pt</a:t>
              </a:r>
              <a:r>
                <a:rPr lang="en-HK">
                  <a:solidFill>
                    <a:schemeClr val="tx1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983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0C6B52-B362-4266-BCBF-7CCBD3755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42F7C-0D06-491A-8A37-041A9123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Impact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96CF5-53AA-4656-ADF6-14547A430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5FAA1-E3D8-4193-9F20-5C4660494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 err="1"/>
              <a:t>Mockup</a:t>
            </a:r>
            <a:endParaRPr lang="en-HK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36FC4B-DCDA-43F0-80BE-BE1C5C5EFBF8}"/>
              </a:ext>
            </a:extLst>
          </p:cNvPr>
          <p:cNvGrpSpPr/>
          <p:nvPr/>
        </p:nvGrpSpPr>
        <p:grpSpPr>
          <a:xfrm>
            <a:off x="9660294" y="1865925"/>
            <a:ext cx="1665891" cy="1665891"/>
            <a:chOff x="835572" y="1707356"/>
            <a:chExt cx="1665891" cy="166589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C751C7-6360-4AA2-8857-1952AD458931}"/>
                </a:ext>
              </a:extLst>
            </p:cNvPr>
            <p:cNvSpPr/>
            <p:nvPr/>
          </p:nvSpPr>
          <p:spPr>
            <a:xfrm>
              <a:off x="835572" y="1707356"/>
              <a:ext cx="1665891" cy="1665891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634190E-EFC8-405C-BAE0-BDF565CF6E33}"/>
                </a:ext>
              </a:extLst>
            </p:cNvPr>
            <p:cNvSpPr/>
            <p:nvPr/>
          </p:nvSpPr>
          <p:spPr>
            <a:xfrm>
              <a:off x="1056721" y="1928505"/>
              <a:ext cx="1223593" cy="1223593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59C78B-5A32-4596-849E-622FBAC19533}"/>
                </a:ext>
              </a:extLst>
            </p:cNvPr>
            <p:cNvSpPr/>
            <p:nvPr/>
          </p:nvSpPr>
          <p:spPr>
            <a:xfrm>
              <a:off x="984517" y="1856301"/>
              <a:ext cx="1368000" cy="136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Circle">
                <a:avLst/>
              </a:prstTxWarp>
              <a:noAutofit/>
            </a:bodyPr>
            <a:lstStyle/>
            <a:p>
              <a:pPr algn="l"/>
              <a:r>
                <a:rPr lang="en-HK" spc="400">
                  <a:solidFill>
                    <a:schemeClr val="tx1"/>
                  </a:solidFill>
                </a:rPr>
                <a:t>  ∙  HELPS  END  GLOBAL  POVERTY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054CE3-1061-4D8A-A069-535606503176}"/>
                </a:ext>
              </a:extLst>
            </p:cNvPr>
            <p:cNvGrpSpPr/>
            <p:nvPr/>
          </p:nvGrpSpPr>
          <p:grpSpPr>
            <a:xfrm>
              <a:off x="1156143" y="2189670"/>
              <a:ext cx="1024748" cy="701262"/>
              <a:chOff x="1165768" y="2224376"/>
              <a:chExt cx="1024748" cy="70126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F447EA-77AD-4851-90CC-FC6D0D4D49E8}"/>
                  </a:ext>
                </a:extLst>
              </p:cNvPr>
              <p:cNvSpPr/>
              <p:nvPr/>
            </p:nvSpPr>
            <p:spPr>
              <a:xfrm>
                <a:off x="1165768" y="2231415"/>
                <a:ext cx="820706" cy="427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HK" sz="3200" b="1">
                    <a:solidFill>
                      <a:schemeClr val="tx1"/>
                    </a:solidFill>
                  </a:rPr>
                  <a:t>100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F1B3A7-F289-4167-83BE-AC56B482E5B8}"/>
                  </a:ext>
                </a:extLst>
              </p:cNvPr>
              <p:cNvSpPr/>
              <p:nvPr/>
            </p:nvSpPr>
            <p:spPr>
              <a:xfrm>
                <a:off x="1195690" y="2556306"/>
                <a:ext cx="9587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PROFITS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3217FED-99F9-4779-9620-8F7755CE42BB}"/>
                  </a:ext>
                </a:extLst>
              </p:cNvPr>
              <p:cNvGrpSpPr/>
              <p:nvPr/>
            </p:nvGrpSpPr>
            <p:grpSpPr>
              <a:xfrm>
                <a:off x="1832726" y="2224376"/>
                <a:ext cx="357790" cy="442168"/>
                <a:chOff x="3463355" y="3259861"/>
                <a:chExt cx="357790" cy="442168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8928572-9469-454E-9A6F-C81CDE3D7039}"/>
                    </a:ext>
                  </a:extLst>
                </p:cNvPr>
                <p:cNvSpPr/>
                <p:nvPr/>
              </p:nvSpPr>
              <p:spPr>
                <a:xfrm>
                  <a:off x="3473063" y="3259861"/>
                  <a:ext cx="3129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HK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%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58F8531-8E66-4480-95E4-1676FD398BF7}"/>
                    </a:ext>
                  </a:extLst>
                </p:cNvPr>
                <p:cNvSpPr/>
                <p:nvPr/>
              </p:nvSpPr>
              <p:spPr>
                <a:xfrm>
                  <a:off x="3463355" y="3425030"/>
                  <a:ext cx="35779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HK"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OF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33DE26-BE52-4A4A-96BA-4EF8A947F3DE}"/>
              </a:ext>
            </a:extLst>
          </p:cNvPr>
          <p:cNvGrpSpPr/>
          <p:nvPr/>
        </p:nvGrpSpPr>
        <p:grpSpPr>
          <a:xfrm>
            <a:off x="8328145" y="1750903"/>
            <a:ext cx="536748" cy="1195195"/>
            <a:chOff x="3505976" y="1641467"/>
            <a:chExt cx="854268" cy="1902229"/>
          </a:xfrm>
        </p:grpSpPr>
        <p:sp>
          <p:nvSpPr>
            <p:cNvPr id="16" name="phone_100313">
              <a:extLst>
                <a:ext uri="{FF2B5EF4-FFF2-40B4-BE49-F238E27FC236}">
                  <a16:creationId xmlns:a16="http://schemas.microsoft.com/office/drawing/2014/main" id="{24403438-0086-40DE-9FC0-F7C59B7680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05976" y="2047763"/>
              <a:ext cx="854268" cy="1495933"/>
            </a:xfrm>
            <a:custGeom>
              <a:avLst/>
              <a:gdLst>
                <a:gd name="T0" fmla="*/ 271 w 1763"/>
                <a:gd name="T1" fmla="*/ 3092 h 3092"/>
                <a:gd name="T2" fmla="*/ 1492 w 1763"/>
                <a:gd name="T3" fmla="*/ 3092 h 3092"/>
                <a:gd name="T4" fmla="*/ 1763 w 1763"/>
                <a:gd name="T5" fmla="*/ 2821 h 3092"/>
                <a:gd name="T6" fmla="*/ 1763 w 1763"/>
                <a:gd name="T7" fmla="*/ 271 h 3092"/>
                <a:gd name="T8" fmla="*/ 1492 w 1763"/>
                <a:gd name="T9" fmla="*/ 0 h 3092"/>
                <a:gd name="T10" fmla="*/ 271 w 1763"/>
                <a:gd name="T11" fmla="*/ 0 h 3092"/>
                <a:gd name="T12" fmla="*/ 0 w 1763"/>
                <a:gd name="T13" fmla="*/ 271 h 3092"/>
                <a:gd name="T14" fmla="*/ 0 w 1763"/>
                <a:gd name="T15" fmla="*/ 2821 h 3092"/>
                <a:gd name="T16" fmla="*/ 271 w 1763"/>
                <a:gd name="T17" fmla="*/ 3092 h 3092"/>
                <a:gd name="T18" fmla="*/ 999 w 1763"/>
                <a:gd name="T19" fmla="*/ 2920 h 3092"/>
                <a:gd name="T20" fmla="*/ 763 w 1763"/>
                <a:gd name="T21" fmla="*/ 2920 h 3092"/>
                <a:gd name="T22" fmla="*/ 710 w 1763"/>
                <a:gd name="T23" fmla="*/ 2866 h 3092"/>
                <a:gd name="T24" fmla="*/ 763 w 1763"/>
                <a:gd name="T25" fmla="*/ 2813 h 3092"/>
                <a:gd name="T26" fmla="*/ 999 w 1763"/>
                <a:gd name="T27" fmla="*/ 2813 h 3092"/>
                <a:gd name="T28" fmla="*/ 1052 w 1763"/>
                <a:gd name="T29" fmla="*/ 2866 h 3092"/>
                <a:gd name="T30" fmla="*/ 999 w 1763"/>
                <a:gd name="T31" fmla="*/ 2920 h 3092"/>
                <a:gd name="T32" fmla="*/ 616 w 1763"/>
                <a:gd name="T33" fmla="*/ 170 h 3092"/>
                <a:gd name="T34" fmla="*/ 1146 w 1763"/>
                <a:gd name="T35" fmla="*/ 170 h 3092"/>
                <a:gd name="T36" fmla="*/ 1171 w 1763"/>
                <a:gd name="T37" fmla="*/ 195 h 3092"/>
                <a:gd name="T38" fmla="*/ 1146 w 1763"/>
                <a:gd name="T39" fmla="*/ 220 h 3092"/>
                <a:gd name="T40" fmla="*/ 616 w 1763"/>
                <a:gd name="T41" fmla="*/ 220 h 3092"/>
                <a:gd name="T42" fmla="*/ 591 w 1763"/>
                <a:gd name="T43" fmla="*/ 195 h 3092"/>
                <a:gd name="T44" fmla="*/ 616 w 1763"/>
                <a:gd name="T45" fmla="*/ 170 h 3092"/>
                <a:gd name="T46" fmla="*/ 131 w 1763"/>
                <a:gd name="T47" fmla="*/ 387 h 3092"/>
                <a:gd name="T48" fmla="*/ 1631 w 1763"/>
                <a:gd name="T49" fmla="*/ 387 h 3092"/>
                <a:gd name="T50" fmla="*/ 1631 w 1763"/>
                <a:gd name="T51" fmla="*/ 2705 h 3092"/>
                <a:gd name="T52" fmla="*/ 131 w 1763"/>
                <a:gd name="T53" fmla="*/ 2705 h 3092"/>
                <a:gd name="T54" fmla="*/ 131 w 1763"/>
                <a:gd name="T55" fmla="*/ 387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63" h="3092">
                  <a:moveTo>
                    <a:pt x="271" y="3092"/>
                  </a:moveTo>
                  <a:lnTo>
                    <a:pt x="1492" y="3092"/>
                  </a:lnTo>
                  <a:cubicBezTo>
                    <a:pt x="1641" y="3092"/>
                    <a:pt x="1763" y="2971"/>
                    <a:pt x="1763" y="2821"/>
                  </a:cubicBezTo>
                  <a:lnTo>
                    <a:pt x="1763" y="271"/>
                  </a:lnTo>
                  <a:cubicBezTo>
                    <a:pt x="1763" y="121"/>
                    <a:pt x="1641" y="0"/>
                    <a:pt x="1492" y="0"/>
                  </a:cubicBezTo>
                  <a:lnTo>
                    <a:pt x="271" y="0"/>
                  </a:lnTo>
                  <a:cubicBezTo>
                    <a:pt x="121" y="0"/>
                    <a:pt x="0" y="121"/>
                    <a:pt x="0" y="271"/>
                  </a:cubicBezTo>
                  <a:lnTo>
                    <a:pt x="0" y="2821"/>
                  </a:lnTo>
                  <a:cubicBezTo>
                    <a:pt x="0" y="2971"/>
                    <a:pt x="121" y="3092"/>
                    <a:pt x="271" y="3092"/>
                  </a:cubicBezTo>
                  <a:close/>
                  <a:moveTo>
                    <a:pt x="999" y="2920"/>
                  </a:moveTo>
                  <a:lnTo>
                    <a:pt x="763" y="2920"/>
                  </a:lnTo>
                  <a:cubicBezTo>
                    <a:pt x="734" y="2920"/>
                    <a:pt x="710" y="2896"/>
                    <a:pt x="710" y="2866"/>
                  </a:cubicBezTo>
                  <a:cubicBezTo>
                    <a:pt x="710" y="2837"/>
                    <a:pt x="734" y="2813"/>
                    <a:pt x="763" y="2813"/>
                  </a:cubicBezTo>
                  <a:lnTo>
                    <a:pt x="999" y="2813"/>
                  </a:lnTo>
                  <a:cubicBezTo>
                    <a:pt x="1028" y="2813"/>
                    <a:pt x="1052" y="2837"/>
                    <a:pt x="1052" y="2866"/>
                  </a:cubicBezTo>
                  <a:cubicBezTo>
                    <a:pt x="1052" y="2896"/>
                    <a:pt x="1028" y="2920"/>
                    <a:pt x="999" y="2920"/>
                  </a:cubicBezTo>
                  <a:close/>
                  <a:moveTo>
                    <a:pt x="616" y="170"/>
                  </a:moveTo>
                  <a:lnTo>
                    <a:pt x="1146" y="170"/>
                  </a:lnTo>
                  <a:cubicBezTo>
                    <a:pt x="1160" y="170"/>
                    <a:pt x="1171" y="181"/>
                    <a:pt x="1171" y="195"/>
                  </a:cubicBezTo>
                  <a:cubicBezTo>
                    <a:pt x="1171" y="208"/>
                    <a:pt x="1160" y="220"/>
                    <a:pt x="1146" y="220"/>
                  </a:cubicBezTo>
                  <a:lnTo>
                    <a:pt x="616" y="220"/>
                  </a:lnTo>
                  <a:cubicBezTo>
                    <a:pt x="602" y="220"/>
                    <a:pt x="591" y="208"/>
                    <a:pt x="591" y="195"/>
                  </a:cubicBezTo>
                  <a:cubicBezTo>
                    <a:pt x="591" y="181"/>
                    <a:pt x="602" y="170"/>
                    <a:pt x="616" y="170"/>
                  </a:cubicBezTo>
                  <a:close/>
                  <a:moveTo>
                    <a:pt x="131" y="387"/>
                  </a:moveTo>
                  <a:lnTo>
                    <a:pt x="1631" y="387"/>
                  </a:lnTo>
                  <a:lnTo>
                    <a:pt x="1631" y="2705"/>
                  </a:lnTo>
                  <a:lnTo>
                    <a:pt x="131" y="2705"/>
                  </a:lnTo>
                  <a:lnTo>
                    <a:pt x="131" y="38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9" name="wifi-symbol_72234">
              <a:extLst>
                <a:ext uri="{FF2B5EF4-FFF2-40B4-BE49-F238E27FC236}">
                  <a16:creationId xmlns:a16="http://schemas.microsoft.com/office/drawing/2014/main" id="{B77210A0-F6AB-4812-9DC0-E46CDF51E6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3396" y="2698309"/>
              <a:ext cx="599428" cy="609685"/>
            </a:xfrm>
            <a:custGeom>
              <a:avLst/>
              <a:gdLst>
                <a:gd name="connsiteX0" fmla="*/ 0 w 597971"/>
                <a:gd name="connsiteY0" fmla="*/ 236253 h 608203"/>
                <a:gd name="connsiteX1" fmla="*/ 124760 w 597971"/>
                <a:gd name="connsiteY1" fmla="*/ 236253 h 608203"/>
                <a:gd name="connsiteX2" fmla="*/ 124760 w 597971"/>
                <a:gd name="connsiteY2" fmla="*/ 608203 h 608203"/>
                <a:gd name="connsiteX3" fmla="*/ 0 w 597971"/>
                <a:gd name="connsiteY3" fmla="*/ 608203 h 608203"/>
                <a:gd name="connsiteX4" fmla="*/ 236606 w 597971"/>
                <a:gd name="connsiteY4" fmla="*/ 118056 h 608203"/>
                <a:gd name="connsiteX5" fmla="*/ 361366 w 597971"/>
                <a:gd name="connsiteY5" fmla="*/ 118056 h 608203"/>
                <a:gd name="connsiteX6" fmla="*/ 361366 w 597971"/>
                <a:gd name="connsiteY6" fmla="*/ 608203 h 608203"/>
                <a:gd name="connsiteX7" fmla="*/ 236606 w 597971"/>
                <a:gd name="connsiteY7" fmla="*/ 608203 h 608203"/>
                <a:gd name="connsiteX8" fmla="*/ 473211 w 597971"/>
                <a:gd name="connsiteY8" fmla="*/ 0 h 608203"/>
                <a:gd name="connsiteX9" fmla="*/ 597971 w 597971"/>
                <a:gd name="connsiteY9" fmla="*/ 0 h 608203"/>
                <a:gd name="connsiteX10" fmla="*/ 597971 w 597971"/>
                <a:gd name="connsiteY10" fmla="*/ 608203 h 608203"/>
                <a:gd name="connsiteX11" fmla="*/ 473211 w 597971"/>
                <a:gd name="connsiteY11" fmla="*/ 608203 h 60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97971" h="608203">
                  <a:moveTo>
                    <a:pt x="0" y="236253"/>
                  </a:moveTo>
                  <a:lnTo>
                    <a:pt x="124760" y="236253"/>
                  </a:lnTo>
                  <a:lnTo>
                    <a:pt x="124760" y="608203"/>
                  </a:lnTo>
                  <a:lnTo>
                    <a:pt x="0" y="608203"/>
                  </a:lnTo>
                  <a:close/>
                  <a:moveTo>
                    <a:pt x="236606" y="118056"/>
                  </a:moveTo>
                  <a:lnTo>
                    <a:pt x="361366" y="118056"/>
                  </a:lnTo>
                  <a:lnTo>
                    <a:pt x="361366" y="608203"/>
                  </a:lnTo>
                  <a:lnTo>
                    <a:pt x="236606" y="608203"/>
                  </a:lnTo>
                  <a:close/>
                  <a:moveTo>
                    <a:pt x="473211" y="0"/>
                  </a:moveTo>
                  <a:lnTo>
                    <a:pt x="597971" y="0"/>
                  </a:lnTo>
                  <a:lnTo>
                    <a:pt x="597971" y="608203"/>
                  </a:lnTo>
                  <a:lnTo>
                    <a:pt x="473211" y="60820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wifi-symbol_72234">
              <a:extLst>
                <a:ext uri="{FF2B5EF4-FFF2-40B4-BE49-F238E27FC236}">
                  <a16:creationId xmlns:a16="http://schemas.microsoft.com/office/drawing/2014/main" id="{6B617998-1AF2-4EB2-B4F3-843A8D94E7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51788" y="1641467"/>
              <a:ext cx="362644" cy="289323"/>
            </a:xfrm>
            <a:custGeom>
              <a:avLst/>
              <a:gdLst>
                <a:gd name="connsiteX0" fmla="*/ 301662 w 603394"/>
                <a:gd name="connsiteY0" fmla="*/ 300820 h 481398"/>
                <a:gd name="connsiteX1" fmla="*/ 392057 w 603394"/>
                <a:gd name="connsiteY1" fmla="*/ 391109 h 481398"/>
                <a:gd name="connsiteX2" fmla="*/ 301662 w 603394"/>
                <a:gd name="connsiteY2" fmla="*/ 481398 h 481398"/>
                <a:gd name="connsiteX3" fmla="*/ 211267 w 603394"/>
                <a:gd name="connsiteY3" fmla="*/ 391109 h 481398"/>
                <a:gd name="connsiteX4" fmla="*/ 301662 w 603394"/>
                <a:gd name="connsiteY4" fmla="*/ 300820 h 481398"/>
                <a:gd name="connsiteX5" fmla="*/ 301742 w 603394"/>
                <a:gd name="connsiteY5" fmla="*/ 150375 h 481398"/>
                <a:gd name="connsiteX6" fmla="*/ 497979 w 603394"/>
                <a:gd name="connsiteY6" fmla="*/ 251372 h 481398"/>
                <a:gd name="connsiteX7" fmla="*/ 488665 w 603394"/>
                <a:gd name="connsiteY7" fmla="*/ 307336 h 481398"/>
                <a:gd name="connsiteX8" fmla="*/ 465300 w 603394"/>
                <a:gd name="connsiteY8" fmla="*/ 314842 h 481398"/>
                <a:gd name="connsiteX9" fmla="*/ 432621 w 603394"/>
                <a:gd name="connsiteY9" fmla="*/ 298036 h 481398"/>
                <a:gd name="connsiteX10" fmla="*/ 301742 w 603394"/>
                <a:gd name="connsiteY10" fmla="*/ 230651 h 481398"/>
                <a:gd name="connsiteX11" fmla="*/ 170863 w 603394"/>
                <a:gd name="connsiteY11" fmla="*/ 298036 h 481398"/>
                <a:gd name="connsiteX12" fmla="*/ 114819 w 603394"/>
                <a:gd name="connsiteY12" fmla="*/ 307336 h 481398"/>
                <a:gd name="connsiteX13" fmla="*/ 105342 w 603394"/>
                <a:gd name="connsiteY13" fmla="*/ 251372 h 481398"/>
                <a:gd name="connsiteX14" fmla="*/ 301742 w 603394"/>
                <a:gd name="connsiteY14" fmla="*/ 150375 h 481398"/>
                <a:gd name="connsiteX15" fmla="*/ 301743 w 603394"/>
                <a:gd name="connsiteY15" fmla="*/ 0 h 481398"/>
                <a:gd name="connsiteX16" fmla="*/ 593048 w 603394"/>
                <a:gd name="connsiteY16" fmla="*/ 129819 h 481398"/>
                <a:gd name="connsiteX17" fmla="*/ 590107 w 603394"/>
                <a:gd name="connsiteY17" fmla="*/ 186411 h 481398"/>
                <a:gd name="connsiteX18" fmla="*/ 533251 w 603394"/>
                <a:gd name="connsiteY18" fmla="*/ 183476 h 481398"/>
                <a:gd name="connsiteX19" fmla="*/ 301743 w 603394"/>
                <a:gd name="connsiteY19" fmla="*/ 80240 h 481398"/>
                <a:gd name="connsiteX20" fmla="*/ 70071 w 603394"/>
                <a:gd name="connsiteY20" fmla="*/ 183476 h 481398"/>
                <a:gd name="connsiteX21" fmla="*/ 40173 w 603394"/>
                <a:gd name="connsiteY21" fmla="*/ 196686 h 481398"/>
                <a:gd name="connsiteX22" fmla="*/ 13379 w 603394"/>
                <a:gd name="connsiteY22" fmla="*/ 186411 h 481398"/>
                <a:gd name="connsiteX23" fmla="*/ 10274 w 603394"/>
                <a:gd name="connsiteY23" fmla="*/ 129819 h 481398"/>
                <a:gd name="connsiteX24" fmla="*/ 301743 w 603394"/>
                <a:gd name="connsiteY24" fmla="*/ 0 h 48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394" h="481398">
                  <a:moveTo>
                    <a:pt x="301662" y="300820"/>
                  </a:moveTo>
                  <a:cubicBezTo>
                    <a:pt x="351586" y="300820"/>
                    <a:pt x="392057" y="341244"/>
                    <a:pt x="392057" y="391109"/>
                  </a:cubicBezTo>
                  <a:cubicBezTo>
                    <a:pt x="392057" y="440974"/>
                    <a:pt x="351586" y="481398"/>
                    <a:pt x="301662" y="481398"/>
                  </a:cubicBezTo>
                  <a:cubicBezTo>
                    <a:pt x="251738" y="481398"/>
                    <a:pt x="211267" y="440974"/>
                    <a:pt x="211267" y="391109"/>
                  </a:cubicBezTo>
                  <a:cubicBezTo>
                    <a:pt x="211267" y="341244"/>
                    <a:pt x="251738" y="300820"/>
                    <a:pt x="301662" y="300820"/>
                  </a:cubicBezTo>
                  <a:close/>
                  <a:moveTo>
                    <a:pt x="301742" y="150375"/>
                  </a:moveTo>
                  <a:cubicBezTo>
                    <a:pt x="379355" y="150375"/>
                    <a:pt x="452719" y="188229"/>
                    <a:pt x="497979" y="251372"/>
                  </a:cubicBezTo>
                  <a:cubicBezTo>
                    <a:pt x="510887" y="269320"/>
                    <a:pt x="506639" y="294447"/>
                    <a:pt x="488665" y="307336"/>
                  </a:cubicBezTo>
                  <a:cubicBezTo>
                    <a:pt x="481476" y="312394"/>
                    <a:pt x="473306" y="314842"/>
                    <a:pt x="465300" y="314842"/>
                  </a:cubicBezTo>
                  <a:cubicBezTo>
                    <a:pt x="452719" y="314842"/>
                    <a:pt x="440464" y="308968"/>
                    <a:pt x="432621" y="298036"/>
                  </a:cubicBezTo>
                  <a:cubicBezTo>
                    <a:pt x="402393" y="255777"/>
                    <a:pt x="353538" y="230651"/>
                    <a:pt x="301742" y="230651"/>
                  </a:cubicBezTo>
                  <a:cubicBezTo>
                    <a:pt x="249946" y="230651"/>
                    <a:pt x="200928" y="255777"/>
                    <a:pt x="170863" y="298036"/>
                  </a:cubicBezTo>
                  <a:cubicBezTo>
                    <a:pt x="157955" y="315984"/>
                    <a:pt x="132792" y="320226"/>
                    <a:pt x="114819" y="307336"/>
                  </a:cubicBezTo>
                  <a:cubicBezTo>
                    <a:pt x="96682" y="294447"/>
                    <a:pt x="92434" y="269320"/>
                    <a:pt x="105342" y="251372"/>
                  </a:cubicBezTo>
                  <a:cubicBezTo>
                    <a:pt x="150602" y="188229"/>
                    <a:pt x="223966" y="150375"/>
                    <a:pt x="301742" y="150375"/>
                  </a:cubicBezTo>
                  <a:close/>
                  <a:moveTo>
                    <a:pt x="301743" y="0"/>
                  </a:moveTo>
                  <a:cubicBezTo>
                    <a:pt x="412677" y="0"/>
                    <a:pt x="518873" y="47296"/>
                    <a:pt x="593048" y="129819"/>
                  </a:cubicBezTo>
                  <a:cubicBezTo>
                    <a:pt x="607915" y="146291"/>
                    <a:pt x="606608" y="171570"/>
                    <a:pt x="590107" y="186411"/>
                  </a:cubicBezTo>
                  <a:cubicBezTo>
                    <a:pt x="573605" y="201252"/>
                    <a:pt x="548118" y="199948"/>
                    <a:pt x="533251" y="183476"/>
                  </a:cubicBezTo>
                  <a:cubicBezTo>
                    <a:pt x="474271" y="117914"/>
                    <a:pt x="389804" y="80240"/>
                    <a:pt x="301743" y="80240"/>
                  </a:cubicBezTo>
                  <a:cubicBezTo>
                    <a:pt x="213518" y="80240"/>
                    <a:pt x="129051" y="117914"/>
                    <a:pt x="70071" y="183476"/>
                  </a:cubicBezTo>
                  <a:cubicBezTo>
                    <a:pt x="62066" y="192282"/>
                    <a:pt x="51119" y="196686"/>
                    <a:pt x="40173" y="196686"/>
                  </a:cubicBezTo>
                  <a:cubicBezTo>
                    <a:pt x="30533" y="196686"/>
                    <a:pt x="21058" y="193261"/>
                    <a:pt x="13379" y="186411"/>
                  </a:cubicBezTo>
                  <a:cubicBezTo>
                    <a:pt x="-3123" y="171570"/>
                    <a:pt x="-4593" y="146291"/>
                    <a:pt x="10274" y="129819"/>
                  </a:cubicBezTo>
                  <a:cubicBezTo>
                    <a:pt x="84449" y="47296"/>
                    <a:pt x="190645" y="0"/>
                    <a:pt x="301743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EA814A-FBB7-4106-8211-ED2F61172D7B}"/>
              </a:ext>
            </a:extLst>
          </p:cNvPr>
          <p:cNvGrpSpPr/>
          <p:nvPr/>
        </p:nvGrpSpPr>
        <p:grpSpPr>
          <a:xfrm>
            <a:off x="419380" y="1190273"/>
            <a:ext cx="11472583" cy="376041"/>
            <a:chOff x="533400" y="1316950"/>
            <a:chExt cx="4997520" cy="3760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FE5E4A-2218-4249-9F3D-7F9A65398E28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00B1F1-4DF2-47A6-8174-439DC4BCA661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Transparency across supply chain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54FF515-534B-41C3-95A8-8EA8ED278D0D}"/>
              </a:ext>
            </a:extLst>
          </p:cNvPr>
          <p:cNvSpPr/>
          <p:nvPr/>
        </p:nvSpPr>
        <p:spPr>
          <a:xfrm>
            <a:off x="675161" y="3617205"/>
            <a:ext cx="210988" cy="21098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81CDB4-436C-4AC9-9FDA-76BDC4F02244}"/>
              </a:ext>
            </a:extLst>
          </p:cNvPr>
          <p:cNvCxnSpPr/>
          <p:nvPr/>
        </p:nvCxnSpPr>
        <p:spPr>
          <a:xfrm>
            <a:off x="943535" y="3722699"/>
            <a:ext cx="229081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yarn_113330">
            <a:extLst>
              <a:ext uri="{FF2B5EF4-FFF2-40B4-BE49-F238E27FC236}">
                <a16:creationId xmlns:a16="http://schemas.microsoft.com/office/drawing/2014/main" id="{B8298BBC-8840-4C52-A77C-C73A477AAF81}"/>
              </a:ext>
            </a:extLst>
          </p:cNvPr>
          <p:cNvSpPr>
            <a:spLocks noChangeAspect="1"/>
          </p:cNvSpPr>
          <p:nvPr/>
        </p:nvSpPr>
        <p:spPr bwMode="auto">
          <a:xfrm>
            <a:off x="550906" y="3206326"/>
            <a:ext cx="459498" cy="262487"/>
          </a:xfrm>
          <a:custGeom>
            <a:avLst/>
            <a:gdLst>
              <a:gd name="T0" fmla="*/ 6239 w 6245"/>
              <a:gd name="T1" fmla="*/ 1096 h 3573"/>
              <a:gd name="T2" fmla="*/ 5128 w 6245"/>
              <a:gd name="T3" fmla="*/ 6 h 3573"/>
              <a:gd name="T4" fmla="*/ 2092 w 6245"/>
              <a:gd name="T5" fmla="*/ 537 h 3573"/>
              <a:gd name="T6" fmla="*/ 344 w 6245"/>
              <a:gd name="T7" fmla="*/ 330 h 3573"/>
              <a:gd name="T8" fmla="*/ 110 w 6245"/>
              <a:gd name="T9" fmla="*/ 1611 h 3573"/>
              <a:gd name="T10" fmla="*/ 6 w 6245"/>
              <a:gd name="T11" fmla="*/ 2483 h 3573"/>
              <a:gd name="T12" fmla="*/ 1117 w 6245"/>
              <a:gd name="T13" fmla="*/ 3573 h 3573"/>
              <a:gd name="T14" fmla="*/ 2101 w 6245"/>
              <a:gd name="T15" fmla="*/ 3026 h 3573"/>
              <a:gd name="T16" fmla="*/ 5111 w 6245"/>
              <a:gd name="T17" fmla="*/ 3573 h 3573"/>
              <a:gd name="T18" fmla="*/ 5901 w 6245"/>
              <a:gd name="T19" fmla="*/ 3249 h 3573"/>
              <a:gd name="T20" fmla="*/ 6135 w 6245"/>
              <a:gd name="T21" fmla="*/ 1968 h 3573"/>
              <a:gd name="T22" fmla="*/ 5973 w 6245"/>
              <a:gd name="T23" fmla="*/ 2422 h 3573"/>
              <a:gd name="T24" fmla="*/ 4380 w 6245"/>
              <a:gd name="T25" fmla="*/ 1750 h 3573"/>
              <a:gd name="T26" fmla="*/ 5654 w 6245"/>
              <a:gd name="T27" fmla="*/ 2169 h 3573"/>
              <a:gd name="T28" fmla="*/ 5973 w 6245"/>
              <a:gd name="T29" fmla="*/ 2422 h 3573"/>
              <a:gd name="T30" fmla="*/ 5920 w 6245"/>
              <a:gd name="T31" fmla="*/ 1432 h 3573"/>
              <a:gd name="T32" fmla="*/ 4500 w 6245"/>
              <a:gd name="T33" fmla="*/ 1510 h 3573"/>
              <a:gd name="T34" fmla="*/ 5836 w 6245"/>
              <a:gd name="T35" fmla="*/ 1890 h 3573"/>
              <a:gd name="T36" fmla="*/ 5836 w 6245"/>
              <a:gd name="T37" fmla="*/ 1689 h 3573"/>
              <a:gd name="T38" fmla="*/ 4113 w 6245"/>
              <a:gd name="T39" fmla="*/ 2760 h 3573"/>
              <a:gd name="T40" fmla="*/ 3901 w 6245"/>
              <a:gd name="T41" fmla="*/ 804 h 3573"/>
              <a:gd name="T42" fmla="*/ 4113 w 6245"/>
              <a:gd name="T43" fmla="*/ 2760 h 3573"/>
              <a:gd name="T44" fmla="*/ 4380 w 6245"/>
              <a:gd name="T45" fmla="*/ 1270 h 3573"/>
              <a:gd name="T46" fmla="*/ 5754 w 6245"/>
              <a:gd name="T47" fmla="*/ 563 h 3573"/>
              <a:gd name="T48" fmla="*/ 4741 w 6245"/>
              <a:gd name="T49" fmla="*/ 1071 h 3573"/>
              <a:gd name="T50" fmla="*/ 5374 w 6245"/>
              <a:gd name="T51" fmla="*/ 314 h 3573"/>
              <a:gd name="T52" fmla="*/ 4380 w 6245"/>
              <a:gd name="T53" fmla="*/ 677 h 3573"/>
              <a:gd name="T54" fmla="*/ 272 w 6245"/>
              <a:gd name="T55" fmla="*/ 1157 h 3573"/>
              <a:gd name="T56" fmla="*/ 1865 w 6245"/>
              <a:gd name="T57" fmla="*/ 1829 h 3573"/>
              <a:gd name="T58" fmla="*/ 325 w 6245"/>
              <a:gd name="T59" fmla="*/ 1432 h 3573"/>
              <a:gd name="T60" fmla="*/ 409 w 6245"/>
              <a:gd name="T61" fmla="*/ 1689 h 3573"/>
              <a:gd name="T62" fmla="*/ 409 w 6245"/>
              <a:gd name="T63" fmla="*/ 1890 h 3573"/>
              <a:gd name="T64" fmla="*/ 272 w 6245"/>
              <a:gd name="T65" fmla="*/ 2422 h 3573"/>
              <a:gd name="T66" fmla="*/ 592 w 6245"/>
              <a:gd name="T67" fmla="*/ 2169 h 3573"/>
              <a:gd name="T68" fmla="*/ 1745 w 6245"/>
              <a:gd name="T69" fmla="*/ 2069 h 3573"/>
              <a:gd name="T70" fmla="*/ 2132 w 6245"/>
              <a:gd name="T71" fmla="*/ 804 h 3573"/>
              <a:gd name="T72" fmla="*/ 2344 w 6245"/>
              <a:gd name="T73" fmla="*/ 2760 h 3573"/>
              <a:gd name="T74" fmla="*/ 2132 w 6245"/>
              <a:gd name="T75" fmla="*/ 804 h 3573"/>
              <a:gd name="T76" fmla="*/ 1865 w 6245"/>
              <a:gd name="T77" fmla="*/ 678 h 3573"/>
              <a:gd name="T78" fmla="*/ 871 w 6245"/>
              <a:gd name="T79" fmla="*/ 314 h 3573"/>
              <a:gd name="T80" fmla="*/ 491 w 6245"/>
              <a:gd name="T81" fmla="*/ 563 h 3573"/>
              <a:gd name="T82" fmla="*/ 1865 w 6245"/>
              <a:gd name="T83" fmla="*/ 1270 h 3573"/>
              <a:gd name="T84" fmla="*/ 312 w 6245"/>
              <a:gd name="T85" fmla="*/ 875 h 3573"/>
              <a:gd name="T86" fmla="*/ 312 w 6245"/>
              <a:gd name="T87" fmla="*/ 2703 h 3573"/>
              <a:gd name="T88" fmla="*/ 1504 w 6245"/>
              <a:gd name="T89" fmla="*/ 2508 h 3573"/>
              <a:gd name="T90" fmla="*/ 1865 w 6245"/>
              <a:gd name="T91" fmla="*/ 2544 h 3573"/>
              <a:gd name="T92" fmla="*/ 312 w 6245"/>
              <a:gd name="T93" fmla="*/ 2703 h 3573"/>
              <a:gd name="T94" fmla="*/ 871 w 6245"/>
              <a:gd name="T95" fmla="*/ 3265 h 3573"/>
              <a:gd name="T96" fmla="*/ 1865 w 6245"/>
              <a:gd name="T97" fmla="*/ 2893 h 3573"/>
              <a:gd name="T98" fmla="*/ 1121 w 6245"/>
              <a:gd name="T99" fmla="*/ 3307 h 3573"/>
              <a:gd name="T100" fmla="*/ 2611 w 6245"/>
              <a:gd name="T101" fmla="*/ 804 h 3573"/>
              <a:gd name="T102" fmla="*/ 3634 w 6245"/>
              <a:gd name="T103" fmla="*/ 2760 h 3573"/>
              <a:gd name="T104" fmla="*/ 5124 w 6245"/>
              <a:gd name="T105" fmla="*/ 3307 h 3573"/>
              <a:gd name="T106" fmla="*/ 4379 w 6245"/>
              <a:gd name="T107" fmla="*/ 2901 h 3573"/>
              <a:gd name="T108" fmla="*/ 4380 w 6245"/>
              <a:gd name="T109" fmla="*/ 2869 h 3573"/>
              <a:gd name="T110" fmla="*/ 5124 w 6245"/>
              <a:gd name="T111" fmla="*/ 3307 h 3573"/>
              <a:gd name="T112" fmla="*/ 4380 w 6245"/>
              <a:gd name="T113" fmla="*/ 2544 h 3573"/>
              <a:gd name="T114" fmla="*/ 4741 w 6245"/>
              <a:gd name="T115" fmla="*/ 2508 h 3573"/>
              <a:gd name="T116" fmla="*/ 5933 w 6245"/>
              <a:gd name="T117" fmla="*/ 2703 h 3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245" h="3573">
                <a:moveTo>
                  <a:pt x="6135" y="1611"/>
                </a:moveTo>
                <a:cubicBezTo>
                  <a:pt x="6210" y="1449"/>
                  <a:pt x="6245" y="1276"/>
                  <a:pt x="6239" y="1096"/>
                </a:cubicBezTo>
                <a:cubicBezTo>
                  <a:pt x="6230" y="807"/>
                  <a:pt x="6110" y="535"/>
                  <a:pt x="5901" y="330"/>
                </a:cubicBezTo>
                <a:cubicBezTo>
                  <a:pt x="5692" y="125"/>
                  <a:pt x="5418" y="10"/>
                  <a:pt x="5128" y="6"/>
                </a:cubicBezTo>
                <a:cubicBezTo>
                  <a:pt x="4729" y="0"/>
                  <a:pt x="4362" y="202"/>
                  <a:pt x="4153" y="537"/>
                </a:cubicBezTo>
                <a:lnTo>
                  <a:pt x="2092" y="537"/>
                </a:lnTo>
                <a:cubicBezTo>
                  <a:pt x="1883" y="202"/>
                  <a:pt x="1517" y="0"/>
                  <a:pt x="1116" y="6"/>
                </a:cubicBezTo>
                <a:cubicBezTo>
                  <a:pt x="827" y="10"/>
                  <a:pt x="553" y="125"/>
                  <a:pt x="344" y="330"/>
                </a:cubicBezTo>
                <a:cubicBezTo>
                  <a:pt x="135" y="535"/>
                  <a:pt x="15" y="807"/>
                  <a:pt x="6" y="1096"/>
                </a:cubicBezTo>
                <a:cubicBezTo>
                  <a:pt x="0" y="1276"/>
                  <a:pt x="35" y="1449"/>
                  <a:pt x="110" y="1611"/>
                </a:cubicBezTo>
                <a:cubicBezTo>
                  <a:pt x="163" y="1724"/>
                  <a:pt x="163" y="1855"/>
                  <a:pt x="110" y="1968"/>
                </a:cubicBezTo>
                <a:cubicBezTo>
                  <a:pt x="35" y="2130"/>
                  <a:pt x="0" y="2303"/>
                  <a:pt x="6" y="2483"/>
                </a:cubicBezTo>
                <a:cubicBezTo>
                  <a:pt x="15" y="2772"/>
                  <a:pt x="135" y="3044"/>
                  <a:pt x="344" y="3249"/>
                </a:cubicBezTo>
                <a:cubicBezTo>
                  <a:pt x="553" y="3454"/>
                  <a:pt x="827" y="3569"/>
                  <a:pt x="1117" y="3573"/>
                </a:cubicBezTo>
                <a:cubicBezTo>
                  <a:pt x="1122" y="3573"/>
                  <a:pt x="1128" y="3573"/>
                  <a:pt x="1134" y="3573"/>
                </a:cubicBezTo>
                <a:cubicBezTo>
                  <a:pt x="1535" y="3573"/>
                  <a:pt x="1897" y="3367"/>
                  <a:pt x="2101" y="3026"/>
                </a:cubicBezTo>
                <a:lnTo>
                  <a:pt x="4143" y="3026"/>
                </a:lnTo>
                <a:cubicBezTo>
                  <a:pt x="4348" y="3367"/>
                  <a:pt x="4710" y="3573"/>
                  <a:pt x="5111" y="3573"/>
                </a:cubicBezTo>
                <a:cubicBezTo>
                  <a:pt x="5117" y="3573"/>
                  <a:pt x="5123" y="3573"/>
                  <a:pt x="5128" y="3573"/>
                </a:cubicBezTo>
                <a:cubicBezTo>
                  <a:pt x="5418" y="3569"/>
                  <a:pt x="5692" y="3454"/>
                  <a:pt x="5901" y="3249"/>
                </a:cubicBezTo>
                <a:cubicBezTo>
                  <a:pt x="6110" y="3044"/>
                  <a:pt x="6230" y="2772"/>
                  <a:pt x="6239" y="2483"/>
                </a:cubicBezTo>
                <a:cubicBezTo>
                  <a:pt x="6245" y="2303"/>
                  <a:pt x="6210" y="2130"/>
                  <a:pt x="6135" y="1968"/>
                </a:cubicBezTo>
                <a:cubicBezTo>
                  <a:pt x="6082" y="1855"/>
                  <a:pt x="6082" y="1724"/>
                  <a:pt x="6135" y="1611"/>
                </a:cubicBezTo>
                <a:close/>
                <a:moveTo>
                  <a:pt x="5973" y="2422"/>
                </a:moveTo>
                <a:cubicBezTo>
                  <a:pt x="5277" y="2600"/>
                  <a:pt x="4568" y="2124"/>
                  <a:pt x="4380" y="1985"/>
                </a:cubicBezTo>
                <a:lnTo>
                  <a:pt x="4380" y="1750"/>
                </a:lnTo>
                <a:cubicBezTo>
                  <a:pt x="4475" y="1812"/>
                  <a:pt x="4598" y="1883"/>
                  <a:pt x="4741" y="1949"/>
                </a:cubicBezTo>
                <a:cubicBezTo>
                  <a:pt x="5055" y="2095"/>
                  <a:pt x="5364" y="2169"/>
                  <a:pt x="5654" y="2169"/>
                </a:cubicBezTo>
                <a:cubicBezTo>
                  <a:pt x="5745" y="2169"/>
                  <a:pt x="5834" y="2162"/>
                  <a:pt x="5920" y="2147"/>
                </a:cubicBezTo>
                <a:cubicBezTo>
                  <a:pt x="5953" y="2235"/>
                  <a:pt x="5971" y="2327"/>
                  <a:pt x="5973" y="2422"/>
                </a:cubicBezTo>
                <a:close/>
                <a:moveTo>
                  <a:pt x="5973" y="1157"/>
                </a:moveTo>
                <a:cubicBezTo>
                  <a:pt x="5971" y="1252"/>
                  <a:pt x="5953" y="1344"/>
                  <a:pt x="5920" y="1432"/>
                </a:cubicBezTo>
                <a:cubicBezTo>
                  <a:pt x="5467" y="1355"/>
                  <a:pt x="5031" y="1492"/>
                  <a:pt x="4719" y="1640"/>
                </a:cubicBezTo>
                <a:cubicBezTo>
                  <a:pt x="4634" y="1594"/>
                  <a:pt x="4560" y="1549"/>
                  <a:pt x="4500" y="1510"/>
                </a:cubicBezTo>
                <a:cubicBezTo>
                  <a:pt x="4783" y="1324"/>
                  <a:pt x="5381" y="1006"/>
                  <a:pt x="5973" y="1157"/>
                </a:cubicBezTo>
                <a:close/>
                <a:moveTo>
                  <a:pt x="5836" y="1890"/>
                </a:moveTo>
                <a:cubicBezTo>
                  <a:pt x="5560" y="1928"/>
                  <a:pt x="5288" y="1874"/>
                  <a:pt x="5053" y="1789"/>
                </a:cubicBezTo>
                <a:cubicBezTo>
                  <a:pt x="5376" y="1673"/>
                  <a:pt x="5639" y="1662"/>
                  <a:pt x="5836" y="1689"/>
                </a:cubicBezTo>
                <a:cubicBezTo>
                  <a:pt x="5826" y="1756"/>
                  <a:pt x="5826" y="1823"/>
                  <a:pt x="5836" y="1890"/>
                </a:cubicBezTo>
                <a:close/>
                <a:moveTo>
                  <a:pt x="4113" y="2760"/>
                </a:moveTo>
                <a:lnTo>
                  <a:pt x="3901" y="2760"/>
                </a:lnTo>
                <a:lnTo>
                  <a:pt x="3901" y="804"/>
                </a:lnTo>
                <a:lnTo>
                  <a:pt x="4113" y="804"/>
                </a:lnTo>
                <a:lnTo>
                  <a:pt x="4113" y="2760"/>
                </a:lnTo>
                <a:close/>
                <a:moveTo>
                  <a:pt x="4741" y="1071"/>
                </a:moveTo>
                <a:cubicBezTo>
                  <a:pt x="4598" y="1137"/>
                  <a:pt x="4475" y="1209"/>
                  <a:pt x="4380" y="1270"/>
                </a:cubicBezTo>
                <a:lnTo>
                  <a:pt x="4380" y="1035"/>
                </a:lnTo>
                <a:cubicBezTo>
                  <a:pt x="4548" y="910"/>
                  <a:pt x="5134" y="516"/>
                  <a:pt x="5754" y="563"/>
                </a:cubicBezTo>
                <a:cubicBezTo>
                  <a:pt x="5836" y="654"/>
                  <a:pt x="5897" y="761"/>
                  <a:pt x="5933" y="875"/>
                </a:cubicBezTo>
                <a:cubicBezTo>
                  <a:pt x="5567" y="810"/>
                  <a:pt x="5158" y="877"/>
                  <a:pt x="4741" y="1071"/>
                </a:cubicBezTo>
                <a:close/>
                <a:moveTo>
                  <a:pt x="5124" y="272"/>
                </a:moveTo>
                <a:cubicBezTo>
                  <a:pt x="5210" y="274"/>
                  <a:pt x="5294" y="288"/>
                  <a:pt x="5374" y="314"/>
                </a:cubicBezTo>
                <a:cubicBezTo>
                  <a:pt x="4958" y="378"/>
                  <a:pt x="4598" y="570"/>
                  <a:pt x="4380" y="710"/>
                </a:cubicBezTo>
                <a:lnTo>
                  <a:pt x="4380" y="677"/>
                </a:lnTo>
                <a:cubicBezTo>
                  <a:pt x="4539" y="422"/>
                  <a:pt x="4819" y="268"/>
                  <a:pt x="5124" y="272"/>
                </a:cubicBezTo>
                <a:close/>
                <a:moveTo>
                  <a:pt x="272" y="1157"/>
                </a:moveTo>
                <a:cubicBezTo>
                  <a:pt x="968" y="979"/>
                  <a:pt x="1677" y="1455"/>
                  <a:pt x="1865" y="1594"/>
                </a:cubicBezTo>
                <a:lnTo>
                  <a:pt x="1865" y="1829"/>
                </a:lnTo>
                <a:cubicBezTo>
                  <a:pt x="1770" y="1767"/>
                  <a:pt x="1647" y="1696"/>
                  <a:pt x="1504" y="1630"/>
                </a:cubicBezTo>
                <a:cubicBezTo>
                  <a:pt x="1092" y="1438"/>
                  <a:pt x="687" y="1371"/>
                  <a:pt x="325" y="1432"/>
                </a:cubicBezTo>
                <a:cubicBezTo>
                  <a:pt x="292" y="1344"/>
                  <a:pt x="274" y="1252"/>
                  <a:pt x="272" y="1157"/>
                </a:cubicBezTo>
                <a:close/>
                <a:moveTo>
                  <a:pt x="409" y="1689"/>
                </a:moveTo>
                <a:cubicBezTo>
                  <a:pt x="685" y="1651"/>
                  <a:pt x="957" y="1705"/>
                  <a:pt x="1192" y="1790"/>
                </a:cubicBezTo>
                <a:cubicBezTo>
                  <a:pt x="869" y="1906"/>
                  <a:pt x="606" y="1917"/>
                  <a:pt x="409" y="1890"/>
                </a:cubicBezTo>
                <a:cubicBezTo>
                  <a:pt x="419" y="1823"/>
                  <a:pt x="419" y="1755"/>
                  <a:pt x="409" y="1689"/>
                </a:cubicBezTo>
                <a:close/>
                <a:moveTo>
                  <a:pt x="272" y="2422"/>
                </a:moveTo>
                <a:cubicBezTo>
                  <a:pt x="274" y="2327"/>
                  <a:pt x="292" y="2235"/>
                  <a:pt x="325" y="2147"/>
                </a:cubicBezTo>
                <a:cubicBezTo>
                  <a:pt x="415" y="2162"/>
                  <a:pt x="504" y="2169"/>
                  <a:pt x="592" y="2169"/>
                </a:cubicBezTo>
                <a:cubicBezTo>
                  <a:pt x="946" y="2169"/>
                  <a:pt x="1275" y="2058"/>
                  <a:pt x="1526" y="1939"/>
                </a:cubicBezTo>
                <a:cubicBezTo>
                  <a:pt x="1611" y="1985"/>
                  <a:pt x="1685" y="2030"/>
                  <a:pt x="1745" y="2069"/>
                </a:cubicBezTo>
                <a:cubicBezTo>
                  <a:pt x="1461" y="2254"/>
                  <a:pt x="862" y="2572"/>
                  <a:pt x="272" y="2422"/>
                </a:cubicBezTo>
                <a:close/>
                <a:moveTo>
                  <a:pt x="2132" y="804"/>
                </a:moveTo>
                <a:lnTo>
                  <a:pt x="2344" y="804"/>
                </a:lnTo>
                <a:lnTo>
                  <a:pt x="2344" y="2760"/>
                </a:lnTo>
                <a:lnTo>
                  <a:pt x="2132" y="2760"/>
                </a:lnTo>
                <a:lnTo>
                  <a:pt x="2132" y="804"/>
                </a:lnTo>
                <a:close/>
                <a:moveTo>
                  <a:pt x="1120" y="272"/>
                </a:moveTo>
                <a:cubicBezTo>
                  <a:pt x="1426" y="268"/>
                  <a:pt x="1706" y="422"/>
                  <a:pt x="1865" y="678"/>
                </a:cubicBezTo>
                <a:lnTo>
                  <a:pt x="1865" y="711"/>
                </a:lnTo>
                <a:cubicBezTo>
                  <a:pt x="1647" y="570"/>
                  <a:pt x="1287" y="378"/>
                  <a:pt x="871" y="314"/>
                </a:cubicBezTo>
                <a:cubicBezTo>
                  <a:pt x="951" y="288"/>
                  <a:pt x="1035" y="274"/>
                  <a:pt x="1120" y="272"/>
                </a:cubicBezTo>
                <a:close/>
                <a:moveTo>
                  <a:pt x="491" y="563"/>
                </a:moveTo>
                <a:cubicBezTo>
                  <a:pt x="1111" y="516"/>
                  <a:pt x="1697" y="910"/>
                  <a:pt x="1865" y="1035"/>
                </a:cubicBezTo>
                <a:lnTo>
                  <a:pt x="1865" y="1270"/>
                </a:lnTo>
                <a:cubicBezTo>
                  <a:pt x="1770" y="1209"/>
                  <a:pt x="1647" y="1137"/>
                  <a:pt x="1504" y="1071"/>
                </a:cubicBezTo>
                <a:cubicBezTo>
                  <a:pt x="1087" y="877"/>
                  <a:pt x="677" y="810"/>
                  <a:pt x="312" y="875"/>
                </a:cubicBezTo>
                <a:cubicBezTo>
                  <a:pt x="348" y="761"/>
                  <a:pt x="409" y="654"/>
                  <a:pt x="491" y="563"/>
                </a:cubicBezTo>
                <a:close/>
                <a:moveTo>
                  <a:pt x="312" y="2703"/>
                </a:moveTo>
                <a:cubicBezTo>
                  <a:pt x="402" y="2719"/>
                  <a:pt x="496" y="2728"/>
                  <a:pt x="591" y="2728"/>
                </a:cubicBezTo>
                <a:cubicBezTo>
                  <a:pt x="881" y="2728"/>
                  <a:pt x="1190" y="2654"/>
                  <a:pt x="1504" y="2508"/>
                </a:cubicBezTo>
                <a:cubicBezTo>
                  <a:pt x="1647" y="2442"/>
                  <a:pt x="1770" y="2370"/>
                  <a:pt x="1865" y="2309"/>
                </a:cubicBezTo>
                <a:lnTo>
                  <a:pt x="1865" y="2544"/>
                </a:lnTo>
                <a:cubicBezTo>
                  <a:pt x="1697" y="2669"/>
                  <a:pt x="1111" y="3063"/>
                  <a:pt x="491" y="3016"/>
                </a:cubicBezTo>
                <a:cubicBezTo>
                  <a:pt x="409" y="2925"/>
                  <a:pt x="348" y="2818"/>
                  <a:pt x="312" y="2703"/>
                </a:cubicBezTo>
                <a:close/>
                <a:moveTo>
                  <a:pt x="1121" y="3307"/>
                </a:moveTo>
                <a:cubicBezTo>
                  <a:pt x="1035" y="3305"/>
                  <a:pt x="951" y="3291"/>
                  <a:pt x="871" y="3265"/>
                </a:cubicBezTo>
                <a:cubicBezTo>
                  <a:pt x="1287" y="3201"/>
                  <a:pt x="1647" y="3009"/>
                  <a:pt x="1865" y="2868"/>
                </a:cubicBezTo>
                <a:lnTo>
                  <a:pt x="1865" y="2893"/>
                </a:lnTo>
                <a:cubicBezTo>
                  <a:pt x="1865" y="2896"/>
                  <a:pt x="1865" y="2898"/>
                  <a:pt x="1866" y="2901"/>
                </a:cubicBezTo>
                <a:cubicBezTo>
                  <a:pt x="1706" y="3157"/>
                  <a:pt x="1427" y="3311"/>
                  <a:pt x="1121" y="3307"/>
                </a:cubicBezTo>
                <a:close/>
                <a:moveTo>
                  <a:pt x="2611" y="2760"/>
                </a:moveTo>
                <a:lnTo>
                  <a:pt x="2611" y="804"/>
                </a:lnTo>
                <a:lnTo>
                  <a:pt x="3634" y="804"/>
                </a:lnTo>
                <a:lnTo>
                  <a:pt x="3634" y="2760"/>
                </a:lnTo>
                <a:lnTo>
                  <a:pt x="2611" y="2760"/>
                </a:lnTo>
                <a:close/>
                <a:moveTo>
                  <a:pt x="5124" y="3307"/>
                </a:moveTo>
                <a:cubicBezTo>
                  <a:pt x="5120" y="3307"/>
                  <a:pt x="5115" y="3307"/>
                  <a:pt x="5111" y="3307"/>
                </a:cubicBezTo>
                <a:cubicBezTo>
                  <a:pt x="4810" y="3307"/>
                  <a:pt x="4536" y="3154"/>
                  <a:pt x="4379" y="2901"/>
                </a:cubicBezTo>
                <a:cubicBezTo>
                  <a:pt x="4379" y="2898"/>
                  <a:pt x="4380" y="2896"/>
                  <a:pt x="4380" y="2893"/>
                </a:cubicBezTo>
                <a:lnTo>
                  <a:pt x="4380" y="2869"/>
                </a:lnTo>
                <a:cubicBezTo>
                  <a:pt x="4598" y="3009"/>
                  <a:pt x="4958" y="3201"/>
                  <a:pt x="5374" y="3265"/>
                </a:cubicBezTo>
                <a:cubicBezTo>
                  <a:pt x="5294" y="3291"/>
                  <a:pt x="5210" y="3305"/>
                  <a:pt x="5124" y="3307"/>
                </a:cubicBezTo>
                <a:close/>
                <a:moveTo>
                  <a:pt x="5754" y="3016"/>
                </a:moveTo>
                <a:cubicBezTo>
                  <a:pt x="5134" y="3063"/>
                  <a:pt x="4548" y="2669"/>
                  <a:pt x="4380" y="2544"/>
                </a:cubicBezTo>
                <a:lnTo>
                  <a:pt x="4380" y="2309"/>
                </a:lnTo>
                <a:cubicBezTo>
                  <a:pt x="4475" y="2370"/>
                  <a:pt x="4598" y="2442"/>
                  <a:pt x="4741" y="2508"/>
                </a:cubicBezTo>
                <a:cubicBezTo>
                  <a:pt x="5055" y="2654"/>
                  <a:pt x="5364" y="2728"/>
                  <a:pt x="5654" y="2728"/>
                </a:cubicBezTo>
                <a:cubicBezTo>
                  <a:pt x="5749" y="2728"/>
                  <a:pt x="5842" y="2719"/>
                  <a:pt x="5933" y="2703"/>
                </a:cubicBezTo>
                <a:cubicBezTo>
                  <a:pt x="5897" y="2818"/>
                  <a:pt x="5836" y="2925"/>
                  <a:pt x="5754" y="301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3475D-0F51-4691-8D45-BA4B670F19F0}"/>
              </a:ext>
            </a:extLst>
          </p:cNvPr>
          <p:cNvSpPr/>
          <p:nvPr/>
        </p:nvSpPr>
        <p:spPr>
          <a:xfrm>
            <a:off x="3291733" y="3617205"/>
            <a:ext cx="210988" cy="21098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23AD2B-3A1F-469C-897D-593CDAD1EA55}"/>
              </a:ext>
            </a:extLst>
          </p:cNvPr>
          <p:cNvCxnSpPr/>
          <p:nvPr/>
        </p:nvCxnSpPr>
        <p:spPr>
          <a:xfrm>
            <a:off x="3560107" y="3722699"/>
            <a:ext cx="229081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ssembly-line_157631">
            <a:extLst>
              <a:ext uri="{FF2B5EF4-FFF2-40B4-BE49-F238E27FC236}">
                <a16:creationId xmlns:a16="http://schemas.microsoft.com/office/drawing/2014/main" id="{DCDD1AED-4F58-4555-A84E-805C82D72546}"/>
              </a:ext>
            </a:extLst>
          </p:cNvPr>
          <p:cNvSpPr>
            <a:spLocks noChangeAspect="1"/>
          </p:cNvSpPr>
          <p:nvPr/>
        </p:nvSpPr>
        <p:spPr bwMode="auto">
          <a:xfrm>
            <a:off x="3167478" y="3181185"/>
            <a:ext cx="459498" cy="324068"/>
          </a:xfrm>
          <a:custGeom>
            <a:avLst/>
            <a:gdLst>
              <a:gd name="connsiteX0" fmla="*/ 556268 w 608133"/>
              <a:gd name="connsiteY0" fmla="*/ 358048 h 428896"/>
              <a:gd name="connsiteX1" fmla="*/ 575321 w 608133"/>
              <a:gd name="connsiteY1" fmla="*/ 377030 h 428896"/>
              <a:gd name="connsiteX2" fmla="*/ 556268 w 608133"/>
              <a:gd name="connsiteY2" fmla="*/ 396012 h 428896"/>
              <a:gd name="connsiteX3" fmla="*/ 537215 w 608133"/>
              <a:gd name="connsiteY3" fmla="*/ 377030 h 428896"/>
              <a:gd name="connsiteX4" fmla="*/ 556268 w 608133"/>
              <a:gd name="connsiteY4" fmla="*/ 358048 h 428896"/>
              <a:gd name="connsiteX5" fmla="*/ 493217 w 608133"/>
              <a:gd name="connsiteY5" fmla="*/ 358048 h 428896"/>
              <a:gd name="connsiteX6" fmla="*/ 512305 w 608133"/>
              <a:gd name="connsiteY6" fmla="*/ 377030 h 428896"/>
              <a:gd name="connsiteX7" fmla="*/ 493217 w 608133"/>
              <a:gd name="connsiteY7" fmla="*/ 396012 h 428896"/>
              <a:gd name="connsiteX8" fmla="*/ 474129 w 608133"/>
              <a:gd name="connsiteY8" fmla="*/ 377030 h 428896"/>
              <a:gd name="connsiteX9" fmla="*/ 493217 w 608133"/>
              <a:gd name="connsiteY9" fmla="*/ 358048 h 428896"/>
              <a:gd name="connsiteX10" fmla="*/ 430167 w 608133"/>
              <a:gd name="connsiteY10" fmla="*/ 358048 h 428896"/>
              <a:gd name="connsiteX11" fmla="*/ 449220 w 608133"/>
              <a:gd name="connsiteY11" fmla="*/ 377030 h 428896"/>
              <a:gd name="connsiteX12" fmla="*/ 430167 w 608133"/>
              <a:gd name="connsiteY12" fmla="*/ 396012 h 428896"/>
              <a:gd name="connsiteX13" fmla="*/ 411114 w 608133"/>
              <a:gd name="connsiteY13" fmla="*/ 377030 h 428896"/>
              <a:gd name="connsiteX14" fmla="*/ 430167 w 608133"/>
              <a:gd name="connsiteY14" fmla="*/ 358048 h 428896"/>
              <a:gd name="connsiteX15" fmla="*/ 367117 w 608133"/>
              <a:gd name="connsiteY15" fmla="*/ 358048 h 428896"/>
              <a:gd name="connsiteX16" fmla="*/ 386205 w 608133"/>
              <a:gd name="connsiteY16" fmla="*/ 377030 h 428896"/>
              <a:gd name="connsiteX17" fmla="*/ 367117 w 608133"/>
              <a:gd name="connsiteY17" fmla="*/ 396012 h 428896"/>
              <a:gd name="connsiteX18" fmla="*/ 348029 w 608133"/>
              <a:gd name="connsiteY18" fmla="*/ 377030 h 428896"/>
              <a:gd name="connsiteX19" fmla="*/ 367117 w 608133"/>
              <a:gd name="connsiteY19" fmla="*/ 358048 h 428896"/>
              <a:gd name="connsiteX20" fmla="*/ 304067 w 608133"/>
              <a:gd name="connsiteY20" fmla="*/ 358048 h 428896"/>
              <a:gd name="connsiteX21" fmla="*/ 323120 w 608133"/>
              <a:gd name="connsiteY21" fmla="*/ 377030 h 428896"/>
              <a:gd name="connsiteX22" fmla="*/ 304067 w 608133"/>
              <a:gd name="connsiteY22" fmla="*/ 396012 h 428896"/>
              <a:gd name="connsiteX23" fmla="*/ 285014 w 608133"/>
              <a:gd name="connsiteY23" fmla="*/ 377030 h 428896"/>
              <a:gd name="connsiteX24" fmla="*/ 304067 w 608133"/>
              <a:gd name="connsiteY24" fmla="*/ 358048 h 428896"/>
              <a:gd name="connsiteX25" fmla="*/ 241016 w 608133"/>
              <a:gd name="connsiteY25" fmla="*/ 358048 h 428896"/>
              <a:gd name="connsiteX26" fmla="*/ 260104 w 608133"/>
              <a:gd name="connsiteY26" fmla="*/ 377030 h 428896"/>
              <a:gd name="connsiteX27" fmla="*/ 241016 w 608133"/>
              <a:gd name="connsiteY27" fmla="*/ 396012 h 428896"/>
              <a:gd name="connsiteX28" fmla="*/ 221928 w 608133"/>
              <a:gd name="connsiteY28" fmla="*/ 377030 h 428896"/>
              <a:gd name="connsiteX29" fmla="*/ 241016 w 608133"/>
              <a:gd name="connsiteY29" fmla="*/ 358048 h 428896"/>
              <a:gd name="connsiteX30" fmla="*/ 177966 w 608133"/>
              <a:gd name="connsiteY30" fmla="*/ 358048 h 428896"/>
              <a:gd name="connsiteX31" fmla="*/ 197019 w 608133"/>
              <a:gd name="connsiteY31" fmla="*/ 377030 h 428896"/>
              <a:gd name="connsiteX32" fmla="*/ 177966 w 608133"/>
              <a:gd name="connsiteY32" fmla="*/ 396012 h 428896"/>
              <a:gd name="connsiteX33" fmla="*/ 158913 w 608133"/>
              <a:gd name="connsiteY33" fmla="*/ 377030 h 428896"/>
              <a:gd name="connsiteX34" fmla="*/ 177966 w 608133"/>
              <a:gd name="connsiteY34" fmla="*/ 358048 h 428896"/>
              <a:gd name="connsiteX35" fmla="*/ 114916 w 608133"/>
              <a:gd name="connsiteY35" fmla="*/ 358048 h 428896"/>
              <a:gd name="connsiteX36" fmla="*/ 134004 w 608133"/>
              <a:gd name="connsiteY36" fmla="*/ 377030 h 428896"/>
              <a:gd name="connsiteX37" fmla="*/ 114916 w 608133"/>
              <a:gd name="connsiteY37" fmla="*/ 396012 h 428896"/>
              <a:gd name="connsiteX38" fmla="*/ 95828 w 608133"/>
              <a:gd name="connsiteY38" fmla="*/ 377030 h 428896"/>
              <a:gd name="connsiteX39" fmla="*/ 114916 w 608133"/>
              <a:gd name="connsiteY39" fmla="*/ 358048 h 428896"/>
              <a:gd name="connsiteX40" fmla="*/ 51866 w 608133"/>
              <a:gd name="connsiteY40" fmla="*/ 358048 h 428896"/>
              <a:gd name="connsiteX41" fmla="*/ 70919 w 608133"/>
              <a:gd name="connsiteY41" fmla="*/ 377030 h 428896"/>
              <a:gd name="connsiteX42" fmla="*/ 51866 w 608133"/>
              <a:gd name="connsiteY42" fmla="*/ 396012 h 428896"/>
              <a:gd name="connsiteX43" fmla="*/ 32813 w 608133"/>
              <a:gd name="connsiteY43" fmla="*/ 377030 h 428896"/>
              <a:gd name="connsiteX44" fmla="*/ 51866 w 608133"/>
              <a:gd name="connsiteY44" fmla="*/ 358048 h 428896"/>
              <a:gd name="connsiteX45" fmla="*/ 51917 w 608133"/>
              <a:gd name="connsiteY45" fmla="*/ 344887 h 428896"/>
              <a:gd name="connsiteX46" fmla="*/ 19703 w 608133"/>
              <a:gd name="connsiteY46" fmla="*/ 377055 h 428896"/>
              <a:gd name="connsiteX47" fmla="*/ 51917 w 608133"/>
              <a:gd name="connsiteY47" fmla="*/ 409222 h 428896"/>
              <a:gd name="connsiteX48" fmla="*/ 556314 w 608133"/>
              <a:gd name="connsiteY48" fmla="*/ 409222 h 428896"/>
              <a:gd name="connsiteX49" fmla="*/ 588430 w 608133"/>
              <a:gd name="connsiteY49" fmla="*/ 377055 h 428896"/>
              <a:gd name="connsiteX50" fmla="*/ 556314 w 608133"/>
              <a:gd name="connsiteY50" fmla="*/ 344887 h 428896"/>
              <a:gd name="connsiteX51" fmla="*/ 429525 w 608133"/>
              <a:gd name="connsiteY51" fmla="*/ 302982 h 428896"/>
              <a:gd name="connsiteX52" fmla="*/ 429525 w 608133"/>
              <a:gd name="connsiteY52" fmla="*/ 325213 h 428896"/>
              <a:gd name="connsiteX53" fmla="*/ 535922 w 608133"/>
              <a:gd name="connsiteY53" fmla="*/ 325213 h 428896"/>
              <a:gd name="connsiteX54" fmla="*/ 535922 w 608133"/>
              <a:gd name="connsiteY54" fmla="*/ 302982 h 428896"/>
              <a:gd name="connsiteX55" fmla="*/ 187868 w 608133"/>
              <a:gd name="connsiteY55" fmla="*/ 281930 h 428896"/>
              <a:gd name="connsiteX56" fmla="*/ 187868 w 608133"/>
              <a:gd name="connsiteY56" fmla="*/ 325213 h 428896"/>
              <a:gd name="connsiteX57" fmla="*/ 294264 w 608133"/>
              <a:gd name="connsiteY57" fmla="*/ 325213 h 428896"/>
              <a:gd name="connsiteX58" fmla="*/ 294264 w 608133"/>
              <a:gd name="connsiteY58" fmla="*/ 281930 h 428896"/>
              <a:gd name="connsiteX59" fmla="*/ 388149 w 608133"/>
              <a:gd name="connsiteY59" fmla="*/ 229499 h 428896"/>
              <a:gd name="connsiteX60" fmla="*/ 387459 w 608133"/>
              <a:gd name="connsiteY60" fmla="*/ 230187 h 428896"/>
              <a:gd name="connsiteX61" fmla="*/ 387459 w 608133"/>
              <a:gd name="connsiteY61" fmla="*/ 325213 h 428896"/>
              <a:gd name="connsiteX62" fmla="*/ 409822 w 608133"/>
              <a:gd name="connsiteY62" fmla="*/ 325213 h 428896"/>
              <a:gd name="connsiteX63" fmla="*/ 409822 w 608133"/>
              <a:gd name="connsiteY63" fmla="*/ 293144 h 428896"/>
              <a:gd name="connsiteX64" fmla="*/ 419674 w 608133"/>
              <a:gd name="connsiteY64" fmla="*/ 283307 h 428896"/>
              <a:gd name="connsiteX65" fmla="*/ 472872 w 608133"/>
              <a:gd name="connsiteY65" fmla="*/ 283307 h 428896"/>
              <a:gd name="connsiteX66" fmla="*/ 472872 w 608133"/>
              <a:gd name="connsiteY66" fmla="*/ 230187 h 428896"/>
              <a:gd name="connsiteX67" fmla="*/ 472182 w 608133"/>
              <a:gd name="connsiteY67" fmla="*/ 229499 h 428896"/>
              <a:gd name="connsiteX68" fmla="*/ 135951 w 608133"/>
              <a:gd name="connsiteY68" fmla="*/ 229499 h 428896"/>
              <a:gd name="connsiteX69" fmla="*/ 135261 w 608133"/>
              <a:gd name="connsiteY69" fmla="*/ 230187 h 428896"/>
              <a:gd name="connsiteX70" fmla="*/ 135261 w 608133"/>
              <a:gd name="connsiteY70" fmla="*/ 325213 h 428896"/>
              <a:gd name="connsiteX71" fmla="*/ 168165 w 608133"/>
              <a:gd name="connsiteY71" fmla="*/ 325213 h 428896"/>
              <a:gd name="connsiteX72" fmla="*/ 168165 w 608133"/>
              <a:gd name="connsiteY72" fmla="*/ 272093 h 428896"/>
              <a:gd name="connsiteX73" fmla="*/ 178017 w 608133"/>
              <a:gd name="connsiteY73" fmla="*/ 262256 h 428896"/>
              <a:gd name="connsiteX74" fmla="*/ 220674 w 608133"/>
              <a:gd name="connsiteY74" fmla="*/ 262256 h 428896"/>
              <a:gd name="connsiteX75" fmla="*/ 220674 w 608133"/>
              <a:gd name="connsiteY75" fmla="*/ 230187 h 428896"/>
              <a:gd name="connsiteX76" fmla="*/ 219984 w 608133"/>
              <a:gd name="connsiteY76" fmla="*/ 229499 h 428896"/>
              <a:gd name="connsiteX77" fmla="*/ 398001 w 608133"/>
              <a:gd name="connsiteY77" fmla="*/ 189855 h 428896"/>
              <a:gd name="connsiteX78" fmla="*/ 398001 w 608133"/>
              <a:gd name="connsiteY78" fmla="*/ 209825 h 428896"/>
              <a:gd name="connsiteX79" fmla="*/ 462331 w 608133"/>
              <a:gd name="connsiteY79" fmla="*/ 209825 h 428896"/>
              <a:gd name="connsiteX80" fmla="*/ 462331 w 608133"/>
              <a:gd name="connsiteY80" fmla="*/ 189855 h 428896"/>
              <a:gd name="connsiteX81" fmla="*/ 430215 w 608133"/>
              <a:gd name="connsiteY81" fmla="*/ 198020 h 428896"/>
              <a:gd name="connsiteX82" fmla="*/ 398001 w 608133"/>
              <a:gd name="connsiteY82" fmla="*/ 189855 h 428896"/>
              <a:gd name="connsiteX83" fmla="*/ 145802 w 608133"/>
              <a:gd name="connsiteY83" fmla="*/ 189855 h 428896"/>
              <a:gd name="connsiteX84" fmla="*/ 145802 w 608133"/>
              <a:gd name="connsiteY84" fmla="*/ 209825 h 428896"/>
              <a:gd name="connsiteX85" fmla="*/ 210132 w 608133"/>
              <a:gd name="connsiteY85" fmla="*/ 209825 h 428896"/>
              <a:gd name="connsiteX86" fmla="*/ 210132 w 608133"/>
              <a:gd name="connsiteY86" fmla="*/ 189855 h 428896"/>
              <a:gd name="connsiteX87" fmla="*/ 178017 w 608133"/>
              <a:gd name="connsiteY87" fmla="*/ 198020 h 428896"/>
              <a:gd name="connsiteX88" fmla="*/ 145802 w 608133"/>
              <a:gd name="connsiteY88" fmla="*/ 189855 h 428896"/>
              <a:gd name="connsiteX89" fmla="*/ 482034 w 608133"/>
              <a:gd name="connsiteY89" fmla="*/ 186216 h 428896"/>
              <a:gd name="connsiteX90" fmla="*/ 482034 w 608133"/>
              <a:gd name="connsiteY90" fmla="*/ 212382 h 428896"/>
              <a:gd name="connsiteX91" fmla="*/ 492575 w 608133"/>
              <a:gd name="connsiteY91" fmla="*/ 230187 h 428896"/>
              <a:gd name="connsiteX92" fmla="*/ 492575 w 608133"/>
              <a:gd name="connsiteY92" fmla="*/ 283307 h 428896"/>
              <a:gd name="connsiteX93" fmla="*/ 514938 w 608133"/>
              <a:gd name="connsiteY93" fmla="*/ 283307 h 428896"/>
              <a:gd name="connsiteX94" fmla="*/ 514938 w 608133"/>
              <a:gd name="connsiteY94" fmla="*/ 211890 h 428896"/>
              <a:gd name="connsiteX95" fmla="*/ 499175 w 608133"/>
              <a:gd name="connsiteY95" fmla="*/ 191134 h 428896"/>
              <a:gd name="connsiteX96" fmla="*/ 378298 w 608133"/>
              <a:gd name="connsiteY96" fmla="*/ 186216 h 428896"/>
              <a:gd name="connsiteX97" fmla="*/ 361156 w 608133"/>
              <a:gd name="connsiteY97" fmla="*/ 191134 h 428896"/>
              <a:gd name="connsiteX98" fmla="*/ 345492 w 608133"/>
              <a:gd name="connsiteY98" fmla="*/ 211890 h 428896"/>
              <a:gd name="connsiteX99" fmla="*/ 345492 w 608133"/>
              <a:gd name="connsiteY99" fmla="*/ 325213 h 428896"/>
              <a:gd name="connsiteX100" fmla="*/ 367756 w 608133"/>
              <a:gd name="connsiteY100" fmla="*/ 325213 h 428896"/>
              <a:gd name="connsiteX101" fmla="*/ 367756 w 608133"/>
              <a:gd name="connsiteY101" fmla="*/ 230187 h 428896"/>
              <a:gd name="connsiteX102" fmla="*/ 378298 w 608133"/>
              <a:gd name="connsiteY102" fmla="*/ 212382 h 428896"/>
              <a:gd name="connsiteX103" fmla="*/ 229835 w 608133"/>
              <a:gd name="connsiteY103" fmla="*/ 186216 h 428896"/>
              <a:gd name="connsiteX104" fmla="*/ 229835 w 608133"/>
              <a:gd name="connsiteY104" fmla="*/ 212382 h 428896"/>
              <a:gd name="connsiteX105" fmla="*/ 240377 w 608133"/>
              <a:gd name="connsiteY105" fmla="*/ 230187 h 428896"/>
              <a:gd name="connsiteX106" fmla="*/ 240377 w 608133"/>
              <a:gd name="connsiteY106" fmla="*/ 262256 h 428896"/>
              <a:gd name="connsiteX107" fmla="*/ 262739 w 608133"/>
              <a:gd name="connsiteY107" fmla="*/ 262256 h 428896"/>
              <a:gd name="connsiteX108" fmla="*/ 262739 w 608133"/>
              <a:gd name="connsiteY108" fmla="*/ 211890 h 428896"/>
              <a:gd name="connsiteX109" fmla="*/ 246977 w 608133"/>
              <a:gd name="connsiteY109" fmla="*/ 191134 h 428896"/>
              <a:gd name="connsiteX110" fmla="*/ 126099 w 608133"/>
              <a:gd name="connsiteY110" fmla="*/ 186216 h 428896"/>
              <a:gd name="connsiteX111" fmla="*/ 108958 w 608133"/>
              <a:gd name="connsiteY111" fmla="*/ 191134 h 428896"/>
              <a:gd name="connsiteX112" fmla="*/ 93294 w 608133"/>
              <a:gd name="connsiteY112" fmla="*/ 211890 h 428896"/>
              <a:gd name="connsiteX113" fmla="*/ 93294 w 608133"/>
              <a:gd name="connsiteY113" fmla="*/ 325213 h 428896"/>
              <a:gd name="connsiteX114" fmla="*/ 115558 w 608133"/>
              <a:gd name="connsiteY114" fmla="*/ 325213 h 428896"/>
              <a:gd name="connsiteX115" fmla="*/ 115558 w 608133"/>
              <a:gd name="connsiteY115" fmla="*/ 230187 h 428896"/>
              <a:gd name="connsiteX116" fmla="*/ 126099 w 608133"/>
              <a:gd name="connsiteY116" fmla="*/ 212382 h 428896"/>
              <a:gd name="connsiteX117" fmla="*/ 408542 w 608133"/>
              <a:gd name="connsiteY117" fmla="*/ 161131 h 428896"/>
              <a:gd name="connsiteX118" fmla="*/ 408542 w 608133"/>
              <a:gd name="connsiteY118" fmla="*/ 173132 h 428896"/>
              <a:gd name="connsiteX119" fmla="*/ 430215 w 608133"/>
              <a:gd name="connsiteY119" fmla="*/ 178346 h 428896"/>
              <a:gd name="connsiteX120" fmla="*/ 451888 w 608133"/>
              <a:gd name="connsiteY120" fmla="*/ 173132 h 428896"/>
              <a:gd name="connsiteX121" fmla="*/ 451888 w 608133"/>
              <a:gd name="connsiteY121" fmla="*/ 170476 h 428896"/>
              <a:gd name="connsiteX122" fmla="*/ 451888 w 608133"/>
              <a:gd name="connsiteY122" fmla="*/ 170181 h 428896"/>
              <a:gd name="connsiteX123" fmla="*/ 451888 w 608133"/>
              <a:gd name="connsiteY123" fmla="*/ 161131 h 428896"/>
              <a:gd name="connsiteX124" fmla="*/ 451494 w 608133"/>
              <a:gd name="connsiteY124" fmla="*/ 161328 h 428896"/>
              <a:gd name="connsiteX125" fmla="*/ 434353 w 608133"/>
              <a:gd name="connsiteY125" fmla="*/ 166541 h 428896"/>
              <a:gd name="connsiteX126" fmla="*/ 426077 w 608133"/>
              <a:gd name="connsiteY126" fmla="*/ 166541 h 428896"/>
              <a:gd name="connsiteX127" fmla="*/ 408936 w 608133"/>
              <a:gd name="connsiteY127" fmla="*/ 161328 h 428896"/>
              <a:gd name="connsiteX128" fmla="*/ 156343 w 608133"/>
              <a:gd name="connsiteY128" fmla="*/ 161131 h 428896"/>
              <a:gd name="connsiteX129" fmla="*/ 156343 w 608133"/>
              <a:gd name="connsiteY129" fmla="*/ 173132 h 428896"/>
              <a:gd name="connsiteX130" fmla="*/ 178017 w 608133"/>
              <a:gd name="connsiteY130" fmla="*/ 178346 h 428896"/>
              <a:gd name="connsiteX131" fmla="*/ 199690 w 608133"/>
              <a:gd name="connsiteY131" fmla="*/ 173132 h 428896"/>
              <a:gd name="connsiteX132" fmla="*/ 199690 w 608133"/>
              <a:gd name="connsiteY132" fmla="*/ 170476 h 428896"/>
              <a:gd name="connsiteX133" fmla="*/ 199690 w 608133"/>
              <a:gd name="connsiteY133" fmla="*/ 170181 h 428896"/>
              <a:gd name="connsiteX134" fmla="*/ 199690 w 608133"/>
              <a:gd name="connsiteY134" fmla="*/ 161131 h 428896"/>
              <a:gd name="connsiteX135" fmla="*/ 199296 w 608133"/>
              <a:gd name="connsiteY135" fmla="*/ 161328 h 428896"/>
              <a:gd name="connsiteX136" fmla="*/ 182154 w 608133"/>
              <a:gd name="connsiteY136" fmla="*/ 166541 h 428896"/>
              <a:gd name="connsiteX137" fmla="*/ 173879 w 608133"/>
              <a:gd name="connsiteY137" fmla="*/ 166541 h 428896"/>
              <a:gd name="connsiteX138" fmla="*/ 156737 w 608133"/>
              <a:gd name="connsiteY138" fmla="*/ 161328 h 428896"/>
              <a:gd name="connsiteX139" fmla="*/ 398001 w 608133"/>
              <a:gd name="connsiteY139" fmla="*/ 93059 h 428896"/>
              <a:gd name="connsiteX140" fmla="*/ 398001 w 608133"/>
              <a:gd name="connsiteY140" fmla="*/ 124537 h 428896"/>
              <a:gd name="connsiteX141" fmla="*/ 402926 w 608133"/>
              <a:gd name="connsiteY141" fmla="*/ 133784 h 428896"/>
              <a:gd name="connsiteX142" fmla="*/ 419871 w 608133"/>
              <a:gd name="connsiteY142" fmla="*/ 144998 h 428896"/>
              <a:gd name="connsiteX143" fmla="*/ 426077 w 608133"/>
              <a:gd name="connsiteY143" fmla="*/ 146867 h 428896"/>
              <a:gd name="connsiteX144" fmla="*/ 434353 w 608133"/>
              <a:gd name="connsiteY144" fmla="*/ 146867 h 428896"/>
              <a:gd name="connsiteX145" fmla="*/ 440559 w 608133"/>
              <a:gd name="connsiteY145" fmla="*/ 144998 h 428896"/>
              <a:gd name="connsiteX146" fmla="*/ 457405 w 608133"/>
              <a:gd name="connsiteY146" fmla="*/ 133784 h 428896"/>
              <a:gd name="connsiteX147" fmla="*/ 462331 w 608133"/>
              <a:gd name="connsiteY147" fmla="*/ 124537 h 428896"/>
              <a:gd name="connsiteX148" fmla="*/ 462331 w 608133"/>
              <a:gd name="connsiteY148" fmla="*/ 93059 h 428896"/>
              <a:gd name="connsiteX149" fmla="*/ 145802 w 608133"/>
              <a:gd name="connsiteY149" fmla="*/ 93059 h 428896"/>
              <a:gd name="connsiteX150" fmla="*/ 145802 w 608133"/>
              <a:gd name="connsiteY150" fmla="*/ 124537 h 428896"/>
              <a:gd name="connsiteX151" fmla="*/ 150728 w 608133"/>
              <a:gd name="connsiteY151" fmla="*/ 133784 h 428896"/>
              <a:gd name="connsiteX152" fmla="*/ 167672 w 608133"/>
              <a:gd name="connsiteY152" fmla="*/ 144998 h 428896"/>
              <a:gd name="connsiteX153" fmla="*/ 173879 w 608133"/>
              <a:gd name="connsiteY153" fmla="*/ 146867 h 428896"/>
              <a:gd name="connsiteX154" fmla="*/ 182154 w 608133"/>
              <a:gd name="connsiteY154" fmla="*/ 146867 h 428896"/>
              <a:gd name="connsiteX155" fmla="*/ 188361 w 608133"/>
              <a:gd name="connsiteY155" fmla="*/ 144998 h 428896"/>
              <a:gd name="connsiteX156" fmla="*/ 205207 w 608133"/>
              <a:gd name="connsiteY156" fmla="*/ 133784 h 428896"/>
              <a:gd name="connsiteX157" fmla="*/ 210132 w 608133"/>
              <a:gd name="connsiteY157" fmla="*/ 124537 h 428896"/>
              <a:gd name="connsiteX158" fmla="*/ 210132 w 608133"/>
              <a:gd name="connsiteY158" fmla="*/ 93059 h 428896"/>
              <a:gd name="connsiteX159" fmla="*/ 440066 w 608133"/>
              <a:gd name="connsiteY159" fmla="*/ 31282 h 428896"/>
              <a:gd name="connsiteX160" fmla="*/ 440066 w 608133"/>
              <a:gd name="connsiteY160" fmla="*/ 73384 h 428896"/>
              <a:gd name="connsiteX161" fmla="*/ 472182 w 608133"/>
              <a:gd name="connsiteY161" fmla="*/ 73384 h 428896"/>
              <a:gd name="connsiteX162" fmla="*/ 472872 w 608133"/>
              <a:gd name="connsiteY162" fmla="*/ 73384 h 428896"/>
              <a:gd name="connsiteX163" fmla="*/ 472872 w 608133"/>
              <a:gd name="connsiteY163" fmla="*/ 72794 h 428896"/>
              <a:gd name="connsiteX164" fmla="*/ 440066 w 608133"/>
              <a:gd name="connsiteY164" fmla="*/ 31282 h 428896"/>
              <a:gd name="connsiteX165" fmla="*/ 420363 w 608133"/>
              <a:gd name="connsiteY165" fmla="*/ 31282 h 428896"/>
              <a:gd name="connsiteX166" fmla="*/ 387459 w 608133"/>
              <a:gd name="connsiteY166" fmla="*/ 72794 h 428896"/>
              <a:gd name="connsiteX167" fmla="*/ 387459 w 608133"/>
              <a:gd name="connsiteY167" fmla="*/ 73384 h 428896"/>
              <a:gd name="connsiteX168" fmla="*/ 388149 w 608133"/>
              <a:gd name="connsiteY168" fmla="*/ 73384 h 428896"/>
              <a:gd name="connsiteX169" fmla="*/ 420363 w 608133"/>
              <a:gd name="connsiteY169" fmla="*/ 73384 h 428896"/>
              <a:gd name="connsiteX170" fmla="*/ 187868 w 608133"/>
              <a:gd name="connsiteY170" fmla="*/ 31282 h 428896"/>
              <a:gd name="connsiteX171" fmla="*/ 187868 w 608133"/>
              <a:gd name="connsiteY171" fmla="*/ 73384 h 428896"/>
              <a:gd name="connsiteX172" fmla="*/ 219984 w 608133"/>
              <a:gd name="connsiteY172" fmla="*/ 73384 h 428896"/>
              <a:gd name="connsiteX173" fmla="*/ 220674 w 608133"/>
              <a:gd name="connsiteY173" fmla="*/ 73384 h 428896"/>
              <a:gd name="connsiteX174" fmla="*/ 220674 w 608133"/>
              <a:gd name="connsiteY174" fmla="*/ 72794 h 428896"/>
              <a:gd name="connsiteX175" fmla="*/ 187868 w 608133"/>
              <a:gd name="connsiteY175" fmla="*/ 31282 h 428896"/>
              <a:gd name="connsiteX176" fmla="*/ 168165 w 608133"/>
              <a:gd name="connsiteY176" fmla="*/ 31282 h 428896"/>
              <a:gd name="connsiteX177" fmla="*/ 135261 w 608133"/>
              <a:gd name="connsiteY177" fmla="*/ 72794 h 428896"/>
              <a:gd name="connsiteX178" fmla="*/ 135261 w 608133"/>
              <a:gd name="connsiteY178" fmla="*/ 73384 h 428896"/>
              <a:gd name="connsiteX179" fmla="*/ 135951 w 608133"/>
              <a:gd name="connsiteY179" fmla="*/ 73384 h 428896"/>
              <a:gd name="connsiteX180" fmla="*/ 168165 w 608133"/>
              <a:gd name="connsiteY180" fmla="*/ 73384 h 428896"/>
              <a:gd name="connsiteX181" fmla="*/ 178017 w 608133"/>
              <a:gd name="connsiteY181" fmla="*/ 0 h 428896"/>
              <a:gd name="connsiteX182" fmla="*/ 187868 w 608133"/>
              <a:gd name="connsiteY182" fmla="*/ 9837 h 428896"/>
              <a:gd name="connsiteX183" fmla="*/ 187868 w 608133"/>
              <a:gd name="connsiteY183" fmla="*/ 11214 h 428896"/>
              <a:gd name="connsiteX184" fmla="*/ 240377 w 608133"/>
              <a:gd name="connsiteY184" fmla="*/ 72794 h 428896"/>
              <a:gd name="connsiteX185" fmla="*/ 240377 w 608133"/>
              <a:gd name="connsiteY185" fmla="*/ 73384 h 428896"/>
              <a:gd name="connsiteX186" fmla="*/ 241066 w 608133"/>
              <a:gd name="connsiteY186" fmla="*/ 73384 h 428896"/>
              <a:gd name="connsiteX187" fmla="*/ 250918 w 608133"/>
              <a:gd name="connsiteY187" fmla="*/ 83222 h 428896"/>
              <a:gd name="connsiteX188" fmla="*/ 241066 w 608133"/>
              <a:gd name="connsiteY188" fmla="*/ 93059 h 428896"/>
              <a:gd name="connsiteX189" fmla="*/ 229835 w 608133"/>
              <a:gd name="connsiteY189" fmla="*/ 93059 h 428896"/>
              <a:gd name="connsiteX190" fmla="*/ 229835 w 608133"/>
              <a:gd name="connsiteY190" fmla="*/ 124537 h 428896"/>
              <a:gd name="connsiteX191" fmla="*/ 219393 w 608133"/>
              <a:gd name="connsiteY191" fmla="*/ 147654 h 428896"/>
              <a:gd name="connsiteX192" fmla="*/ 219393 w 608133"/>
              <a:gd name="connsiteY192" fmla="*/ 162803 h 428896"/>
              <a:gd name="connsiteX193" fmla="*/ 252395 w 608133"/>
              <a:gd name="connsiteY193" fmla="*/ 172247 h 428896"/>
              <a:gd name="connsiteX194" fmla="*/ 282442 w 608133"/>
              <a:gd name="connsiteY194" fmla="*/ 211890 h 428896"/>
              <a:gd name="connsiteX195" fmla="*/ 282442 w 608133"/>
              <a:gd name="connsiteY195" fmla="*/ 262256 h 428896"/>
              <a:gd name="connsiteX196" fmla="*/ 304116 w 608133"/>
              <a:gd name="connsiteY196" fmla="*/ 262256 h 428896"/>
              <a:gd name="connsiteX197" fmla="*/ 313967 w 608133"/>
              <a:gd name="connsiteY197" fmla="*/ 272093 h 428896"/>
              <a:gd name="connsiteX198" fmla="*/ 313967 w 608133"/>
              <a:gd name="connsiteY198" fmla="*/ 325213 h 428896"/>
              <a:gd name="connsiteX199" fmla="*/ 325789 w 608133"/>
              <a:gd name="connsiteY199" fmla="*/ 325213 h 428896"/>
              <a:gd name="connsiteX200" fmla="*/ 325789 w 608133"/>
              <a:gd name="connsiteY200" fmla="*/ 211890 h 428896"/>
              <a:gd name="connsiteX201" fmla="*/ 355738 w 608133"/>
              <a:gd name="connsiteY201" fmla="*/ 172247 h 428896"/>
              <a:gd name="connsiteX202" fmla="*/ 388839 w 608133"/>
              <a:gd name="connsiteY202" fmla="*/ 162803 h 428896"/>
              <a:gd name="connsiteX203" fmla="*/ 388839 w 608133"/>
              <a:gd name="connsiteY203" fmla="*/ 147654 h 428896"/>
              <a:gd name="connsiteX204" fmla="*/ 378298 w 608133"/>
              <a:gd name="connsiteY204" fmla="*/ 124439 h 428896"/>
              <a:gd name="connsiteX205" fmla="*/ 378298 w 608133"/>
              <a:gd name="connsiteY205" fmla="*/ 93059 h 428896"/>
              <a:gd name="connsiteX206" fmla="*/ 367165 w 608133"/>
              <a:gd name="connsiteY206" fmla="*/ 93059 h 428896"/>
              <a:gd name="connsiteX207" fmla="*/ 357314 w 608133"/>
              <a:gd name="connsiteY207" fmla="*/ 83222 h 428896"/>
              <a:gd name="connsiteX208" fmla="*/ 367165 w 608133"/>
              <a:gd name="connsiteY208" fmla="*/ 73384 h 428896"/>
              <a:gd name="connsiteX209" fmla="*/ 367756 w 608133"/>
              <a:gd name="connsiteY209" fmla="*/ 73384 h 428896"/>
              <a:gd name="connsiteX210" fmla="*/ 367756 w 608133"/>
              <a:gd name="connsiteY210" fmla="*/ 72794 h 428896"/>
              <a:gd name="connsiteX211" fmla="*/ 420363 w 608133"/>
              <a:gd name="connsiteY211" fmla="*/ 11214 h 428896"/>
              <a:gd name="connsiteX212" fmla="*/ 420363 w 608133"/>
              <a:gd name="connsiteY212" fmla="*/ 9837 h 428896"/>
              <a:gd name="connsiteX213" fmla="*/ 430215 w 608133"/>
              <a:gd name="connsiteY213" fmla="*/ 0 h 428896"/>
              <a:gd name="connsiteX214" fmla="*/ 440066 w 608133"/>
              <a:gd name="connsiteY214" fmla="*/ 9837 h 428896"/>
              <a:gd name="connsiteX215" fmla="*/ 440066 w 608133"/>
              <a:gd name="connsiteY215" fmla="*/ 11214 h 428896"/>
              <a:gd name="connsiteX216" fmla="*/ 492575 w 608133"/>
              <a:gd name="connsiteY216" fmla="*/ 72794 h 428896"/>
              <a:gd name="connsiteX217" fmla="*/ 492575 w 608133"/>
              <a:gd name="connsiteY217" fmla="*/ 73384 h 428896"/>
              <a:gd name="connsiteX218" fmla="*/ 493265 w 608133"/>
              <a:gd name="connsiteY218" fmla="*/ 73384 h 428896"/>
              <a:gd name="connsiteX219" fmla="*/ 503116 w 608133"/>
              <a:gd name="connsiteY219" fmla="*/ 83222 h 428896"/>
              <a:gd name="connsiteX220" fmla="*/ 493265 w 608133"/>
              <a:gd name="connsiteY220" fmla="*/ 93059 h 428896"/>
              <a:gd name="connsiteX221" fmla="*/ 482034 w 608133"/>
              <a:gd name="connsiteY221" fmla="*/ 93059 h 428896"/>
              <a:gd name="connsiteX222" fmla="*/ 482034 w 608133"/>
              <a:gd name="connsiteY222" fmla="*/ 124537 h 428896"/>
              <a:gd name="connsiteX223" fmla="*/ 471591 w 608133"/>
              <a:gd name="connsiteY223" fmla="*/ 147654 h 428896"/>
              <a:gd name="connsiteX224" fmla="*/ 471591 w 608133"/>
              <a:gd name="connsiteY224" fmla="*/ 162803 h 428896"/>
              <a:gd name="connsiteX225" fmla="*/ 504594 w 608133"/>
              <a:gd name="connsiteY225" fmla="*/ 172247 h 428896"/>
              <a:gd name="connsiteX226" fmla="*/ 534641 w 608133"/>
              <a:gd name="connsiteY226" fmla="*/ 211890 h 428896"/>
              <a:gd name="connsiteX227" fmla="*/ 534641 w 608133"/>
              <a:gd name="connsiteY227" fmla="*/ 283307 h 428896"/>
              <a:gd name="connsiteX228" fmla="*/ 545773 w 608133"/>
              <a:gd name="connsiteY228" fmla="*/ 283307 h 428896"/>
              <a:gd name="connsiteX229" fmla="*/ 555624 w 608133"/>
              <a:gd name="connsiteY229" fmla="*/ 293144 h 428896"/>
              <a:gd name="connsiteX230" fmla="*/ 555624 w 608133"/>
              <a:gd name="connsiteY230" fmla="*/ 325213 h 428896"/>
              <a:gd name="connsiteX231" fmla="*/ 556314 w 608133"/>
              <a:gd name="connsiteY231" fmla="*/ 325213 h 428896"/>
              <a:gd name="connsiteX232" fmla="*/ 608133 w 608133"/>
              <a:gd name="connsiteY232" fmla="*/ 377055 h 428896"/>
              <a:gd name="connsiteX233" fmla="*/ 556314 w 608133"/>
              <a:gd name="connsiteY233" fmla="*/ 428896 h 428896"/>
              <a:gd name="connsiteX234" fmla="*/ 51917 w 608133"/>
              <a:gd name="connsiteY234" fmla="*/ 428896 h 428896"/>
              <a:gd name="connsiteX235" fmla="*/ 0 w 608133"/>
              <a:gd name="connsiteY235" fmla="*/ 377055 h 428896"/>
              <a:gd name="connsiteX236" fmla="*/ 51917 w 608133"/>
              <a:gd name="connsiteY236" fmla="*/ 325213 h 428896"/>
              <a:gd name="connsiteX237" fmla="*/ 73591 w 608133"/>
              <a:gd name="connsiteY237" fmla="*/ 325213 h 428896"/>
              <a:gd name="connsiteX238" fmla="*/ 73591 w 608133"/>
              <a:gd name="connsiteY238" fmla="*/ 211890 h 428896"/>
              <a:gd name="connsiteX239" fmla="*/ 103539 w 608133"/>
              <a:gd name="connsiteY239" fmla="*/ 172247 h 428896"/>
              <a:gd name="connsiteX240" fmla="*/ 136640 w 608133"/>
              <a:gd name="connsiteY240" fmla="*/ 162803 h 428896"/>
              <a:gd name="connsiteX241" fmla="*/ 136640 w 608133"/>
              <a:gd name="connsiteY241" fmla="*/ 147654 h 428896"/>
              <a:gd name="connsiteX242" fmla="*/ 126099 w 608133"/>
              <a:gd name="connsiteY242" fmla="*/ 124439 h 428896"/>
              <a:gd name="connsiteX243" fmla="*/ 126099 w 608133"/>
              <a:gd name="connsiteY243" fmla="*/ 93059 h 428896"/>
              <a:gd name="connsiteX244" fmla="*/ 114967 w 608133"/>
              <a:gd name="connsiteY244" fmla="*/ 93059 h 428896"/>
              <a:gd name="connsiteX245" fmla="*/ 105115 w 608133"/>
              <a:gd name="connsiteY245" fmla="*/ 83222 h 428896"/>
              <a:gd name="connsiteX246" fmla="*/ 114967 w 608133"/>
              <a:gd name="connsiteY246" fmla="*/ 73384 h 428896"/>
              <a:gd name="connsiteX247" fmla="*/ 115558 w 608133"/>
              <a:gd name="connsiteY247" fmla="*/ 73384 h 428896"/>
              <a:gd name="connsiteX248" fmla="*/ 115558 w 608133"/>
              <a:gd name="connsiteY248" fmla="*/ 72794 h 428896"/>
              <a:gd name="connsiteX249" fmla="*/ 168165 w 608133"/>
              <a:gd name="connsiteY249" fmla="*/ 11214 h 428896"/>
              <a:gd name="connsiteX250" fmla="*/ 168165 w 608133"/>
              <a:gd name="connsiteY250" fmla="*/ 9837 h 428896"/>
              <a:gd name="connsiteX251" fmla="*/ 178017 w 608133"/>
              <a:gd name="connsiteY251" fmla="*/ 0 h 42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608133" h="428896">
                <a:moveTo>
                  <a:pt x="556268" y="358048"/>
                </a:moveTo>
                <a:cubicBezTo>
                  <a:pt x="566791" y="358048"/>
                  <a:pt x="575321" y="366547"/>
                  <a:pt x="575321" y="377030"/>
                </a:cubicBezTo>
                <a:cubicBezTo>
                  <a:pt x="575321" y="387513"/>
                  <a:pt x="566791" y="396012"/>
                  <a:pt x="556268" y="396012"/>
                </a:cubicBezTo>
                <a:cubicBezTo>
                  <a:pt x="545745" y="396012"/>
                  <a:pt x="537215" y="387513"/>
                  <a:pt x="537215" y="377030"/>
                </a:cubicBezTo>
                <a:cubicBezTo>
                  <a:pt x="537215" y="366547"/>
                  <a:pt x="545745" y="358048"/>
                  <a:pt x="556268" y="358048"/>
                </a:cubicBezTo>
                <a:close/>
                <a:moveTo>
                  <a:pt x="493217" y="358048"/>
                </a:moveTo>
                <a:cubicBezTo>
                  <a:pt x="503759" y="358048"/>
                  <a:pt x="512305" y="366547"/>
                  <a:pt x="512305" y="377030"/>
                </a:cubicBezTo>
                <a:cubicBezTo>
                  <a:pt x="512305" y="387513"/>
                  <a:pt x="503759" y="396012"/>
                  <a:pt x="493217" y="396012"/>
                </a:cubicBezTo>
                <a:cubicBezTo>
                  <a:pt x="482675" y="396012"/>
                  <a:pt x="474129" y="387513"/>
                  <a:pt x="474129" y="377030"/>
                </a:cubicBezTo>
                <a:cubicBezTo>
                  <a:pt x="474129" y="366547"/>
                  <a:pt x="482675" y="358048"/>
                  <a:pt x="493217" y="358048"/>
                </a:cubicBezTo>
                <a:close/>
                <a:moveTo>
                  <a:pt x="430167" y="358048"/>
                </a:moveTo>
                <a:cubicBezTo>
                  <a:pt x="440690" y="358048"/>
                  <a:pt x="449220" y="366547"/>
                  <a:pt x="449220" y="377030"/>
                </a:cubicBezTo>
                <a:cubicBezTo>
                  <a:pt x="449220" y="387513"/>
                  <a:pt x="440690" y="396012"/>
                  <a:pt x="430167" y="396012"/>
                </a:cubicBezTo>
                <a:cubicBezTo>
                  <a:pt x="419644" y="396012"/>
                  <a:pt x="411114" y="387513"/>
                  <a:pt x="411114" y="377030"/>
                </a:cubicBezTo>
                <a:cubicBezTo>
                  <a:pt x="411114" y="366547"/>
                  <a:pt x="419644" y="358048"/>
                  <a:pt x="430167" y="358048"/>
                </a:cubicBezTo>
                <a:close/>
                <a:moveTo>
                  <a:pt x="367117" y="358048"/>
                </a:moveTo>
                <a:cubicBezTo>
                  <a:pt x="377659" y="358048"/>
                  <a:pt x="386205" y="366547"/>
                  <a:pt x="386205" y="377030"/>
                </a:cubicBezTo>
                <a:cubicBezTo>
                  <a:pt x="386205" y="387513"/>
                  <a:pt x="377659" y="396012"/>
                  <a:pt x="367117" y="396012"/>
                </a:cubicBezTo>
                <a:cubicBezTo>
                  <a:pt x="356575" y="396012"/>
                  <a:pt x="348029" y="387513"/>
                  <a:pt x="348029" y="377030"/>
                </a:cubicBezTo>
                <a:cubicBezTo>
                  <a:pt x="348029" y="366547"/>
                  <a:pt x="356575" y="358048"/>
                  <a:pt x="367117" y="358048"/>
                </a:cubicBezTo>
                <a:close/>
                <a:moveTo>
                  <a:pt x="304067" y="358048"/>
                </a:moveTo>
                <a:cubicBezTo>
                  <a:pt x="314590" y="358048"/>
                  <a:pt x="323120" y="366547"/>
                  <a:pt x="323120" y="377030"/>
                </a:cubicBezTo>
                <a:cubicBezTo>
                  <a:pt x="323120" y="387513"/>
                  <a:pt x="314590" y="396012"/>
                  <a:pt x="304067" y="396012"/>
                </a:cubicBezTo>
                <a:cubicBezTo>
                  <a:pt x="293544" y="396012"/>
                  <a:pt x="285014" y="387513"/>
                  <a:pt x="285014" y="377030"/>
                </a:cubicBezTo>
                <a:cubicBezTo>
                  <a:pt x="285014" y="366547"/>
                  <a:pt x="293544" y="358048"/>
                  <a:pt x="304067" y="358048"/>
                </a:cubicBezTo>
                <a:close/>
                <a:moveTo>
                  <a:pt x="241016" y="358048"/>
                </a:moveTo>
                <a:cubicBezTo>
                  <a:pt x="251558" y="358048"/>
                  <a:pt x="260104" y="366547"/>
                  <a:pt x="260104" y="377030"/>
                </a:cubicBezTo>
                <a:cubicBezTo>
                  <a:pt x="260104" y="387513"/>
                  <a:pt x="251558" y="396012"/>
                  <a:pt x="241016" y="396012"/>
                </a:cubicBezTo>
                <a:cubicBezTo>
                  <a:pt x="230474" y="396012"/>
                  <a:pt x="221928" y="387513"/>
                  <a:pt x="221928" y="377030"/>
                </a:cubicBezTo>
                <a:cubicBezTo>
                  <a:pt x="221928" y="366547"/>
                  <a:pt x="230474" y="358048"/>
                  <a:pt x="241016" y="358048"/>
                </a:cubicBezTo>
                <a:close/>
                <a:moveTo>
                  <a:pt x="177966" y="358048"/>
                </a:moveTo>
                <a:cubicBezTo>
                  <a:pt x="188489" y="358048"/>
                  <a:pt x="197019" y="366547"/>
                  <a:pt x="197019" y="377030"/>
                </a:cubicBezTo>
                <a:cubicBezTo>
                  <a:pt x="197019" y="387513"/>
                  <a:pt x="188489" y="396012"/>
                  <a:pt x="177966" y="396012"/>
                </a:cubicBezTo>
                <a:cubicBezTo>
                  <a:pt x="167443" y="396012"/>
                  <a:pt x="158913" y="387513"/>
                  <a:pt x="158913" y="377030"/>
                </a:cubicBezTo>
                <a:cubicBezTo>
                  <a:pt x="158913" y="366547"/>
                  <a:pt x="167443" y="358048"/>
                  <a:pt x="177966" y="358048"/>
                </a:cubicBezTo>
                <a:close/>
                <a:moveTo>
                  <a:pt x="114916" y="358048"/>
                </a:moveTo>
                <a:cubicBezTo>
                  <a:pt x="125458" y="358048"/>
                  <a:pt x="134004" y="366547"/>
                  <a:pt x="134004" y="377030"/>
                </a:cubicBezTo>
                <a:cubicBezTo>
                  <a:pt x="134004" y="387513"/>
                  <a:pt x="125458" y="396012"/>
                  <a:pt x="114916" y="396012"/>
                </a:cubicBezTo>
                <a:cubicBezTo>
                  <a:pt x="104374" y="396012"/>
                  <a:pt x="95828" y="387513"/>
                  <a:pt x="95828" y="377030"/>
                </a:cubicBezTo>
                <a:cubicBezTo>
                  <a:pt x="95828" y="366547"/>
                  <a:pt x="104374" y="358048"/>
                  <a:pt x="114916" y="358048"/>
                </a:cubicBezTo>
                <a:close/>
                <a:moveTo>
                  <a:pt x="51866" y="358048"/>
                </a:moveTo>
                <a:cubicBezTo>
                  <a:pt x="62389" y="358048"/>
                  <a:pt x="70919" y="366547"/>
                  <a:pt x="70919" y="377030"/>
                </a:cubicBezTo>
                <a:cubicBezTo>
                  <a:pt x="70919" y="387513"/>
                  <a:pt x="62389" y="396012"/>
                  <a:pt x="51866" y="396012"/>
                </a:cubicBezTo>
                <a:cubicBezTo>
                  <a:pt x="41343" y="396012"/>
                  <a:pt x="32813" y="387513"/>
                  <a:pt x="32813" y="377030"/>
                </a:cubicBezTo>
                <a:cubicBezTo>
                  <a:pt x="32813" y="366547"/>
                  <a:pt x="41343" y="358048"/>
                  <a:pt x="51866" y="358048"/>
                </a:cubicBezTo>
                <a:close/>
                <a:moveTo>
                  <a:pt x="51917" y="344887"/>
                </a:moveTo>
                <a:cubicBezTo>
                  <a:pt x="34185" y="344887"/>
                  <a:pt x="19703" y="359348"/>
                  <a:pt x="19703" y="377055"/>
                </a:cubicBezTo>
                <a:cubicBezTo>
                  <a:pt x="19703" y="394761"/>
                  <a:pt x="34185" y="409222"/>
                  <a:pt x="51917" y="409222"/>
                </a:cubicBezTo>
                <a:lnTo>
                  <a:pt x="556314" y="409222"/>
                </a:lnTo>
                <a:cubicBezTo>
                  <a:pt x="574047" y="409222"/>
                  <a:pt x="588430" y="394761"/>
                  <a:pt x="588430" y="377055"/>
                </a:cubicBezTo>
                <a:cubicBezTo>
                  <a:pt x="588430" y="359348"/>
                  <a:pt x="574047" y="344887"/>
                  <a:pt x="556314" y="344887"/>
                </a:cubicBezTo>
                <a:close/>
                <a:moveTo>
                  <a:pt x="429525" y="302982"/>
                </a:moveTo>
                <a:lnTo>
                  <a:pt x="429525" y="325213"/>
                </a:lnTo>
                <a:lnTo>
                  <a:pt x="535922" y="325213"/>
                </a:lnTo>
                <a:lnTo>
                  <a:pt x="535922" y="302982"/>
                </a:lnTo>
                <a:close/>
                <a:moveTo>
                  <a:pt x="187868" y="281930"/>
                </a:moveTo>
                <a:lnTo>
                  <a:pt x="187868" y="325213"/>
                </a:lnTo>
                <a:lnTo>
                  <a:pt x="294264" y="325213"/>
                </a:lnTo>
                <a:lnTo>
                  <a:pt x="294264" y="281930"/>
                </a:lnTo>
                <a:close/>
                <a:moveTo>
                  <a:pt x="388149" y="229499"/>
                </a:moveTo>
                <a:cubicBezTo>
                  <a:pt x="387755" y="229499"/>
                  <a:pt x="387459" y="229794"/>
                  <a:pt x="387459" y="230187"/>
                </a:cubicBezTo>
                <a:lnTo>
                  <a:pt x="387459" y="325213"/>
                </a:lnTo>
                <a:lnTo>
                  <a:pt x="409822" y="325213"/>
                </a:lnTo>
                <a:lnTo>
                  <a:pt x="409822" y="293144"/>
                </a:lnTo>
                <a:cubicBezTo>
                  <a:pt x="409822" y="287636"/>
                  <a:pt x="414256" y="283307"/>
                  <a:pt x="419674" y="283307"/>
                </a:cubicBezTo>
                <a:lnTo>
                  <a:pt x="472872" y="283307"/>
                </a:lnTo>
                <a:lnTo>
                  <a:pt x="472872" y="230187"/>
                </a:lnTo>
                <a:cubicBezTo>
                  <a:pt x="472872" y="229794"/>
                  <a:pt x="472576" y="229499"/>
                  <a:pt x="472182" y="229499"/>
                </a:cubicBezTo>
                <a:close/>
                <a:moveTo>
                  <a:pt x="135951" y="229499"/>
                </a:moveTo>
                <a:cubicBezTo>
                  <a:pt x="135557" y="229499"/>
                  <a:pt x="135261" y="229794"/>
                  <a:pt x="135261" y="230187"/>
                </a:cubicBezTo>
                <a:lnTo>
                  <a:pt x="135261" y="325213"/>
                </a:lnTo>
                <a:lnTo>
                  <a:pt x="168165" y="325213"/>
                </a:lnTo>
                <a:lnTo>
                  <a:pt x="168165" y="272093"/>
                </a:lnTo>
                <a:cubicBezTo>
                  <a:pt x="168165" y="266683"/>
                  <a:pt x="172500" y="262256"/>
                  <a:pt x="178017" y="262256"/>
                </a:cubicBezTo>
                <a:lnTo>
                  <a:pt x="220674" y="262256"/>
                </a:lnTo>
                <a:lnTo>
                  <a:pt x="220674" y="230187"/>
                </a:lnTo>
                <a:cubicBezTo>
                  <a:pt x="220674" y="229794"/>
                  <a:pt x="220378" y="229499"/>
                  <a:pt x="219984" y="229499"/>
                </a:cubicBezTo>
                <a:close/>
                <a:moveTo>
                  <a:pt x="398001" y="189855"/>
                </a:moveTo>
                <a:lnTo>
                  <a:pt x="398001" y="209825"/>
                </a:lnTo>
                <a:lnTo>
                  <a:pt x="462331" y="209825"/>
                </a:lnTo>
                <a:lnTo>
                  <a:pt x="462331" y="189855"/>
                </a:lnTo>
                <a:cubicBezTo>
                  <a:pt x="455041" y="194971"/>
                  <a:pt x="443712" y="198020"/>
                  <a:pt x="430215" y="198020"/>
                </a:cubicBezTo>
                <a:cubicBezTo>
                  <a:pt x="416620" y="198020"/>
                  <a:pt x="405389" y="194971"/>
                  <a:pt x="398001" y="189855"/>
                </a:cubicBezTo>
                <a:close/>
                <a:moveTo>
                  <a:pt x="145802" y="189855"/>
                </a:moveTo>
                <a:lnTo>
                  <a:pt x="145802" y="209825"/>
                </a:lnTo>
                <a:lnTo>
                  <a:pt x="210132" y="209825"/>
                </a:lnTo>
                <a:lnTo>
                  <a:pt x="210132" y="189855"/>
                </a:lnTo>
                <a:cubicBezTo>
                  <a:pt x="202842" y="194971"/>
                  <a:pt x="191513" y="198020"/>
                  <a:pt x="178017" y="198020"/>
                </a:cubicBezTo>
                <a:cubicBezTo>
                  <a:pt x="164422" y="198020"/>
                  <a:pt x="153191" y="194971"/>
                  <a:pt x="145802" y="189855"/>
                </a:cubicBezTo>
                <a:close/>
                <a:moveTo>
                  <a:pt x="482034" y="186216"/>
                </a:moveTo>
                <a:lnTo>
                  <a:pt x="482034" y="212382"/>
                </a:lnTo>
                <a:cubicBezTo>
                  <a:pt x="488339" y="215825"/>
                  <a:pt x="492575" y="222514"/>
                  <a:pt x="492575" y="230187"/>
                </a:cubicBezTo>
                <a:lnTo>
                  <a:pt x="492575" y="283307"/>
                </a:lnTo>
                <a:lnTo>
                  <a:pt x="514938" y="283307"/>
                </a:lnTo>
                <a:lnTo>
                  <a:pt x="514938" y="211890"/>
                </a:lnTo>
                <a:cubicBezTo>
                  <a:pt x="514938" y="202348"/>
                  <a:pt x="508436" y="193790"/>
                  <a:pt x="499175" y="191134"/>
                </a:cubicBezTo>
                <a:close/>
                <a:moveTo>
                  <a:pt x="378298" y="186216"/>
                </a:moveTo>
                <a:lnTo>
                  <a:pt x="361156" y="191134"/>
                </a:lnTo>
                <a:cubicBezTo>
                  <a:pt x="351896" y="193790"/>
                  <a:pt x="345492" y="202348"/>
                  <a:pt x="345492" y="211890"/>
                </a:cubicBezTo>
                <a:lnTo>
                  <a:pt x="345492" y="325213"/>
                </a:lnTo>
                <a:lnTo>
                  <a:pt x="367756" y="325213"/>
                </a:lnTo>
                <a:lnTo>
                  <a:pt x="367756" y="230187"/>
                </a:lnTo>
                <a:cubicBezTo>
                  <a:pt x="367756" y="222514"/>
                  <a:pt x="371993" y="215825"/>
                  <a:pt x="378298" y="212382"/>
                </a:cubicBezTo>
                <a:close/>
                <a:moveTo>
                  <a:pt x="229835" y="186216"/>
                </a:moveTo>
                <a:lnTo>
                  <a:pt x="229835" y="212382"/>
                </a:lnTo>
                <a:cubicBezTo>
                  <a:pt x="236140" y="215825"/>
                  <a:pt x="240377" y="222514"/>
                  <a:pt x="240377" y="230187"/>
                </a:cubicBezTo>
                <a:lnTo>
                  <a:pt x="240377" y="262256"/>
                </a:lnTo>
                <a:lnTo>
                  <a:pt x="262739" y="262256"/>
                </a:lnTo>
                <a:lnTo>
                  <a:pt x="262739" y="211890"/>
                </a:lnTo>
                <a:cubicBezTo>
                  <a:pt x="262739" y="202348"/>
                  <a:pt x="256237" y="193790"/>
                  <a:pt x="246977" y="191134"/>
                </a:cubicBezTo>
                <a:close/>
                <a:moveTo>
                  <a:pt x="126099" y="186216"/>
                </a:moveTo>
                <a:lnTo>
                  <a:pt x="108958" y="191134"/>
                </a:lnTo>
                <a:cubicBezTo>
                  <a:pt x="99697" y="193790"/>
                  <a:pt x="93294" y="202348"/>
                  <a:pt x="93294" y="211890"/>
                </a:cubicBezTo>
                <a:lnTo>
                  <a:pt x="93294" y="325213"/>
                </a:lnTo>
                <a:lnTo>
                  <a:pt x="115558" y="325213"/>
                </a:lnTo>
                <a:lnTo>
                  <a:pt x="115558" y="230187"/>
                </a:lnTo>
                <a:cubicBezTo>
                  <a:pt x="115558" y="222514"/>
                  <a:pt x="119794" y="215825"/>
                  <a:pt x="126099" y="212382"/>
                </a:cubicBezTo>
                <a:close/>
                <a:moveTo>
                  <a:pt x="408542" y="161131"/>
                </a:moveTo>
                <a:lnTo>
                  <a:pt x="408542" y="173132"/>
                </a:lnTo>
                <a:cubicBezTo>
                  <a:pt x="410413" y="174805"/>
                  <a:pt x="417704" y="178346"/>
                  <a:pt x="430215" y="178346"/>
                </a:cubicBezTo>
                <a:cubicBezTo>
                  <a:pt x="442726" y="178346"/>
                  <a:pt x="450016" y="174805"/>
                  <a:pt x="451888" y="173132"/>
                </a:cubicBezTo>
                <a:lnTo>
                  <a:pt x="451888" y="170476"/>
                </a:lnTo>
                <a:cubicBezTo>
                  <a:pt x="451888" y="170378"/>
                  <a:pt x="451888" y="170280"/>
                  <a:pt x="451888" y="170181"/>
                </a:cubicBezTo>
                <a:lnTo>
                  <a:pt x="451888" y="161131"/>
                </a:lnTo>
                <a:lnTo>
                  <a:pt x="451494" y="161328"/>
                </a:lnTo>
                <a:cubicBezTo>
                  <a:pt x="446371" y="164771"/>
                  <a:pt x="440460" y="166541"/>
                  <a:pt x="434353" y="166541"/>
                </a:cubicBezTo>
                <a:lnTo>
                  <a:pt x="426077" y="166541"/>
                </a:lnTo>
                <a:cubicBezTo>
                  <a:pt x="419969" y="166541"/>
                  <a:pt x="413960" y="164771"/>
                  <a:pt x="408936" y="161328"/>
                </a:cubicBezTo>
                <a:close/>
                <a:moveTo>
                  <a:pt x="156343" y="161131"/>
                </a:moveTo>
                <a:lnTo>
                  <a:pt x="156343" y="173132"/>
                </a:lnTo>
                <a:cubicBezTo>
                  <a:pt x="158215" y="174805"/>
                  <a:pt x="165505" y="178346"/>
                  <a:pt x="178017" y="178346"/>
                </a:cubicBezTo>
                <a:cubicBezTo>
                  <a:pt x="190528" y="178346"/>
                  <a:pt x="197818" y="174805"/>
                  <a:pt x="199690" y="173132"/>
                </a:cubicBezTo>
                <a:lnTo>
                  <a:pt x="199690" y="170476"/>
                </a:lnTo>
                <a:cubicBezTo>
                  <a:pt x="199690" y="170378"/>
                  <a:pt x="199690" y="170280"/>
                  <a:pt x="199690" y="170181"/>
                </a:cubicBezTo>
                <a:lnTo>
                  <a:pt x="199690" y="161131"/>
                </a:lnTo>
                <a:lnTo>
                  <a:pt x="199296" y="161328"/>
                </a:lnTo>
                <a:cubicBezTo>
                  <a:pt x="194173" y="164771"/>
                  <a:pt x="188262" y="166541"/>
                  <a:pt x="182154" y="166541"/>
                </a:cubicBezTo>
                <a:lnTo>
                  <a:pt x="173879" y="166541"/>
                </a:lnTo>
                <a:cubicBezTo>
                  <a:pt x="167771" y="166541"/>
                  <a:pt x="161762" y="164771"/>
                  <a:pt x="156737" y="161328"/>
                </a:cubicBezTo>
                <a:close/>
                <a:moveTo>
                  <a:pt x="398001" y="93059"/>
                </a:moveTo>
                <a:lnTo>
                  <a:pt x="398001" y="124537"/>
                </a:lnTo>
                <a:cubicBezTo>
                  <a:pt x="398001" y="128177"/>
                  <a:pt x="399872" y="131718"/>
                  <a:pt x="402926" y="133784"/>
                </a:cubicBezTo>
                <a:lnTo>
                  <a:pt x="419871" y="144998"/>
                </a:lnTo>
                <a:cubicBezTo>
                  <a:pt x="421644" y="146179"/>
                  <a:pt x="423811" y="146867"/>
                  <a:pt x="426077" y="146867"/>
                </a:cubicBezTo>
                <a:lnTo>
                  <a:pt x="434353" y="146867"/>
                </a:lnTo>
                <a:cubicBezTo>
                  <a:pt x="436520" y="146867"/>
                  <a:pt x="438687" y="146179"/>
                  <a:pt x="440559" y="144998"/>
                </a:cubicBezTo>
                <a:lnTo>
                  <a:pt x="457405" y="133784"/>
                </a:lnTo>
                <a:cubicBezTo>
                  <a:pt x="460459" y="131718"/>
                  <a:pt x="462331" y="128177"/>
                  <a:pt x="462331" y="124537"/>
                </a:cubicBezTo>
                <a:lnTo>
                  <a:pt x="462331" y="93059"/>
                </a:lnTo>
                <a:close/>
                <a:moveTo>
                  <a:pt x="145802" y="93059"/>
                </a:moveTo>
                <a:lnTo>
                  <a:pt x="145802" y="124537"/>
                </a:lnTo>
                <a:cubicBezTo>
                  <a:pt x="145802" y="128177"/>
                  <a:pt x="147674" y="131718"/>
                  <a:pt x="150728" y="133784"/>
                </a:cubicBezTo>
                <a:lnTo>
                  <a:pt x="167672" y="144998"/>
                </a:lnTo>
                <a:cubicBezTo>
                  <a:pt x="169446" y="146179"/>
                  <a:pt x="171613" y="146867"/>
                  <a:pt x="173879" y="146867"/>
                </a:cubicBezTo>
                <a:lnTo>
                  <a:pt x="182154" y="146867"/>
                </a:lnTo>
                <a:cubicBezTo>
                  <a:pt x="184322" y="146867"/>
                  <a:pt x="186489" y="146179"/>
                  <a:pt x="188361" y="144998"/>
                </a:cubicBezTo>
                <a:lnTo>
                  <a:pt x="205207" y="133784"/>
                </a:lnTo>
                <a:cubicBezTo>
                  <a:pt x="208261" y="131718"/>
                  <a:pt x="210132" y="128177"/>
                  <a:pt x="210132" y="124537"/>
                </a:cubicBezTo>
                <a:lnTo>
                  <a:pt x="210132" y="93059"/>
                </a:lnTo>
                <a:close/>
                <a:moveTo>
                  <a:pt x="440066" y="31282"/>
                </a:moveTo>
                <a:lnTo>
                  <a:pt x="440066" y="73384"/>
                </a:lnTo>
                <a:lnTo>
                  <a:pt x="472182" y="73384"/>
                </a:lnTo>
                <a:lnTo>
                  <a:pt x="472872" y="73384"/>
                </a:lnTo>
                <a:lnTo>
                  <a:pt x="472872" y="72794"/>
                </a:lnTo>
                <a:cubicBezTo>
                  <a:pt x="472872" y="52628"/>
                  <a:pt x="458883" y="35709"/>
                  <a:pt x="440066" y="31282"/>
                </a:cubicBezTo>
                <a:close/>
                <a:moveTo>
                  <a:pt x="420363" y="31282"/>
                </a:moveTo>
                <a:cubicBezTo>
                  <a:pt x="401547" y="35709"/>
                  <a:pt x="387459" y="52628"/>
                  <a:pt x="387459" y="72794"/>
                </a:cubicBezTo>
                <a:lnTo>
                  <a:pt x="387459" y="73384"/>
                </a:lnTo>
                <a:lnTo>
                  <a:pt x="388149" y="73384"/>
                </a:lnTo>
                <a:lnTo>
                  <a:pt x="420363" y="73384"/>
                </a:lnTo>
                <a:close/>
                <a:moveTo>
                  <a:pt x="187868" y="31282"/>
                </a:moveTo>
                <a:lnTo>
                  <a:pt x="187868" y="73384"/>
                </a:lnTo>
                <a:lnTo>
                  <a:pt x="219984" y="73384"/>
                </a:lnTo>
                <a:lnTo>
                  <a:pt x="220674" y="73384"/>
                </a:lnTo>
                <a:lnTo>
                  <a:pt x="220674" y="72794"/>
                </a:lnTo>
                <a:cubicBezTo>
                  <a:pt x="220674" y="52628"/>
                  <a:pt x="206684" y="35709"/>
                  <a:pt x="187868" y="31282"/>
                </a:cubicBezTo>
                <a:close/>
                <a:moveTo>
                  <a:pt x="168165" y="31282"/>
                </a:moveTo>
                <a:cubicBezTo>
                  <a:pt x="149349" y="35709"/>
                  <a:pt x="135261" y="52628"/>
                  <a:pt x="135261" y="72794"/>
                </a:cubicBezTo>
                <a:lnTo>
                  <a:pt x="135261" y="73384"/>
                </a:lnTo>
                <a:lnTo>
                  <a:pt x="135951" y="73384"/>
                </a:lnTo>
                <a:lnTo>
                  <a:pt x="168165" y="73384"/>
                </a:lnTo>
                <a:close/>
                <a:moveTo>
                  <a:pt x="178017" y="0"/>
                </a:moveTo>
                <a:cubicBezTo>
                  <a:pt x="183435" y="0"/>
                  <a:pt x="187868" y="4328"/>
                  <a:pt x="187868" y="9837"/>
                </a:cubicBezTo>
                <a:lnTo>
                  <a:pt x="187868" y="11214"/>
                </a:lnTo>
                <a:cubicBezTo>
                  <a:pt x="217620" y="15936"/>
                  <a:pt x="240377" y="41709"/>
                  <a:pt x="240377" y="72794"/>
                </a:cubicBezTo>
                <a:lnTo>
                  <a:pt x="240377" y="73384"/>
                </a:lnTo>
                <a:lnTo>
                  <a:pt x="241066" y="73384"/>
                </a:lnTo>
                <a:cubicBezTo>
                  <a:pt x="246484" y="73384"/>
                  <a:pt x="250918" y="77811"/>
                  <a:pt x="250918" y="83222"/>
                </a:cubicBezTo>
                <a:cubicBezTo>
                  <a:pt x="250918" y="88730"/>
                  <a:pt x="246484" y="93059"/>
                  <a:pt x="241066" y="93059"/>
                </a:cubicBezTo>
                <a:lnTo>
                  <a:pt x="229835" y="93059"/>
                </a:lnTo>
                <a:lnTo>
                  <a:pt x="229835" y="124537"/>
                </a:lnTo>
                <a:cubicBezTo>
                  <a:pt x="229835" y="133489"/>
                  <a:pt x="225993" y="141850"/>
                  <a:pt x="219393" y="147654"/>
                </a:cubicBezTo>
                <a:lnTo>
                  <a:pt x="219393" y="162803"/>
                </a:lnTo>
                <a:lnTo>
                  <a:pt x="252395" y="172247"/>
                </a:lnTo>
                <a:cubicBezTo>
                  <a:pt x="270030" y="177264"/>
                  <a:pt x="282442" y="193593"/>
                  <a:pt x="282442" y="211890"/>
                </a:cubicBezTo>
                <a:lnTo>
                  <a:pt x="282442" y="262256"/>
                </a:lnTo>
                <a:lnTo>
                  <a:pt x="304116" y="262256"/>
                </a:lnTo>
                <a:cubicBezTo>
                  <a:pt x="309534" y="262256"/>
                  <a:pt x="313967" y="266683"/>
                  <a:pt x="313967" y="272093"/>
                </a:cubicBezTo>
                <a:lnTo>
                  <a:pt x="313967" y="325213"/>
                </a:lnTo>
                <a:lnTo>
                  <a:pt x="325789" y="325213"/>
                </a:lnTo>
                <a:lnTo>
                  <a:pt x="325789" y="211890"/>
                </a:lnTo>
                <a:cubicBezTo>
                  <a:pt x="325789" y="193593"/>
                  <a:pt x="338103" y="177264"/>
                  <a:pt x="355738" y="172247"/>
                </a:cubicBezTo>
                <a:lnTo>
                  <a:pt x="388839" y="162803"/>
                </a:lnTo>
                <a:lnTo>
                  <a:pt x="388839" y="147654"/>
                </a:lnTo>
                <a:cubicBezTo>
                  <a:pt x="382140" y="141850"/>
                  <a:pt x="378298" y="133489"/>
                  <a:pt x="378298" y="124439"/>
                </a:cubicBezTo>
                <a:lnTo>
                  <a:pt x="378298" y="93059"/>
                </a:lnTo>
                <a:lnTo>
                  <a:pt x="367165" y="93059"/>
                </a:lnTo>
                <a:cubicBezTo>
                  <a:pt x="361648" y="93059"/>
                  <a:pt x="357314" y="88730"/>
                  <a:pt x="357314" y="83222"/>
                </a:cubicBezTo>
                <a:cubicBezTo>
                  <a:pt x="357314" y="77811"/>
                  <a:pt x="361648" y="73384"/>
                  <a:pt x="367165" y="73384"/>
                </a:cubicBezTo>
                <a:lnTo>
                  <a:pt x="367756" y="73384"/>
                </a:lnTo>
                <a:lnTo>
                  <a:pt x="367756" y="72794"/>
                </a:lnTo>
                <a:cubicBezTo>
                  <a:pt x="367756" y="41709"/>
                  <a:pt x="390612" y="15936"/>
                  <a:pt x="420363" y="11214"/>
                </a:cubicBezTo>
                <a:lnTo>
                  <a:pt x="420363" y="9837"/>
                </a:lnTo>
                <a:cubicBezTo>
                  <a:pt x="420363" y="4328"/>
                  <a:pt x="424698" y="0"/>
                  <a:pt x="430215" y="0"/>
                </a:cubicBezTo>
                <a:cubicBezTo>
                  <a:pt x="435633" y="0"/>
                  <a:pt x="440066" y="4328"/>
                  <a:pt x="440066" y="9837"/>
                </a:cubicBezTo>
                <a:lnTo>
                  <a:pt x="440066" y="11214"/>
                </a:lnTo>
                <a:cubicBezTo>
                  <a:pt x="469818" y="15936"/>
                  <a:pt x="492575" y="41709"/>
                  <a:pt x="492575" y="72794"/>
                </a:cubicBezTo>
                <a:lnTo>
                  <a:pt x="492575" y="73384"/>
                </a:lnTo>
                <a:lnTo>
                  <a:pt x="493265" y="73384"/>
                </a:lnTo>
                <a:cubicBezTo>
                  <a:pt x="498683" y="73384"/>
                  <a:pt x="503116" y="77811"/>
                  <a:pt x="503116" y="83222"/>
                </a:cubicBezTo>
                <a:cubicBezTo>
                  <a:pt x="503116" y="88730"/>
                  <a:pt x="498683" y="93059"/>
                  <a:pt x="493265" y="93059"/>
                </a:cubicBezTo>
                <a:lnTo>
                  <a:pt x="482034" y="93059"/>
                </a:lnTo>
                <a:lnTo>
                  <a:pt x="482034" y="124537"/>
                </a:lnTo>
                <a:cubicBezTo>
                  <a:pt x="482034" y="133489"/>
                  <a:pt x="478192" y="141850"/>
                  <a:pt x="471591" y="147654"/>
                </a:cubicBezTo>
                <a:lnTo>
                  <a:pt x="471591" y="162803"/>
                </a:lnTo>
                <a:lnTo>
                  <a:pt x="504594" y="172247"/>
                </a:lnTo>
                <a:cubicBezTo>
                  <a:pt x="522228" y="177264"/>
                  <a:pt x="534641" y="193593"/>
                  <a:pt x="534641" y="211890"/>
                </a:cubicBezTo>
                <a:lnTo>
                  <a:pt x="534641" y="283307"/>
                </a:lnTo>
                <a:lnTo>
                  <a:pt x="545773" y="283307"/>
                </a:lnTo>
                <a:cubicBezTo>
                  <a:pt x="551191" y="283307"/>
                  <a:pt x="555624" y="287636"/>
                  <a:pt x="555624" y="293144"/>
                </a:cubicBezTo>
                <a:lnTo>
                  <a:pt x="555624" y="325213"/>
                </a:lnTo>
                <a:lnTo>
                  <a:pt x="556314" y="325213"/>
                </a:lnTo>
                <a:cubicBezTo>
                  <a:pt x="584883" y="325213"/>
                  <a:pt x="608133" y="348527"/>
                  <a:pt x="608133" y="377055"/>
                </a:cubicBezTo>
                <a:cubicBezTo>
                  <a:pt x="608133" y="405582"/>
                  <a:pt x="584883" y="428896"/>
                  <a:pt x="556314" y="428896"/>
                </a:cubicBezTo>
                <a:lnTo>
                  <a:pt x="51917" y="428896"/>
                </a:lnTo>
                <a:cubicBezTo>
                  <a:pt x="23250" y="428896"/>
                  <a:pt x="0" y="405582"/>
                  <a:pt x="0" y="377055"/>
                </a:cubicBezTo>
                <a:cubicBezTo>
                  <a:pt x="0" y="348527"/>
                  <a:pt x="23250" y="325213"/>
                  <a:pt x="51917" y="325213"/>
                </a:cubicBezTo>
                <a:lnTo>
                  <a:pt x="73591" y="325213"/>
                </a:lnTo>
                <a:lnTo>
                  <a:pt x="73591" y="211890"/>
                </a:lnTo>
                <a:cubicBezTo>
                  <a:pt x="73591" y="193593"/>
                  <a:pt x="85905" y="177264"/>
                  <a:pt x="103539" y="172247"/>
                </a:cubicBezTo>
                <a:lnTo>
                  <a:pt x="136640" y="162803"/>
                </a:lnTo>
                <a:lnTo>
                  <a:pt x="136640" y="147654"/>
                </a:lnTo>
                <a:cubicBezTo>
                  <a:pt x="129941" y="141850"/>
                  <a:pt x="126099" y="133489"/>
                  <a:pt x="126099" y="124439"/>
                </a:cubicBezTo>
                <a:lnTo>
                  <a:pt x="126099" y="93059"/>
                </a:lnTo>
                <a:lnTo>
                  <a:pt x="114967" y="93059"/>
                </a:lnTo>
                <a:cubicBezTo>
                  <a:pt x="109450" y="93059"/>
                  <a:pt x="105115" y="88730"/>
                  <a:pt x="105115" y="83222"/>
                </a:cubicBezTo>
                <a:cubicBezTo>
                  <a:pt x="105115" y="77811"/>
                  <a:pt x="109450" y="73384"/>
                  <a:pt x="114967" y="73384"/>
                </a:cubicBezTo>
                <a:lnTo>
                  <a:pt x="115558" y="73384"/>
                </a:lnTo>
                <a:lnTo>
                  <a:pt x="115558" y="72794"/>
                </a:lnTo>
                <a:cubicBezTo>
                  <a:pt x="115558" y="41709"/>
                  <a:pt x="138414" y="15936"/>
                  <a:pt x="168165" y="11214"/>
                </a:cubicBezTo>
                <a:lnTo>
                  <a:pt x="168165" y="9837"/>
                </a:lnTo>
                <a:cubicBezTo>
                  <a:pt x="168165" y="4328"/>
                  <a:pt x="172500" y="0"/>
                  <a:pt x="17801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7D62ED-B2CC-426E-B9AE-63CF3C2C1D29}"/>
              </a:ext>
            </a:extLst>
          </p:cNvPr>
          <p:cNvSpPr/>
          <p:nvPr/>
        </p:nvSpPr>
        <p:spPr>
          <a:xfrm>
            <a:off x="5908305" y="3617205"/>
            <a:ext cx="210988" cy="21098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A80896-59E3-4E1D-85D6-39D71191995D}"/>
              </a:ext>
            </a:extLst>
          </p:cNvPr>
          <p:cNvCxnSpPr/>
          <p:nvPr/>
        </p:nvCxnSpPr>
        <p:spPr>
          <a:xfrm>
            <a:off x="6176679" y="3722699"/>
            <a:ext cx="229081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ank-truck_31727">
            <a:extLst>
              <a:ext uri="{FF2B5EF4-FFF2-40B4-BE49-F238E27FC236}">
                <a16:creationId xmlns:a16="http://schemas.microsoft.com/office/drawing/2014/main" id="{3BED0B3A-0E64-4E50-B5AB-480DD61E0CCA}"/>
              </a:ext>
            </a:extLst>
          </p:cNvPr>
          <p:cNvSpPr>
            <a:spLocks noChangeAspect="1"/>
          </p:cNvSpPr>
          <p:nvPr/>
        </p:nvSpPr>
        <p:spPr bwMode="auto">
          <a:xfrm>
            <a:off x="5784050" y="3307500"/>
            <a:ext cx="459498" cy="242999"/>
          </a:xfrm>
          <a:custGeom>
            <a:avLst/>
            <a:gdLst>
              <a:gd name="connsiteX0" fmla="*/ 501684 w 606862"/>
              <a:gd name="connsiteY0" fmla="*/ 248607 h 320931"/>
              <a:gd name="connsiteX1" fmla="*/ 471978 w 606862"/>
              <a:gd name="connsiteY1" fmla="*/ 278239 h 320931"/>
              <a:gd name="connsiteX2" fmla="*/ 501684 w 606862"/>
              <a:gd name="connsiteY2" fmla="*/ 307871 h 320931"/>
              <a:gd name="connsiteX3" fmla="*/ 531390 w 606862"/>
              <a:gd name="connsiteY3" fmla="*/ 278239 h 320931"/>
              <a:gd name="connsiteX4" fmla="*/ 501684 w 606862"/>
              <a:gd name="connsiteY4" fmla="*/ 248607 h 320931"/>
              <a:gd name="connsiteX5" fmla="*/ 182764 w 606862"/>
              <a:gd name="connsiteY5" fmla="*/ 248607 h 320931"/>
              <a:gd name="connsiteX6" fmla="*/ 153083 w 606862"/>
              <a:gd name="connsiteY6" fmla="*/ 278239 h 320931"/>
              <a:gd name="connsiteX7" fmla="*/ 182764 w 606862"/>
              <a:gd name="connsiteY7" fmla="*/ 307871 h 320931"/>
              <a:gd name="connsiteX8" fmla="*/ 212446 w 606862"/>
              <a:gd name="connsiteY8" fmla="*/ 278239 h 320931"/>
              <a:gd name="connsiteX9" fmla="*/ 182764 w 606862"/>
              <a:gd name="connsiteY9" fmla="*/ 248607 h 320931"/>
              <a:gd name="connsiteX10" fmla="*/ 69517 w 606862"/>
              <a:gd name="connsiteY10" fmla="*/ 248607 h 320931"/>
              <a:gd name="connsiteX11" fmla="*/ 39828 w 606862"/>
              <a:gd name="connsiteY11" fmla="*/ 278239 h 320931"/>
              <a:gd name="connsiteX12" fmla="*/ 69517 w 606862"/>
              <a:gd name="connsiteY12" fmla="*/ 307871 h 320931"/>
              <a:gd name="connsiteX13" fmla="*/ 99115 w 606862"/>
              <a:gd name="connsiteY13" fmla="*/ 278239 h 320931"/>
              <a:gd name="connsiteX14" fmla="*/ 69517 w 606862"/>
              <a:gd name="connsiteY14" fmla="*/ 248607 h 320931"/>
              <a:gd name="connsiteX15" fmla="*/ 501684 w 606862"/>
              <a:gd name="connsiteY15" fmla="*/ 235547 h 320931"/>
              <a:gd name="connsiteX16" fmla="*/ 544482 w 606862"/>
              <a:gd name="connsiteY16" fmla="*/ 278239 h 320931"/>
              <a:gd name="connsiteX17" fmla="*/ 501684 w 606862"/>
              <a:gd name="connsiteY17" fmla="*/ 320931 h 320931"/>
              <a:gd name="connsiteX18" fmla="*/ 458886 w 606862"/>
              <a:gd name="connsiteY18" fmla="*/ 278239 h 320931"/>
              <a:gd name="connsiteX19" fmla="*/ 501684 w 606862"/>
              <a:gd name="connsiteY19" fmla="*/ 235547 h 320931"/>
              <a:gd name="connsiteX20" fmla="*/ 182764 w 606862"/>
              <a:gd name="connsiteY20" fmla="*/ 235547 h 320931"/>
              <a:gd name="connsiteX21" fmla="*/ 225527 w 606862"/>
              <a:gd name="connsiteY21" fmla="*/ 278239 h 320931"/>
              <a:gd name="connsiteX22" fmla="*/ 182764 w 606862"/>
              <a:gd name="connsiteY22" fmla="*/ 320931 h 320931"/>
              <a:gd name="connsiteX23" fmla="*/ 140002 w 606862"/>
              <a:gd name="connsiteY23" fmla="*/ 278239 h 320931"/>
              <a:gd name="connsiteX24" fmla="*/ 182764 w 606862"/>
              <a:gd name="connsiteY24" fmla="*/ 235547 h 320931"/>
              <a:gd name="connsiteX25" fmla="*/ 69517 w 606862"/>
              <a:gd name="connsiteY25" fmla="*/ 235547 h 320931"/>
              <a:gd name="connsiteX26" fmla="*/ 112199 w 606862"/>
              <a:gd name="connsiteY26" fmla="*/ 278239 h 320931"/>
              <a:gd name="connsiteX27" fmla="*/ 69517 w 606862"/>
              <a:gd name="connsiteY27" fmla="*/ 320931 h 320931"/>
              <a:gd name="connsiteX28" fmla="*/ 26744 w 606862"/>
              <a:gd name="connsiteY28" fmla="*/ 278239 h 320931"/>
              <a:gd name="connsiteX29" fmla="*/ 69517 w 606862"/>
              <a:gd name="connsiteY29" fmla="*/ 235547 h 320931"/>
              <a:gd name="connsiteX30" fmla="*/ 592960 w 606862"/>
              <a:gd name="connsiteY30" fmla="*/ 219498 h 320931"/>
              <a:gd name="connsiteX31" fmla="*/ 585377 w 606862"/>
              <a:gd name="connsiteY31" fmla="*/ 227066 h 320931"/>
              <a:gd name="connsiteX32" fmla="*/ 585377 w 606862"/>
              <a:gd name="connsiteY32" fmla="*/ 241483 h 320931"/>
              <a:gd name="connsiteX33" fmla="*/ 592960 w 606862"/>
              <a:gd name="connsiteY33" fmla="*/ 249142 h 320931"/>
              <a:gd name="connsiteX34" fmla="*/ 600633 w 606862"/>
              <a:gd name="connsiteY34" fmla="*/ 241483 h 320931"/>
              <a:gd name="connsiteX35" fmla="*/ 600633 w 606862"/>
              <a:gd name="connsiteY35" fmla="*/ 227066 h 320931"/>
              <a:gd name="connsiteX36" fmla="*/ 592960 w 606862"/>
              <a:gd name="connsiteY36" fmla="*/ 219498 h 320931"/>
              <a:gd name="connsiteX37" fmla="*/ 24549 w 606862"/>
              <a:gd name="connsiteY37" fmla="*/ 213178 h 320931"/>
              <a:gd name="connsiteX38" fmla="*/ 394672 w 606862"/>
              <a:gd name="connsiteY38" fmla="*/ 213178 h 320931"/>
              <a:gd name="connsiteX39" fmla="*/ 394672 w 606862"/>
              <a:gd name="connsiteY39" fmla="*/ 264338 h 320931"/>
              <a:gd name="connsiteX40" fmla="*/ 238717 w 606862"/>
              <a:gd name="connsiteY40" fmla="*/ 264338 h 320931"/>
              <a:gd name="connsiteX41" fmla="*/ 184656 w 606862"/>
              <a:gd name="connsiteY41" fmla="*/ 226508 h 320931"/>
              <a:gd name="connsiteX42" fmla="*/ 130685 w 606862"/>
              <a:gd name="connsiteY42" fmla="*/ 264338 h 320931"/>
              <a:gd name="connsiteX43" fmla="*/ 125360 w 606862"/>
              <a:gd name="connsiteY43" fmla="*/ 264338 h 320931"/>
              <a:gd name="connsiteX44" fmla="*/ 71389 w 606862"/>
              <a:gd name="connsiteY44" fmla="*/ 226508 h 320931"/>
              <a:gd name="connsiteX45" fmla="*/ 17689 w 606862"/>
              <a:gd name="connsiteY45" fmla="*/ 263347 h 320931"/>
              <a:gd name="connsiteX46" fmla="*/ 0 w 606862"/>
              <a:gd name="connsiteY46" fmla="*/ 239839 h 320931"/>
              <a:gd name="connsiteX47" fmla="*/ 0 w 606862"/>
              <a:gd name="connsiteY47" fmla="*/ 237677 h 320931"/>
              <a:gd name="connsiteX48" fmla="*/ 24549 w 606862"/>
              <a:gd name="connsiteY48" fmla="*/ 213178 h 320931"/>
              <a:gd name="connsiteX49" fmla="*/ 446356 w 606862"/>
              <a:gd name="connsiteY49" fmla="*/ 65329 h 320931"/>
              <a:gd name="connsiteX50" fmla="*/ 438232 w 606862"/>
              <a:gd name="connsiteY50" fmla="*/ 73438 h 320931"/>
              <a:gd name="connsiteX51" fmla="*/ 438232 w 606862"/>
              <a:gd name="connsiteY51" fmla="*/ 134349 h 320931"/>
              <a:gd name="connsiteX52" fmla="*/ 446356 w 606862"/>
              <a:gd name="connsiteY52" fmla="*/ 142548 h 320931"/>
              <a:gd name="connsiteX53" fmla="*/ 560552 w 606862"/>
              <a:gd name="connsiteY53" fmla="*/ 142548 h 320931"/>
              <a:gd name="connsiteX54" fmla="*/ 568676 w 606862"/>
              <a:gd name="connsiteY54" fmla="*/ 134349 h 320931"/>
              <a:gd name="connsiteX55" fmla="*/ 531935 w 606862"/>
              <a:gd name="connsiteY55" fmla="*/ 73438 h 320931"/>
              <a:gd name="connsiteX56" fmla="*/ 513158 w 606862"/>
              <a:gd name="connsiteY56" fmla="*/ 65329 h 320931"/>
              <a:gd name="connsiteX57" fmla="*/ 422434 w 606862"/>
              <a:gd name="connsiteY57" fmla="*/ 50101 h 320931"/>
              <a:gd name="connsiteX58" fmla="*/ 530040 w 606862"/>
              <a:gd name="connsiteY58" fmla="*/ 50101 h 320931"/>
              <a:gd name="connsiteX59" fmla="*/ 546379 w 606862"/>
              <a:gd name="connsiteY59" fmla="*/ 58210 h 320931"/>
              <a:gd name="connsiteX60" fmla="*/ 606862 w 606862"/>
              <a:gd name="connsiteY60" fmla="*/ 155613 h 320931"/>
              <a:gd name="connsiteX61" fmla="*/ 606862 w 606862"/>
              <a:gd name="connsiteY61" fmla="*/ 252116 h 320931"/>
              <a:gd name="connsiteX62" fmla="*/ 598647 w 606862"/>
              <a:gd name="connsiteY62" fmla="*/ 260315 h 320931"/>
              <a:gd name="connsiteX63" fmla="*/ 555948 w 606862"/>
              <a:gd name="connsiteY63" fmla="*/ 260315 h 320931"/>
              <a:gd name="connsiteX64" fmla="*/ 503589 w 606862"/>
              <a:gd name="connsiteY64" fmla="*/ 226526 h 320931"/>
              <a:gd name="connsiteX65" fmla="*/ 451231 w 606862"/>
              <a:gd name="connsiteY65" fmla="*/ 260315 h 320931"/>
              <a:gd name="connsiteX66" fmla="*/ 422434 w 606862"/>
              <a:gd name="connsiteY66" fmla="*/ 260315 h 320931"/>
              <a:gd name="connsiteX67" fmla="*/ 414219 w 606862"/>
              <a:gd name="connsiteY67" fmla="*/ 252116 h 320931"/>
              <a:gd name="connsiteX68" fmla="*/ 414219 w 606862"/>
              <a:gd name="connsiteY68" fmla="*/ 58210 h 320931"/>
              <a:gd name="connsiteX69" fmla="*/ 422434 w 606862"/>
              <a:gd name="connsiteY69" fmla="*/ 50101 h 320931"/>
              <a:gd name="connsiteX70" fmla="*/ 47681 w 606862"/>
              <a:gd name="connsiteY70" fmla="*/ 35657 h 320931"/>
              <a:gd name="connsiteX71" fmla="*/ 19074 w 606862"/>
              <a:gd name="connsiteY71" fmla="*/ 64219 h 320931"/>
              <a:gd name="connsiteX72" fmla="*/ 19074 w 606862"/>
              <a:gd name="connsiteY72" fmla="*/ 159635 h 320931"/>
              <a:gd name="connsiteX73" fmla="*/ 27286 w 606862"/>
              <a:gd name="connsiteY73" fmla="*/ 159635 h 320931"/>
              <a:gd name="connsiteX74" fmla="*/ 27286 w 606862"/>
              <a:gd name="connsiteY74" fmla="*/ 64219 h 320931"/>
              <a:gd name="connsiteX75" fmla="*/ 47681 w 606862"/>
              <a:gd name="connsiteY75" fmla="*/ 43766 h 320931"/>
              <a:gd name="connsiteX76" fmla="*/ 254701 w 606862"/>
              <a:gd name="connsiteY76" fmla="*/ 43766 h 320931"/>
              <a:gd name="connsiteX77" fmla="*/ 254701 w 606862"/>
              <a:gd name="connsiteY77" fmla="*/ 35657 h 320931"/>
              <a:gd name="connsiteX78" fmla="*/ 419229 w 606862"/>
              <a:gd name="connsiteY78" fmla="*/ 26109 h 320931"/>
              <a:gd name="connsiteX79" fmla="*/ 490226 w 606862"/>
              <a:gd name="connsiteY79" fmla="*/ 26109 h 320931"/>
              <a:gd name="connsiteX80" fmla="*/ 519996 w 606862"/>
              <a:gd name="connsiteY80" fmla="*/ 45656 h 320931"/>
              <a:gd name="connsiteX81" fmla="*/ 419229 w 606862"/>
              <a:gd name="connsiteY81" fmla="*/ 45656 h 320931"/>
              <a:gd name="connsiteX82" fmla="*/ 419229 w 606862"/>
              <a:gd name="connsiteY82" fmla="*/ 42413 h 320931"/>
              <a:gd name="connsiteX83" fmla="*/ 28639 w 606862"/>
              <a:gd name="connsiteY83" fmla="*/ 22863 h 320931"/>
              <a:gd name="connsiteX84" fmla="*/ 373462 w 606862"/>
              <a:gd name="connsiteY84" fmla="*/ 22863 h 320931"/>
              <a:gd name="connsiteX85" fmla="*/ 397918 w 606862"/>
              <a:gd name="connsiteY85" fmla="*/ 47370 h 320931"/>
              <a:gd name="connsiteX86" fmla="*/ 397918 w 606862"/>
              <a:gd name="connsiteY86" fmla="*/ 173781 h 320931"/>
              <a:gd name="connsiteX87" fmla="*/ 373462 w 606862"/>
              <a:gd name="connsiteY87" fmla="*/ 198288 h 320931"/>
              <a:gd name="connsiteX88" fmla="*/ 28639 w 606862"/>
              <a:gd name="connsiteY88" fmla="*/ 198288 h 320931"/>
              <a:gd name="connsiteX89" fmla="*/ 4093 w 606862"/>
              <a:gd name="connsiteY89" fmla="*/ 173781 h 320931"/>
              <a:gd name="connsiteX90" fmla="*/ 4093 w 606862"/>
              <a:gd name="connsiteY90" fmla="*/ 47370 h 320931"/>
              <a:gd name="connsiteX91" fmla="*/ 28639 w 606862"/>
              <a:gd name="connsiteY91" fmla="*/ 22863 h 320931"/>
              <a:gd name="connsiteX92" fmla="*/ 167125 w 606862"/>
              <a:gd name="connsiteY92" fmla="*/ 0 h 320931"/>
              <a:gd name="connsiteX93" fmla="*/ 215360 w 606862"/>
              <a:gd name="connsiteY93" fmla="*/ 0 h 320931"/>
              <a:gd name="connsiteX94" fmla="*/ 223128 w 606862"/>
              <a:gd name="connsiteY94" fmla="*/ 7727 h 320931"/>
              <a:gd name="connsiteX95" fmla="*/ 215360 w 606862"/>
              <a:gd name="connsiteY95" fmla="*/ 15454 h 320931"/>
              <a:gd name="connsiteX96" fmla="*/ 167125 w 606862"/>
              <a:gd name="connsiteY96" fmla="*/ 15454 h 320931"/>
              <a:gd name="connsiteX97" fmla="*/ 159266 w 606862"/>
              <a:gd name="connsiteY97" fmla="*/ 7727 h 320931"/>
              <a:gd name="connsiteX98" fmla="*/ 167125 w 606862"/>
              <a:gd name="connsiteY98" fmla="*/ 0 h 320931"/>
              <a:gd name="connsiteX99" fmla="*/ 76350 w 606862"/>
              <a:gd name="connsiteY99" fmla="*/ 0 h 320931"/>
              <a:gd name="connsiteX100" fmla="*/ 124621 w 606862"/>
              <a:gd name="connsiteY100" fmla="*/ 0 h 320931"/>
              <a:gd name="connsiteX101" fmla="*/ 132381 w 606862"/>
              <a:gd name="connsiteY101" fmla="*/ 7727 h 320931"/>
              <a:gd name="connsiteX102" fmla="*/ 124621 w 606862"/>
              <a:gd name="connsiteY102" fmla="*/ 15454 h 320931"/>
              <a:gd name="connsiteX103" fmla="*/ 76350 w 606862"/>
              <a:gd name="connsiteY103" fmla="*/ 15454 h 320931"/>
              <a:gd name="connsiteX104" fmla="*/ 68590 w 606862"/>
              <a:gd name="connsiteY104" fmla="*/ 7727 h 320931"/>
              <a:gd name="connsiteX105" fmla="*/ 76350 w 606862"/>
              <a:gd name="connsiteY105" fmla="*/ 0 h 32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606862" h="320931">
                <a:moveTo>
                  <a:pt x="501684" y="248607"/>
                </a:moveTo>
                <a:cubicBezTo>
                  <a:pt x="485341" y="248607"/>
                  <a:pt x="471978" y="261847"/>
                  <a:pt x="471978" y="278239"/>
                </a:cubicBezTo>
                <a:cubicBezTo>
                  <a:pt x="471978" y="294541"/>
                  <a:pt x="485341" y="307871"/>
                  <a:pt x="501684" y="307871"/>
                </a:cubicBezTo>
                <a:cubicBezTo>
                  <a:pt x="518027" y="307871"/>
                  <a:pt x="531390" y="294541"/>
                  <a:pt x="531390" y="278239"/>
                </a:cubicBezTo>
                <a:cubicBezTo>
                  <a:pt x="531390" y="261847"/>
                  <a:pt x="518027" y="248607"/>
                  <a:pt x="501684" y="248607"/>
                </a:cubicBezTo>
                <a:close/>
                <a:moveTo>
                  <a:pt x="182764" y="248607"/>
                </a:moveTo>
                <a:cubicBezTo>
                  <a:pt x="166435" y="248607"/>
                  <a:pt x="153083" y="261847"/>
                  <a:pt x="153083" y="278239"/>
                </a:cubicBezTo>
                <a:cubicBezTo>
                  <a:pt x="153083" y="294541"/>
                  <a:pt x="166435" y="307871"/>
                  <a:pt x="182764" y="307871"/>
                </a:cubicBezTo>
                <a:cubicBezTo>
                  <a:pt x="199094" y="307871"/>
                  <a:pt x="212446" y="294541"/>
                  <a:pt x="212446" y="278239"/>
                </a:cubicBezTo>
                <a:cubicBezTo>
                  <a:pt x="212446" y="261847"/>
                  <a:pt x="199094" y="248607"/>
                  <a:pt x="182764" y="248607"/>
                </a:cubicBezTo>
                <a:close/>
                <a:moveTo>
                  <a:pt x="69517" y="248607"/>
                </a:moveTo>
                <a:cubicBezTo>
                  <a:pt x="53093" y="248607"/>
                  <a:pt x="39828" y="261847"/>
                  <a:pt x="39828" y="278239"/>
                </a:cubicBezTo>
                <a:cubicBezTo>
                  <a:pt x="39828" y="294541"/>
                  <a:pt x="53093" y="307871"/>
                  <a:pt x="69517" y="307871"/>
                </a:cubicBezTo>
                <a:cubicBezTo>
                  <a:pt x="85850" y="307871"/>
                  <a:pt x="99115" y="294541"/>
                  <a:pt x="99115" y="278239"/>
                </a:cubicBezTo>
                <a:cubicBezTo>
                  <a:pt x="99115" y="261847"/>
                  <a:pt x="85850" y="248607"/>
                  <a:pt x="69517" y="248607"/>
                </a:cubicBezTo>
                <a:close/>
                <a:moveTo>
                  <a:pt x="501684" y="235547"/>
                </a:moveTo>
                <a:cubicBezTo>
                  <a:pt x="525250" y="235547"/>
                  <a:pt x="544482" y="254641"/>
                  <a:pt x="544482" y="278239"/>
                </a:cubicBezTo>
                <a:cubicBezTo>
                  <a:pt x="544482" y="301747"/>
                  <a:pt x="525250" y="320931"/>
                  <a:pt x="501684" y="320931"/>
                </a:cubicBezTo>
                <a:cubicBezTo>
                  <a:pt x="478118" y="320931"/>
                  <a:pt x="458886" y="301747"/>
                  <a:pt x="458886" y="278239"/>
                </a:cubicBezTo>
                <a:cubicBezTo>
                  <a:pt x="458886" y="254641"/>
                  <a:pt x="478118" y="235547"/>
                  <a:pt x="501684" y="235547"/>
                </a:cubicBezTo>
                <a:close/>
                <a:moveTo>
                  <a:pt x="182764" y="235547"/>
                </a:moveTo>
                <a:cubicBezTo>
                  <a:pt x="206311" y="235547"/>
                  <a:pt x="225527" y="254641"/>
                  <a:pt x="225527" y="278239"/>
                </a:cubicBezTo>
                <a:cubicBezTo>
                  <a:pt x="225527" y="301747"/>
                  <a:pt x="206311" y="320931"/>
                  <a:pt x="182764" y="320931"/>
                </a:cubicBezTo>
                <a:cubicBezTo>
                  <a:pt x="159218" y="320931"/>
                  <a:pt x="140002" y="301747"/>
                  <a:pt x="140002" y="278239"/>
                </a:cubicBezTo>
                <a:cubicBezTo>
                  <a:pt x="140002" y="254641"/>
                  <a:pt x="159218" y="235547"/>
                  <a:pt x="182764" y="235547"/>
                </a:cubicBezTo>
                <a:close/>
                <a:moveTo>
                  <a:pt x="69517" y="235547"/>
                </a:moveTo>
                <a:cubicBezTo>
                  <a:pt x="93069" y="235547"/>
                  <a:pt x="112199" y="254641"/>
                  <a:pt x="112199" y="278239"/>
                </a:cubicBezTo>
                <a:cubicBezTo>
                  <a:pt x="112199" y="301747"/>
                  <a:pt x="93069" y="320931"/>
                  <a:pt x="69517" y="320931"/>
                </a:cubicBezTo>
                <a:cubicBezTo>
                  <a:pt x="45874" y="320931"/>
                  <a:pt x="26744" y="301747"/>
                  <a:pt x="26744" y="278239"/>
                </a:cubicBezTo>
                <a:cubicBezTo>
                  <a:pt x="26744" y="254641"/>
                  <a:pt x="45874" y="235547"/>
                  <a:pt x="69517" y="235547"/>
                </a:cubicBezTo>
                <a:close/>
                <a:moveTo>
                  <a:pt x="592960" y="219498"/>
                </a:moveTo>
                <a:cubicBezTo>
                  <a:pt x="588717" y="219498"/>
                  <a:pt x="585377" y="222922"/>
                  <a:pt x="585377" y="227066"/>
                </a:cubicBezTo>
                <a:lnTo>
                  <a:pt x="585377" y="241483"/>
                </a:lnTo>
                <a:cubicBezTo>
                  <a:pt x="585377" y="245718"/>
                  <a:pt x="588717" y="249142"/>
                  <a:pt x="592960" y="249142"/>
                </a:cubicBezTo>
                <a:cubicBezTo>
                  <a:pt x="597203" y="249142"/>
                  <a:pt x="600633" y="245718"/>
                  <a:pt x="600633" y="241483"/>
                </a:cubicBezTo>
                <a:lnTo>
                  <a:pt x="600633" y="227066"/>
                </a:lnTo>
                <a:cubicBezTo>
                  <a:pt x="600633" y="222922"/>
                  <a:pt x="597203" y="219498"/>
                  <a:pt x="592960" y="219498"/>
                </a:cubicBezTo>
                <a:close/>
                <a:moveTo>
                  <a:pt x="24549" y="213178"/>
                </a:moveTo>
                <a:lnTo>
                  <a:pt x="394672" y="213178"/>
                </a:lnTo>
                <a:lnTo>
                  <a:pt x="394672" y="264338"/>
                </a:lnTo>
                <a:lnTo>
                  <a:pt x="238717" y="264338"/>
                </a:lnTo>
                <a:cubicBezTo>
                  <a:pt x="230684" y="242271"/>
                  <a:pt x="209475" y="226508"/>
                  <a:pt x="184656" y="226508"/>
                </a:cubicBezTo>
                <a:cubicBezTo>
                  <a:pt x="159836" y="226508"/>
                  <a:pt x="138717" y="242271"/>
                  <a:pt x="130685" y="264338"/>
                </a:cubicBezTo>
                <a:lnTo>
                  <a:pt x="125360" y="264338"/>
                </a:lnTo>
                <a:cubicBezTo>
                  <a:pt x="117328" y="242271"/>
                  <a:pt x="96209" y="226508"/>
                  <a:pt x="71389" y="226508"/>
                </a:cubicBezTo>
                <a:cubicBezTo>
                  <a:pt x="46931" y="226508"/>
                  <a:pt x="25993" y="241820"/>
                  <a:pt x="17689" y="263347"/>
                </a:cubicBezTo>
                <a:cubicBezTo>
                  <a:pt x="7491" y="260375"/>
                  <a:pt x="0" y="251008"/>
                  <a:pt x="0" y="239839"/>
                </a:cubicBezTo>
                <a:lnTo>
                  <a:pt x="0" y="237677"/>
                </a:lnTo>
                <a:cubicBezTo>
                  <a:pt x="0" y="224167"/>
                  <a:pt x="11011" y="213178"/>
                  <a:pt x="24549" y="213178"/>
                </a:cubicBezTo>
                <a:close/>
                <a:moveTo>
                  <a:pt x="446356" y="65329"/>
                </a:moveTo>
                <a:cubicBezTo>
                  <a:pt x="441843" y="65329"/>
                  <a:pt x="438232" y="68933"/>
                  <a:pt x="438232" y="73438"/>
                </a:cubicBezTo>
                <a:lnTo>
                  <a:pt x="438232" y="134349"/>
                </a:lnTo>
                <a:cubicBezTo>
                  <a:pt x="438232" y="138854"/>
                  <a:pt x="441843" y="142548"/>
                  <a:pt x="446356" y="142548"/>
                </a:cubicBezTo>
                <a:lnTo>
                  <a:pt x="560552" y="142548"/>
                </a:lnTo>
                <a:cubicBezTo>
                  <a:pt x="565066" y="142548"/>
                  <a:pt x="568767" y="138854"/>
                  <a:pt x="568676" y="134349"/>
                </a:cubicBezTo>
                <a:lnTo>
                  <a:pt x="531935" y="73438"/>
                </a:lnTo>
                <a:cubicBezTo>
                  <a:pt x="529137" y="68212"/>
                  <a:pt x="525616" y="65329"/>
                  <a:pt x="513158" y="65329"/>
                </a:cubicBezTo>
                <a:close/>
                <a:moveTo>
                  <a:pt x="422434" y="50101"/>
                </a:moveTo>
                <a:lnTo>
                  <a:pt x="530040" y="50101"/>
                </a:lnTo>
                <a:cubicBezTo>
                  <a:pt x="534553" y="50101"/>
                  <a:pt x="541414" y="51543"/>
                  <a:pt x="546379" y="58210"/>
                </a:cubicBezTo>
                <a:lnTo>
                  <a:pt x="606862" y="155613"/>
                </a:lnTo>
                <a:lnTo>
                  <a:pt x="606862" y="252116"/>
                </a:lnTo>
                <a:cubicBezTo>
                  <a:pt x="606862" y="256621"/>
                  <a:pt x="603161" y="260315"/>
                  <a:pt x="598647" y="260315"/>
                </a:cubicBezTo>
                <a:lnTo>
                  <a:pt x="555948" y="260315"/>
                </a:lnTo>
                <a:cubicBezTo>
                  <a:pt x="546921" y="240402"/>
                  <a:pt x="526880" y="226526"/>
                  <a:pt x="503589" y="226526"/>
                </a:cubicBezTo>
                <a:cubicBezTo>
                  <a:pt x="480389" y="226526"/>
                  <a:pt x="460258" y="240402"/>
                  <a:pt x="451231" y="260315"/>
                </a:cubicBezTo>
                <a:lnTo>
                  <a:pt x="422434" y="260315"/>
                </a:lnTo>
                <a:cubicBezTo>
                  <a:pt x="417920" y="260315"/>
                  <a:pt x="414219" y="256621"/>
                  <a:pt x="414219" y="252116"/>
                </a:cubicBezTo>
                <a:lnTo>
                  <a:pt x="414219" y="58210"/>
                </a:lnTo>
                <a:cubicBezTo>
                  <a:pt x="414219" y="53705"/>
                  <a:pt x="417920" y="50101"/>
                  <a:pt x="422434" y="50101"/>
                </a:cubicBezTo>
                <a:close/>
                <a:moveTo>
                  <a:pt x="47681" y="35657"/>
                </a:moveTo>
                <a:cubicBezTo>
                  <a:pt x="31888" y="35657"/>
                  <a:pt x="19074" y="48451"/>
                  <a:pt x="19074" y="64219"/>
                </a:cubicBezTo>
                <a:lnTo>
                  <a:pt x="19074" y="159635"/>
                </a:lnTo>
                <a:lnTo>
                  <a:pt x="27286" y="159635"/>
                </a:lnTo>
                <a:lnTo>
                  <a:pt x="27286" y="64219"/>
                </a:lnTo>
                <a:cubicBezTo>
                  <a:pt x="27286" y="52956"/>
                  <a:pt x="36400" y="43766"/>
                  <a:pt x="47681" y="43766"/>
                </a:cubicBezTo>
                <a:lnTo>
                  <a:pt x="254701" y="43766"/>
                </a:lnTo>
                <a:lnTo>
                  <a:pt x="254701" y="35657"/>
                </a:lnTo>
                <a:close/>
                <a:moveTo>
                  <a:pt x="419229" y="26109"/>
                </a:moveTo>
                <a:lnTo>
                  <a:pt x="490226" y="26109"/>
                </a:lnTo>
                <a:cubicBezTo>
                  <a:pt x="508178" y="26109"/>
                  <a:pt x="519996" y="45656"/>
                  <a:pt x="519996" y="45656"/>
                </a:cubicBezTo>
                <a:lnTo>
                  <a:pt x="419229" y="45656"/>
                </a:lnTo>
                <a:lnTo>
                  <a:pt x="419229" y="42413"/>
                </a:lnTo>
                <a:close/>
                <a:moveTo>
                  <a:pt x="28639" y="22863"/>
                </a:moveTo>
                <a:lnTo>
                  <a:pt x="373462" y="22863"/>
                </a:lnTo>
                <a:cubicBezTo>
                  <a:pt x="386998" y="22863"/>
                  <a:pt x="397918" y="33855"/>
                  <a:pt x="397918" y="47370"/>
                </a:cubicBezTo>
                <a:lnTo>
                  <a:pt x="397918" y="173781"/>
                </a:lnTo>
                <a:cubicBezTo>
                  <a:pt x="397918" y="187296"/>
                  <a:pt x="386998" y="198288"/>
                  <a:pt x="373462" y="198288"/>
                </a:cubicBezTo>
                <a:lnTo>
                  <a:pt x="28639" y="198288"/>
                </a:lnTo>
                <a:cubicBezTo>
                  <a:pt x="15103" y="198288"/>
                  <a:pt x="4093" y="187296"/>
                  <a:pt x="4093" y="173781"/>
                </a:cubicBezTo>
                <a:lnTo>
                  <a:pt x="4093" y="47370"/>
                </a:lnTo>
                <a:cubicBezTo>
                  <a:pt x="4093" y="33855"/>
                  <a:pt x="15103" y="22863"/>
                  <a:pt x="28639" y="22863"/>
                </a:cubicBezTo>
                <a:close/>
                <a:moveTo>
                  <a:pt x="167125" y="0"/>
                </a:moveTo>
                <a:lnTo>
                  <a:pt x="215360" y="0"/>
                </a:lnTo>
                <a:cubicBezTo>
                  <a:pt x="219605" y="0"/>
                  <a:pt x="223128" y="3504"/>
                  <a:pt x="223128" y="7727"/>
                </a:cubicBezTo>
                <a:cubicBezTo>
                  <a:pt x="223128" y="12040"/>
                  <a:pt x="219605" y="15454"/>
                  <a:pt x="215360" y="15454"/>
                </a:cubicBezTo>
                <a:lnTo>
                  <a:pt x="167125" y="15454"/>
                </a:lnTo>
                <a:cubicBezTo>
                  <a:pt x="162789" y="15454"/>
                  <a:pt x="159266" y="12040"/>
                  <a:pt x="159266" y="7727"/>
                </a:cubicBezTo>
                <a:cubicBezTo>
                  <a:pt x="159266" y="3504"/>
                  <a:pt x="162789" y="0"/>
                  <a:pt x="167125" y="0"/>
                </a:cubicBezTo>
                <a:close/>
                <a:moveTo>
                  <a:pt x="76350" y="0"/>
                </a:moveTo>
                <a:lnTo>
                  <a:pt x="124621" y="0"/>
                </a:lnTo>
                <a:cubicBezTo>
                  <a:pt x="128862" y="0"/>
                  <a:pt x="132381" y="3504"/>
                  <a:pt x="132381" y="7727"/>
                </a:cubicBezTo>
                <a:cubicBezTo>
                  <a:pt x="132381" y="12040"/>
                  <a:pt x="128862" y="15454"/>
                  <a:pt x="124621" y="15454"/>
                </a:cubicBezTo>
                <a:lnTo>
                  <a:pt x="76350" y="15454"/>
                </a:lnTo>
                <a:cubicBezTo>
                  <a:pt x="72109" y="15454"/>
                  <a:pt x="68590" y="12040"/>
                  <a:pt x="68590" y="7727"/>
                </a:cubicBezTo>
                <a:cubicBezTo>
                  <a:pt x="68590" y="3504"/>
                  <a:pt x="72109" y="0"/>
                  <a:pt x="7635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3E2091-0561-4052-B3F0-84ED13130204}"/>
              </a:ext>
            </a:extLst>
          </p:cNvPr>
          <p:cNvSpPr/>
          <p:nvPr/>
        </p:nvSpPr>
        <p:spPr>
          <a:xfrm>
            <a:off x="8524877" y="3617205"/>
            <a:ext cx="210988" cy="21098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HK">
              <a:solidFill>
                <a:schemeClr val="tx1"/>
              </a:solidFill>
            </a:endParaRPr>
          </a:p>
        </p:txBody>
      </p:sp>
      <p:sp>
        <p:nvSpPr>
          <p:cNvPr id="36" name="go-shopping_79984">
            <a:extLst>
              <a:ext uri="{FF2B5EF4-FFF2-40B4-BE49-F238E27FC236}">
                <a16:creationId xmlns:a16="http://schemas.microsoft.com/office/drawing/2014/main" id="{3D8196C4-6CD0-459A-A815-6E3949F3CD4D}"/>
              </a:ext>
            </a:extLst>
          </p:cNvPr>
          <p:cNvSpPr>
            <a:spLocks noChangeAspect="1"/>
          </p:cNvSpPr>
          <p:nvPr/>
        </p:nvSpPr>
        <p:spPr bwMode="auto">
          <a:xfrm>
            <a:off x="8400622" y="3075439"/>
            <a:ext cx="459498" cy="464122"/>
          </a:xfrm>
          <a:custGeom>
            <a:avLst/>
            <a:gdLst>
              <a:gd name="connsiteX0" fmla="*/ 81081 w 602354"/>
              <a:gd name="connsiteY0" fmla="*/ 369975 h 608415"/>
              <a:gd name="connsiteX1" fmla="*/ 81081 w 602354"/>
              <a:gd name="connsiteY1" fmla="*/ 457275 h 608415"/>
              <a:gd name="connsiteX2" fmla="*/ 191059 w 602354"/>
              <a:gd name="connsiteY2" fmla="*/ 457275 h 608415"/>
              <a:gd name="connsiteX3" fmla="*/ 213878 w 602354"/>
              <a:gd name="connsiteY3" fmla="*/ 434493 h 608415"/>
              <a:gd name="connsiteX4" fmla="*/ 213878 w 602354"/>
              <a:gd name="connsiteY4" fmla="*/ 369975 h 608415"/>
              <a:gd name="connsiteX5" fmla="*/ 263536 w 602354"/>
              <a:gd name="connsiteY5" fmla="*/ 263068 h 608415"/>
              <a:gd name="connsiteX6" fmla="*/ 303937 w 602354"/>
              <a:gd name="connsiteY6" fmla="*/ 276046 h 608415"/>
              <a:gd name="connsiteX7" fmla="*/ 303937 w 602354"/>
              <a:gd name="connsiteY7" fmla="*/ 551390 h 608415"/>
              <a:gd name="connsiteX8" fmla="*/ 316000 w 602354"/>
              <a:gd name="connsiteY8" fmla="*/ 551390 h 608415"/>
              <a:gd name="connsiteX9" fmla="*/ 344430 w 602354"/>
              <a:gd name="connsiteY9" fmla="*/ 579868 h 608415"/>
              <a:gd name="connsiteX10" fmla="*/ 316000 w 602354"/>
              <a:gd name="connsiteY10" fmla="*/ 608345 h 608415"/>
              <a:gd name="connsiteX11" fmla="*/ 0 w 602354"/>
              <a:gd name="connsiteY11" fmla="*/ 608345 h 608415"/>
              <a:gd name="connsiteX12" fmla="*/ 0 w 602354"/>
              <a:gd name="connsiteY12" fmla="*/ 457275 h 608415"/>
              <a:gd name="connsiteX13" fmla="*/ 40494 w 602354"/>
              <a:gd name="connsiteY13" fmla="*/ 457275 h 608415"/>
              <a:gd name="connsiteX14" fmla="*/ 40494 w 602354"/>
              <a:gd name="connsiteY14" fmla="*/ 369975 h 608415"/>
              <a:gd name="connsiteX15" fmla="*/ 0 w 602354"/>
              <a:gd name="connsiteY15" fmla="*/ 369975 h 608415"/>
              <a:gd name="connsiteX16" fmla="*/ 0 w 602354"/>
              <a:gd name="connsiteY16" fmla="*/ 329547 h 608415"/>
              <a:gd name="connsiteX17" fmla="*/ 40494 w 602354"/>
              <a:gd name="connsiteY17" fmla="*/ 329547 h 608415"/>
              <a:gd name="connsiteX18" fmla="*/ 40494 w 602354"/>
              <a:gd name="connsiteY18" fmla="*/ 272965 h 608415"/>
              <a:gd name="connsiteX19" fmla="*/ 60788 w 602354"/>
              <a:gd name="connsiteY19" fmla="*/ 276046 h 608415"/>
              <a:gd name="connsiteX20" fmla="*/ 81081 w 602354"/>
              <a:gd name="connsiteY20" fmla="*/ 272965 h 608415"/>
              <a:gd name="connsiteX21" fmla="*/ 81081 w 602354"/>
              <a:gd name="connsiteY21" fmla="*/ 329547 h 608415"/>
              <a:gd name="connsiteX22" fmla="*/ 213878 w 602354"/>
              <a:gd name="connsiteY22" fmla="*/ 329547 h 608415"/>
              <a:gd name="connsiteX23" fmla="*/ 213878 w 602354"/>
              <a:gd name="connsiteY23" fmla="*/ 275300 h 608415"/>
              <a:gd name="connsiteX24" fmla="*/ 222856 w 602354"/>
              <a:gd name="connsiteY24" fmla="*/ 276046 h 608415"/>
              <a:gd name="connsiteX25" fmla="*/ 236697 w 602354"/>
              <a:gd name="connsiteY25" fmla="*/ 274646 h 608415"/>
              <a:gd name="connsiteX26" fmla="*/ 263536 w 602354"/>
              <a:gd name="connsiteY26" fmla="*/ 263068 h 608415"/>
              <a:gd name="connsiteX27" fmla="*/ 479124 w 602354"/>
              <a:gd name="connsiteY27" fmla="*/ 224045 h 608415"/>
              <a:gd name="connsiteX28" fmla="*/ 583960 w 602354"/>
              <a:gd name="connsiteY28" fmla="*/ 279889 h 608415"/>
              <a:gd name="connsiteX29" fmla="*/ 593966 w 602354"/>
              <a:gd name="connsiteY29" fmla="*/ 295111 h 608415"/>
              <a:gd name="connsiteX30" fmla="*/ 602196 w 602354"/>
              <a:gd name="connsiteY30" fmla="*/ 359359 h 608415"/>
              <a:gd name="connsiteX31" fmla="*/ 584240 w 602354"/>
              <a:gd name="connsiteY31" fmla="*/ 382425 h 608415"/>
              <a:gd name="connsiteX32" fmla="*/ 581622 w 602354"/>
              <a:gd name="connsiteY32" fmla="*/ 382612 h 608415"/>
              <a:gd name="connsiteX33" fmla="*/ 561047 w 602354"/>
              <a:gd name="connsiteY33" fmla="*/ 364589 h 608415"/>
              <a:gd name="connsiteX34" fmla="*/ 554127 w 602354"/>
              <a:gd name="connsiteY34" fmla="*/ 310426 h 608415"/>
              <a:gd name="connsiteX35" fmla="*/ 525323 w 602354"/>
              <a:gd name="connsiteY35" fmla="*/ 293430 h 608415"/>
              <a:gd name="connsiteX36" fmla="*/ 526352 w 602354"/>
              <a:gd name="connsiteY36" fmla="*/ 476463 h 608415"/>
              <a:gd name="connsiteX37" fmla="*/ 590226 w 602354"/>
              <a:gd name="connsiteY37" fmla="*/ 519793 h 608415"/>
              <a:gd name="connsiteX38" fmla="*/ 596772 w 602354"/>
              <a:gd name="connsiteY38" fmla="*/ 554252 h 608415"/>
              <a:gd name="connsiteX39" fmla="*/ 576198 w 602354"/>
              <a:gd name="connsiteY39" fmla="*/ 565085 h 608415"/>
              <a:gd name="connsiteX40" fmla="*/ 562263 w 602354"/>
              <a:gd name="connsiteY40" fmla="*/ 560789 h 608415"/>
              <a:gd name="connsiteX41" fmla="*/ 487541 w 602354"/>
              <a:gd name="connsiteY41" fmla="*/ 510082 h 608415"/>
              <a:gd name="connsiteX42" fmla="*/ 476599 w 602354"/>
              <a:gd name="connsiteY42" fmla="*/ 489630 h 608415"/>
              <a:gd name="connsiteX43" fmla="*/ 476599 w 602354"/>
              <a:gd name="connsiteY43" fmla="*/ 436588 h 608415"/>
              <a:gd name="connsiteX44" fmla="*/ 476038 w 602354"/>
              <a:gd name="connsiteY44" fmla="*/ 436588 h 608415"/>
              <a:gd name="connsiteX45" fmla="*/ 450413 w 602354"/>
              <a:gd name="connsiteY45" fmla="*/ 481226 h 608415"/>
              <a:gd name="connsiteX46" fmla="*/ 450413 w 602354"/>
              <a:gd name="connsiteY46" fmla="*/ 583575 h 608415"/>
              <a:gd name="connsiteX47" fmla="*/ 425537 w 602354"/>
              <a:gd name="connsiteY47" fmla="*/ 608415 h 608415"/>
              <a:gd name="connsiteX48" fmla="*/ 400661 w 602354"/>
              <a:gd name="connsiteY48" fmla="*/ 583575 h 608415"/>
              <a:gd name="connsiteX49" fmla="*/ 400661 w 602354"/>
              <a:gd name="connsiteY49" fmla="*/ 474595 h 608415"/>
              <a:gd name="connsiteX50" fmla="*/ 403934 w 602354"/>
              <a:gd name="connsiteY50" fmla="*/ 462269 h 608415"/>
              <a:gd name="connsiteX51" fmla="*/ 432832 w 602354"/>
              <a:gd name="connsiteY51" fmla="*/ 412028 h 608415"/>
              <a:gd name="connsiteX52" fmla="*/ 432832 w 602354"/>
              <a:gd name="connsiteY52" fmla="*/ 344324 h 608415"/>
              <a:gd name="connsiteX53" fmla="*/ 359325 w 602354"/>
              <a:gd name="connsiteY53" fmla="*/ 357678 h 608415"/>
              <a:gd name="connsiteX54" fmla="*/ 355584 w 602354"/>
              <a:gd name="connsiteY54" fmla="*/ 357958 h 608415"/>
              <a:gd name="connsiteX55" fmla="*/ 335197 w 602354"/>
              <a:gd name="connsiteY55" fmla="*/ 340962 h 608415"/>
              <a:gd name="connsiteX56" fmla="*/ 351937 w 602354"/>
              <a:gd name="connsiteY56" fmla="*/ 316869 h 608415"/>
              <a:gd name="connsiteX57" fmla="*/ 418991 w 602354"/>
              <a:gd name="connsiteY57" fmla="*/ 304823 h 608415"/>
              <a:gd name="connsiteX58" fmla="*/ 435450 w 602354"/>
              <a:gd name="connsiteY58" fmla="*/ 262426 h 608415"/>
              <a:gd name="connsiteX59" fmla="*/ 479124 w 602354"/>
              <a:gd name="connsiteY59" fmla="*/ 224045 h 608415"/>
              <a:gd name="connsiteX60" fmla="*/ 460016 w 602354"/>
              <a:gd name="connsiteY60" fmla="*/ 108106 h 608415"/>
              <a:gd name="connsiteX61" fmla="*/ 503202 w 602354"/>
              <a:gd name="connsiteY61" fmla="*/ 157467 h 608415"/>
              <a:gd name="connsiteX62" fmla="*/ 460016 w 602354"/>
              <a:gd name="connsiteY62" fmla="*/ 206828 h 608415"/>
              <a:gd name="connsiteX63" fmla="*/ 416830 w 602354"/>
              <a:gd name="connsiteY63" fmla="*/ 157467 h 608415"/>
              <a:gd name="connsiteX64" fmla="*/ 460016 w 602354"/>
              <a:gd name="connsiteY64" fmla="*/ 108106 h 608415"/>
              <a:gd name="connsiteX65" fmla="*/ 0 w 602354"/>
              <a:gd name="connsiteY65" fmla="*/ 0 h 608415"/>
              <a:gd name="connsiteX66" fmla="*/ 284882 w 602354"/>
              <a:gd name="connsiteY66" fmla="*/ 0 h 608415"/>
              <a:gd name="connsiteX67" fmla="*/ 342775 w 602354"/>
              <a:gd name="connsiteY67" fmla="*/ 193598 h 608415"/>
              <a:gd name="connsiteX68" fmla="*/ 315559 w 602354"/>
              <a:gd name="connsiteY68" fmla="*/ 244028 h 608415"/>
              <a:gd name="connsiteX69" fmla="*/ 303961 w 602354"/>
              <a:gd name="connsiteY69" fmla="*/ 245709 h 608415"/>
              <a:gd name="connsiteX70" fmla="*/ 265148 w 602354"/>
              <a:gd name="connsiteY70" fmla="*/ 216758 h 608415"/>
              <a:gd name="connsiteX71" fmla="*/ 262997 w 602354"/>
              <a:gd name="connsiteY71" fmla="*/ 209661 h 608415"/>
              <a:gd name="connsiteX72" fmla="*/ 230824 w 602354"/>
              <a:gd name="connsiteY72" fmla="*/ 244869 h 608415"/>
              <a:gd name="connsiteX73" fmla="*/ 222874 w 602354"/>
              <a:gd name="connsiteY73" fmla="*/ 245709 h 608415"/>
              <a:gd name="connsiteX74" fmla="*/ 183125 w 602354"/>
              <a:gd name="connsiteY74" fmla="*/ 213116 h 608415"/>
              <a:gd name="connsiteX75" fmla="*/ 182190 w 602354"/>
              <a:gd name="connsiteY75" fmla="*/ 208166 h 608415"/>
              <a:gd name="connsiteX76" fmla="*/ 145902 w 602354"/>
              <a:gd name="connsiteY76" fmla="*/ 245522 h 608415"/>
              <a:gd name="connsiteX77" fmla="*/ 141786 w 602354"/>
              <a:gd name="connsiteY77" fmla="*/ 245709 h 608415"/>
              <a:gd name="connsiteX78" fmla="*/ 101570 w 602354"/>
              <a:gd name="connsiteY78" fmla="*/ 209194 h 608415"/>
              <a:gd name="connsiteX79" fmla="*/ 101196 w 602354"/>
              <a:gd name="connsiteY79" fmla="*/ 206205 h 608415"/>
              <a:gd name="connsiteX80" fmla="*/ 60792 w 602354"/>
              <a:gd name="connsiteY80" fmla="*/ 245709 h 608415"/>
              <a:gd name="connsiteX81" fmla="*/ 20389 w 602354"/>
              <a:gd name="connsiteY81" fmla="*/ 206205 h 608415"/>
              <a:gd name="connsiteX82" fmla="*/ 20108 w 602354"/>
              <a:gd name="connsiteY82" fmla="*/ 209194 h 608415"/>
              <a:gd name="connsiteX83" fmla="*/ 0 w 602354"/>
              <a:gd name="connsiteY83" fmla="*/ 240199 h 60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2354" h="608415">
                <a:moveTo>
                  <a:pt x="81081" y="369975"/>
                </a:moveTo>
                <a:lnTo>
                  <a:pt x="81081" y="457275"/>
                </a:lnTo>
                <a:lnTo>
                  <a:pt x="191059" y="457275"/>
                </a:lnTo>
                <a:cubicBezTo>
                  <a:pt x="203684" y="457275"/>
                  <a:pt x="213878" y="447098"/>
                  <a:pt x="213878" y="434493"/>
                </a:cubicBezTo>
                <a:lnTo>
                  <a:pt x="213878" y="369975"/>
                </a:lnTo>
                <a:close/>
                <a:moveTo>
                  <a:pt x="263536" y="263068"/>
                </a:moveTo>
                <a:cubicBezTo>
                  <a:pt x="275133" y="271191"/>
                  <a:pt x="289161" y="276046"/>
                  <a:pt x="303937" y="276046"/>
                </a:cubicBezTo>
                <a:lnTo>
                  <a:pt x="303937" y="551390"/>
                </a:lnTo>
                <a:lnTo>
                  <a:pt x="316000" y="551390"/>
                </a:lnTo>
                <a:cubicBezTo>
                  <a:pt x="331712" y="551390"/>
                  <a:pt x="344430" y="564182"/>
                  <a:pt x="344430" y="579868"/>
                </a:cubicBezTo>
                <a:cubicBezTo>
                  <a:pt x="344430" y="595554"/>
                  <a:pt x="331712" y="608345"/>
                  <a:pt x="316000" y="608345"/>
                </a:cubicBezTo>
                <a:lnTo>
                  <a:pt x="0" y="608345"/>
                </a:lnTo>
                <a:lnTo>
                  <a:pt x="0" y="457275"/>
                </a:lnTo>
                <a:lnTo>
                  <a:pt x="40494" y="457275"/>
                </a:lnTo>
                <a:lnTo>
                  <a:pt x="40494" y="369975"/>
                </a:lnTo>
                <a:lnTo>
                  <a:pt x="0" y="369975"/>
                </a:lnTo>
                <a:lnTo>
                  <a:pt x="0" y="329547"/>
                </a:lnTo>
                <a:lnTo>
                  <a:pt x="40494" y="329547"/>
                </a:lnTo>
                <a:lnTo>
                  <a:pt x="40494" y="272965"/>
                </a:lnTo>
                <a:cubicBezTo>
                  <a:pt x="46947" y="274833"/>
                  <a:pt x="53774" y="276046"/>
                  <a:pt x="60788" y="276046"/>
                </a:cubicBezTo>
                <a:cubicBezTo>
                  <a:pt x="67895" y="276046"/>
                  <a:pt x="74628" y="274833"/>
                  <a:pt x="81081" y="272965"/>
                </a:cubicBezTo>
                <a:lnTo>
                  <a:pt x="81081" y="329547"/>
                </a:lnTo>
                <a:lnTo>
                  <a:pt x="213878" y="329547"/>
                </a:lnTo>
                <a:lnTo>
                  <a:pt x="213878" y="275300"/>
                </a:lnTo>
                <a:cubicBezTo>
                  <a:pt x="216777" y="275673"/>
                  <a:pt x="219770" y="276046"/>
                  <a:pt x="222856" y="276046"/>
                </a:cubicBezTo>
                <a:cubicBezTo>
                  <a:pt x="227438" y="276046"/>
                  <a:pt x="232114" y="275580"/>
                  <a:pt x="236697" y="274646"/>
                </a:cubicBezTo>
                <a:cubicBezTo>
                  <a:pt x="246703" y="272685"/>
                  <a:pt x="255681" y="268577"/>
                  <a:pt x="263536" y="263068"/>
                </a:cubicBezTo>
                <a:close/>
                <a:moveTo>
                  <a:pt x="479124" y="224045"/>
                </a:moveTo>
                <a:cubicBezTo>
                  <a:pt x="494742" y="224045"/>
                  <a:pt x="583960" y="279889"/>
                  <a:pt x="583960" y="279889"/>
                </a:cubicBezTo>
                <a:cubicBezTo>
                  <a:pt x="589478" y="283158"/>
                  <a:pt x="593218" y="288761"/>
                  <a:pt x="593966" y="295111"/>
                </a:cubicBezTo>
                <a:lnTo>
                  <a:pt x="602196" y="359359"/>
                </a:lnTo>
                <a:cubicBezTo>
                  <a:pt x="603599" y="370659"/>
                  <a:pt x="595556" y="381024"/>
                  <a:pt x="584240" y="382425"/>
                </a:cubicBezTo>
                <a:cubicBezTo>
                  <a:pt x="583305" y="382612"/>
                  <a:pt x="582464" y="382612"/>
                  <a:pt x="581622" y="382612"/>
                </a:cubicBezTo>
                <a:cubicBezTo>
                  <a:pt x="571335" y="382612"/>
                  <a:pt x="562357" y="374954"/>
                  <a:pt x="561047" y="364589"/>
                </a:cubicBezTo>
                <a:lnTo>
                  <a:pt x="554127" y="310426"/>
                </a:lnTo>
                <a:lnTo>
                  <a:pt x="525323" y="293430"/>
                </a:lnTo>
                <a:lnTo>
                  <a:pt x="526352" y="476463"/>
                </a:lnTo>
                <a:lnTo>
                  <a:pt x="590226" y="519793"/>
                </a:lnTo>
                <a:cubicBezTo>
                  <a:pt x="601542" y="527451"/>
                  <a:pt x="604534" y="542953"/>
                  <a:pt x="596772" y="554252"/>
                </a:cubicBezTo>
                <a:cubicBezTo>
                  <a:pt x="592003" y="561350"/>
                  <a:pt x="584147" y="565085"/>
                  <a:pt x="576198" y="565085"/>
                </a:cubicBezTo>
                <a:cubicBezTo>
                  <a:pt x="571428" y="565085"/>
                  <a:pt x="566565" y="563778"/>
                  <a:pt x="562263" y="560789"/>
                </a:cubicBezTo>
                <a:lnTo>
                  <a:pt x="487541" y="510082"/>
                </a:lnTo>
                <a:cubicBezTo>
                  <a:pt x="480714" y="505506"/>
                  <a:pt x="476599" y="497848"/>
                  <a:pt x="476599" y="489630"/>
                </a:cubicBezTo>
                <a:lnTo>
                  <a:pt x="476599" y="436588"/>
                </a:lnTo>
                <a:lnTo>
                  <a:pt x="476038" y="436588"/>
                </a:lnTo>
                <a:lnTo>
                  <a:pt x="450413" y="481226"/>
                </a:lnTo>
                <a:lnTo>
                  <a:pt x="450413" y="583575"/>
                </a:lnTo>
                <a:cubicBezTo>
                  <a:pt x="450413" y="597302"/>
                  <a:pt x="439284" y="608415"/>
                  <a:pt x="425537" y="608415"/>
                </a:cubicBezTo>
                <a:cubicBezTo>
                  <a:pt x="411790" y="608415"/>
                  <a:pt x="400661" y="597302"/>
                  <a:pt x="400661" y="583575"/>
                </a:cubicBezTo>
                <a:lnTo>
                  <a:pt x="400661" y="474595"/>
                </a:lnTo>
                <a:cubicBezTo>
                  <a:pt x="400661" y="470300"/>
                  <a:pt x="401783" y="466004"/>
                  <a:pt x="403934" y="462269"/>
                </a:cubicBezTo>
                <a:lnTo>
                  <a:pt x="432832" y="412028"/>
                </a:lnTo>
                <a:lnTo>
                  <a:pt x="432832" y="344324"/>
                </a:lnTo>
                <a:lnTo>
                  <a:pt x="359325" y="357678"/>
                </a:lnTo>
                <a:cubicBezTo>
                  <a:pt x="358016" y="357865"/>
                  <a:pt x="356800" y="357958"/>
                  <a:pt x="355584" y="357958"/>
                </a:cubicBezTo>
                <a:cubicBezTo>
                  <a:pt x="345764" y="357958"/>
                  <a:pt x="337067" y="350955"/>
                  <a:pt x="335197" y="340962"/>
                </a:cubicBezTo>
                <a:cubicBezTo>
                  <a:pt x="333139" y="329756"/>
                  <a:pt x="340621" y="318924"/>
                  <a:pt x="351937" y="316869"/>
                </a:cubicBezTo>
                <a:lnTo>
                  <a:pt x="418991" y="304823"/>
                </a:lnTo>
                <a:lnTo>
                  <a:pt x="435450" y="262426"/>
                </a:lnTo>
                <a:cubicBezTo>
                  <a:pt x="440220" y="239827"/>
                  <a:pt x="452471" y="224045"/>
                  <a:pt x="479124" y="224045"/>
                </a:cubicBezTo>
                <a:close/>
                <a:moveTo>
                  <a:pt x="460016" y="108106"/>
                </a:moveTo>
                <a:cubicBezTo>
                  <a:pt x="483867" y="108106"/>
                  <a:pt x="503202" y="130206"/>
                  <a:pt x="503202" y="157467"/>
                </a:cubicBezTo>
                <a:cubicBezTo>
                  <a:pt x="503202" y="184728"/>
                  <a:pt x="483867" y="206828"/>
                  <a:pt x="460016" y="206828"/>
                </a:cubicBezTo>
                <a:cubicBezTo>
                  <a:pt x="436165" y="206828"/>
                  <a:pt x="416830" y="184728"/>
                  <a:pt x="416830" y="157467"/>
                </a:cubicBezTo>
                <a:cubicBezTo>
                  <a:pt x="416830" y="130206"/>
                  <a:pt x="436165" y="108106"/>
                  <a:pt x="460016" y="108106"/>
                </a:cubicBezTo>
                <a:close/>
                <a:moveTo>
                  <a:pt x="0" y="0"/>
                </a:moveTo>
                <a:lnTo>
                  <a:pt x="284882" y="0"/>
                </a:lnTo>
                <a:lnTo>
                  <a:pt x="342775" y="193598"/>
                </a:lnTo>
                <a:cubicBezTo>
                  <a:pt x="349228" y="215077"/>
                  <a:pt x="336976" y="237584"/>
                  <a:pt x="315559" y="244028"/>
                </a:cubicBezTo>
                <a:cubicBezTo>
                  <a:pt x="311724" y="245149"/>
                  <a:pt x="307796" y="245709"/>
                  <a:pt x="303961" y="245709"/>
                </a:cubicBezTo>
                <a:cubicBezTo>
                  <a:pt x="286472" y="245709"/>
                  <a:pt x="270385" y="234316"/>
                  <a:pt x="265148" y="216758"/>
                </a:cubicBezTo>
                <a:lnTo>
                  <a:pt x="262997" y="209661"/>
                </a:lnTo>
                <a:cubicBezTo>
                  <a:pt x="261126" y="226751"/>
                  <a:pt x="248594" y="241320"/>
                  <a:pt x="230824" y="244869"/>
                </a:cubicBezTo>
                <a:cubicBezTo>
                  <a:pt x="228111" y="245429"/>
                  <a:pt x="225493" y="245709"/>
                  <a:pt x="222874" y="245709"/>
                </a:cubicBezTo>
                <a:cubicBezTo>
                  <a:pt x="203888" y="245709"/>
                  <a:pt x="186960" y="232354"/>
                  <a:pt x="183125" y="213116"/>
                </a:cubicBezTo>
                <a:lnTo>
                  <a:pt x="182190" y="208166"/>
                </a:lnTo>
                <a:cubicBezTo>
                  <a:pt x="180787" y="227405"/>
                  <a:pt x="165729" y="243468"/>
                  <a:pt x="145902" y="245522"/>
                </a:cubicBezTo>
                <a:cubicBezTo>
                  <a:pt x="144499" y="245616"/>
                  <a:pt x="143096" y="245709"/>
                  <a:pt x="141786" y="245709"/>
                </a:cubicBezTo>
                <a:cubicBezTo>
                  <a:pt x="121211" y="245709"/>
                  <a:pt x="103628" y="230113"/>
                  <a:pt x="101570" y="209194"/>
                </a:cubicBezTo>
                <a:lnTo>
                  <a:pt x="101196" y="206205"/>
                </a:lnTo>
                <a:cubicBezTo>
                  <a:pt x="100635" y="228059"/>
                  <a:pt x="82865" y="245709"/>
                  <a:pt x="60792" y="245709"/>
                </a:cubicBezTo>
                <a:cubicBezTo>
                  <a:pt x="38720" y="245709"/>
                  <a:pt x="20950" y="228059"/>
                  <a:pt x="20389" y="206205"/>
                </a:cubicBezTo>
                <a:lnTo>
                  <a:pt x="20108" y="209194"/>
                </a:lnTo>
                <a:cubicBezTo>
                  <a:pt x="18706" y="222642"/>
                  <a:pt x="10849" y="233849"/>
                  <a:pt x="0" y="24019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7C6340-176E-468A-86B7-E6B2D5DEDCDD}"/>
              </a:ext>
            </a:extLst>
          </p:cNvPr>
          <p:cNvGrpSpPr/>
          <p:nvPr/>
        </p:nvGrpSpPr>
        <p:grpSpPr>
          <a:xfrm>
            <a:off x="550906" y="3779216"/>
            <a:ext cx="2492317" cy="1909160"/>
            <a:chOff x="550906" y="3779216"/>
            <a:chExt cx="2492317" cy="190916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2C12105-86D5-4889-B50A-B61F3EE6A01F}"/>
                </a:ext>
              </a:extLst>
            </p:cNvPr>
            <p:cNvSpPr/>
            <p:nvPr/>
          </p:nvSpPr>
          <p:spPr>
            <a:xfrm>
              <a:off x="550906" y="4089073"/>
              <a:ext cx="2492317" cy="1599303"/>
            </a:xfrm>
            <a:prstGeom prst="roundRect">
              <a:avLst>
                <a:gd name="adj" fmla="val 6391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2CEFBDD0-E2AC-4CC5-845C-00EFE9DB7D06}"/>
                </a:ext>
              </a:extLst>
            </p:cNvPr>
            <p:cNvSpPr/>
            <p:nvPr/>
          </p:nvSpPr>
          <p:spPr>
            <a:xfrm>
              <a:off x="760838" y="3779216"/>
              <a:ext cx="308008" cy="365756"/>
            </a:xfrm>
            <a:prstGeom prst="triangle">
              <a:avLst>
                <a:gd name="adj" fmla="val 3125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52A3C9-2297-4F54-B103-87CBA8D68713}"/>
              </a:ext>
            </a:extLst>
          </p:cNvPr>
          <p:cNvGrpSpPr/>
          <p:nvPr/>
        </p:nvGrpSpPr>
        <p:grpSpPr>
          <a:xfrm>
            <a:off x="3195623" y="3778003"/>
            <a:ext cx="2492317" cy="1909160"/>
            <a:chOff x="550906" y="3779216"/>
            <a:chExt cx="2492317" cy="190916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5444B00-600E-4003-9EE3-6E4927BCF1F0}"/>
                </a:ext>
              </a:extLst>
            </p:cNvPr>
            <p:cNvSpPr/>
            <p:nvPr/>
          </p:nvSpPr>
          <p:spPr>
            <a:xfrm>
              <a:off x="550906" y="4089073"/>
              <a:ext cx="2492317" cy="1599303"/>
            </a:xfrm>
            <a:prstGeom prst="roundRect">
              <a:avLst>
                <a:gd name="adj" fmla="val 6391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6DD0BF7E-9262-454D-98E4-B483B71A034B}"/>
                </a:ext>
              </a:extLst>
            </p:cNvPr>
            <p:cNvSpPr/>
            <p:nvPr/>
          </p:nvSpPr>
          <p:spPr>
            <a:xfrm>
              <a:off x="760838" y="3779216"/>
              <a:ext cx="308008" cy="365756"/>
            </a:xfrm>
            <a:prstGeom prst="triangle">
              <a:avLst>
                <a:gd name="adj" fmla="val 3125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1FF14FE-5934-4A09-BDD0-0C02C79BB9B8}"/>
              </a:ext>
            </a:extLst>
          </p:cNvPr>
          <p:cNvGrpSpPr/>
          <p:nvPr/>
        </p:nvGrpSpPr>
        <p:grpSpPr>
          <a:xfrm>
            <a:off x="5834888" y="3758567"/>
            <a:ext cx="2492317" cy="1909160"/>
            <a:chOff x="550906" y="3779216"/>
            <a:chExt cx="2492317" cy="190916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3804E6F-2377-4AB7-9636-6D278443C4FC}"/>
                </a:ext>
              </a:extLst>
            </p:cNvPr>
            <p:cNvSpPr/>
            <p:nvPr/>
          </p:nvSpPr>
          <p:spPr>
            <a:xfrm>
              <a:off x="550906" y="4089073"/>
              <a:ext cx="2492317" cy="1599303"/>
            </a:xfrm>
            <a:prstGeom prst="roundRect">
              <a:avLst>
                <a:gd name="adj" fmla="val 6391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E61DAFEA-1C04-4F67-8946-651785B51B67}"/>
                </a:ext>
              </a:extLst>
            </p:cNvPr>
            <p:cNvSpPr/>
            <p:nvPr/>
          </p:nvSpPr>
          <p:spPr>
            <a:xfrm>
              <a:off x="760838" y="3779216"/>
              <a:ext cx="308008" cy="365756"/>
            </a:xfrm>
            <a:prstGeom prst="triangle">
              <a:avLst>
                <a:gd name="adj" fmla="val 3125"/>
              </a:avLst>
            </a:prstGeom>
            <a:solidFill>
              <a:srgbClr val="DCE6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HK">
                <a:solidFill>
                  <a:schemeClr val="tx1"/>
                </a:solidFill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34FA54D6-B21E-486E-B4BB-79C280B52588}"/>
              </a:ext>
            </a:extLst>
          </p:cNvPr>
          <p:cNvSpPr/>
          <p:nvPr/>
        </p:nvSpPr>
        <p:spPr>
          <a:xfrm>
            <a:off x="462896" y="2476141"/>
            <a:ext cx="1317777" cy="53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HK">
                <a:solidFill>
                  <a:schemeClr val="tx1"/>
                </a:solidFill>
              </a:rPr>
              <a:t>Yarn </a:t>
            </a:r>
            <a:br>
              <a:rPr lang="en-HK">
                <a:solidFill>
                  <a:schemeClr val="tx1"/>
                </a:solidFill>
              </a:rPr>
            </a:br>
            <a:r>
              <a:rPr lang="en-HK">
                <a:solidFill>
                  <a:schemeClr val="tx1"/>
                </a:solidFill>
              </a:rPr>
              <a:t>spinning</a:t>
            </a:r>
          </a:p>
        </p:txBody>
      </p:sp>
    </p:spTree>
    <p:extLst>
      <p:ext uri="{BB962C8B-B14F-4D97-AF65-F5344CB8AC3E}">
        <p14:creationId xmlns:p14="http://schemas.microsoft.com/office/powerpoint/2010/main" val="40248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DA154-75A0-4F75-B9D3-7659156777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3DF7948-D326-4968-B145-8B4834CE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9E7A-1913-4276-9DA5-1F6D8D0C9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381CC0-1FBD-47E9-832C-5B16F8F97B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1C3E6-B396-4207-B574-DD9A6443499C}"/>
              </a:ext>
            </a:extLst>
          </p:cNvPr>
          <p:cNvSpPr/>
          <p:nvPr/>
        </p:nvSpPr>
        <p:spPr>
          <a:xfrm>
            <a:off x="-3" y="-11327"/>
            <a:ext cx="12192003" cy="6858000"/>
          </a:xfrm>
          <a:prstGeom prst="rect">
            <a:avLst/>
          </a:prstGeom>
          <a:solidFill>
            <a:srgbClr val="073779">
              <a:alpha val="63137"/>
            </a:srgb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endParaRPr lang="en-US" sz="1600" b="1">
              <a:solidFill>
                <a:schemeClr val="bg1"/>
              </a:solidFill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B2E05C-C69C-4982-B4C3-8F518B93A7E6}"/>
              </a:ext>
            </a:extLst>
          </p:cNvPr>
          <p:cNvGrpSpPr/>
          <p:nvPr/>
        </p:nvGrpSpPr>
        <p:grpSpPr>
          <a:xfrm>
            <a:off x="-2403" y="2254623"/>
            <a:ext cx="12194403" cy="2294224"/>
            <a:chOff x="-2403" y="2254623"/>
            <a:chExt cx="12194403" cy="22942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DB2C34-4886-4080-A3D3-A44C038592CF}"/>
                </a:ext>
              </a:extLst>
            </p:cNvPr>
            <p:cNvSpPr/>
            <p:nvPr/>
          </p:nvSpPr>
          <p:spPr>
            <a:xfrm>
              <a:off x="-2403" y="2254623"/>
              <a:ext cx="12194403" cy="2294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7C20EC-9D88-4277-8C3E-7F5DDDFD771B}"/>
                </a:ext>
              </a:extLst>
            </p:cNvPr>
            <p:cNvSpPr/>
            <p:nvPr/>
          </p:nvSpPr>
          <p:spPr>
            <a:xfrm>
              <a:off x="1022306" y="2695391"/>
              <a:ext cx="2134411" cy="1517191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375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HK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rPr>
                <a:t>Company logo/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HK" sz="1600" b="1" kern="0">
                  <a:solidFill>
                    <a:prstClr val="black"/>
                  </a:solidFill>
                  <a:latin typeface="+mj-lt"/>
                </a:rPr>
                <a:t>Illustrative pic</a:t>
              </a:r>
              <a:endParaRPr kumimoji="0" lang="en-HK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4E6A64-59CB-49AA-BE2C-6D98E38826DB}"/>
                </a:ext>
              </a:extLst>
            </p:cNvPr>
            <p:cNvSpPr txBox="1"/>
            <p:nvPr/>
          </p:nvSpPr>
          <p:spPr>
            <a:xfrm>
              <a:off x="3346973" y="2871106"/>
              <a:ext cx="85387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+mj-lt"/>
                </a:rPr>
                <a:t>Overview</a:t>
              </a:r>
              <a:r>
                <a:rPr lang="en-US" b="1">
                  <a:latin typeface="+mj-lt"/>
                </a:rPr>
                <a:t>:</a:t>
              </a:r>
            </a:p>
            <a:p>
              <a:endParaRPr lang="en-US">
                <a:latin typeface="+mj-lt"/>
              </a:endParaRPr>
            </a:p>
            <a:p>
              <a:r>
                <a:rPr lang="en-US">
                  <a:latin typeface="+mj-lt"/>
                </a:rPr>
                <a:t>Impact:</a:t>
              </a:r>
              <a:endParaRPr lang="en-HK"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B22110-C947-44D9-981B-ADE6CC5E2026}"/>
                </a:ext>
              </a:extLst>
            </p:cNvPr>
            <p:cNvSpPr/>
            <p:nvPr/>
          </p:nvSpPr>
          <p:spPr>
            <a:xfrm>
              <a:off x="4670220" y="2316370"/>
              <a:ext cx="27975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kern="0">
                  <a:solidFill>
                    <a:prstClr val="black"/>
                  </a:solidFill>
                  <a:latin typeface="+mj-lt"/>
                </a:rPr>
                <a:t>Case study: </a:t>
              </a:r>
              <a:r>
                <a:rPr lang="en-HK" kern="0">
                  <a:solidFill>
                    <a:prstClr val="black"/>
                  </a:solidFill>
                  <a:latin typeface="+mj-lt"/>
                </a:rPr>
                <a:t>Company name</a:t>
              </a:r>
              <a:endParaRPr lang="en-US" kern="0">
                <a:solidFill>
                  <a:prstClr val="black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683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82634-44B1-4CA7-83E4-24BA251B5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20656-093F-411F-B1F2-2F2314FA211B}"/>
              </a:ext>
            </a:extLst>
          </p:cNvPr>
          <p:cNvSpPr/>
          <p:nvPr/>
        </p:nvSpPr>
        <p:spPr>
          <a:xfrm>
            <a:off x="300039" y="767556"/>
            <a:ext cx="11591924" cy="5398294"/>
          </a:xfrm>
          <a:prstGeom prst="rect">
            <a:avLst/>
          </a:prstGeom>
          <a:solidFill>
            <a:schemeClr val="tx1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Implementation</a:t>
            </a:r>
          </a:p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____________</a:t>
            </a:r>
          </a:p>
        </p:txBody>
      </p:sp>
    </p:spTree>
    <p:extLst>
      <p:ext uri="{BB962C8B-B14F-4D97-AF65-F5344CB8AC3E}">
        <p14:creationId xmlns:p14="http://schemas.microsoft.com/office/powerpoint/2010/main" val="33720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362D80-E175-4834-A0C6-5B8548D693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AC2E9-C427-4336-88AF-64FB4E79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Three-phase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B8F76-B256-4807-8B51-F3785BD9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11F2A-A249-41FD-B989-FC77892B3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Strategy implementation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A7ADDE-71AA-4392-B1C9-D12B1C05545F}"/>
              </a:ext>
            </a:extLst>
          </p:cNvPr>
          <p:cNvGrpSpPr/>
          <p:nvPr/>
        </p:nvGrpSpPr>
        <p:grpSpPr>
          <a:xfrm>
            <a:off x="306325" y="6970713"/>
            <a:ext cx="11685105" cy="967074"/>
            <a:chOff x="792164" y="1026826"/>
            <a:chExt cx="7812085" cy="646538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64C5E820-448C-4C37-B1B3-A21A87996250}"/>
                </a:ext>
              </a:extLst>
            </p:cNvPr>
            <p:cNvSpPr/>
            <p:nvPr/>
          </p:nvSpPr>
          <p:spPr>
            <a:xfrm>
              <a:off x="3077635" y="1026826"/>
              <a:ext cx="808566" cy="646538"/>
            </a:xfrm>
            <a:prstGeom prst="parallelogram">
              <a:avLst>
                <a:gd name="adj" fmla="val 71761"/>
              </a:avLst>
            </a:prstGeom>
            <a:gradFill flip="none" rotWithShape="1">
              <a:gsLst>
                <a:gs pos="49000">
                  <a:srgbClr val="115E93"/>
                </a:gs>
                <a:gs pos="62000">
                  <a:srgbClr val="051C2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2800"/>
            </a:p>
          </p:txBody>
        </p:sp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1EF7C6CD-C66B-4B86-A617-66D9A54A8016}"/>
                </a:ext>
              </a:extLst>
            </p:cNvPr>
            <p:cNvSpPr/>
            <p:nvPr/>
          </p:nvSpPr>
          <p:spPr>
            <a:xfrm>
              <a:off x="792164" y="1026827"/>
              <a:ext cx="2873903" cy="281533"/>
            </a:xfrm>
            <a:prstGeom prst="homePlate">
              <a:avLst>
                <a:gd name="adj" fmla="val 18044"/>
              </a:avLst>
            </a:prstGeom>
            <a:solidFill>
              <a:srgbClr val="051C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b="1">
                  <a:cs typeface="Arial" panose="020B0604020202020204" pitchFamily="34" charset="0"/>
                </a:rPr>
                <a:t>Stage 1</a:t>
              </a:r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73E6A68C-0A25-4EDB-930F-3D61EEF54ABC}"/>
                </a:ext>
              </a:extLst>
            </p:cNvPr>
            <p:cNvSpPr/>
            <p:nvPr/>
          </p:nvSpPr>
          <p:spPr>
            <a:xfrm>
              <a:off x="3353721" y="1391831"/>
              <a:ext cx="5250528" cy="281533"/>
            </a:xfrm>
            <a:prstGeom prst="homePlate">
              <a:avLst/>
            </a:prstGeom>
            <a:solidFill>
              <a:srgbClr val="115E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b="1">
                  <a:solidFill>
                    <a:schemeClr val="bg1"/>
                  </a:solidFill>
                  <a:cs typeface="Arial" panose="020B0604020202020204" pitchFamily="34" charset="0"/>
                </a:rPr>
                <a:t>Stage 2: xx years into the JV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7F78E7-2E6D-432A-9580-8F07E2691BF8}"/>
              </a:ext>
            </a:extLst>
          </p:cNvPr>
          <p:cNvGrpSpPr/>
          <p:nvPr/>
        </p:nvGrpSpPr>
        <p:grpSpPr>
          <a:xfrm>
            <a:off x="300038" y="1162788"/>
            <a:ext cx="11591925" cy="1263372"/>
            <a:chOff x="300038" y="2356588"/>
            <a:chExt cx="11591925" cy="1263372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F612ED1A-D2B2-469C-9354-5756A06338B0}"/>
                </a:ext>
              </a:extLst>
            </p:cNvPr>
            <p:cNvSpPr/>
            <p:nvPr/>
          </p:nvSpPr>
          <p:spPr>
            <a:xfrm>
              <a:off x="300038" y="2356588"/>
              <a:ext cx="4298706" cy="421109"/>
            </a:xfrm>
            <a:prstGeom prst="homePlate">
              <a:avLst>
                <a:gd name="adj" fmla="val 18044"/>
              </a:avLst>
            </a:prstGeom>
            <a:solidFill>
              <a:srgbClr val="051C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b="1">
                  <a:cs typeface="Arial" panose="020B0604020202020204" pitchFamily="34" charset="0"/>
                </a:rPr>
                <a:t>Stage 1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3B4F1F0A-05C5-45D5-93FE-E919A4D659AA}"/>
                </a:ext>
              </a:extLst>
            </p:cNvPr>
            <p:cNvSpPr/>
            <p:nvPr/>
          </p:nvSpPr>
          <p:spPr>
            <a:xfrm>
              <a:off x="3718584" y="2356631"/>
              <a:ext cx="1209431" cy="842219"/>
            </a:xfrm>
            <a:prstGeom prst="parallelogram">
              <a:avLst>
                <a:gd name="adj" fmla="val 71761"/>
              </a:avLst>
            </a:prstGeom>
            <a:gradFill flip="none" rotWithShape="1">
              <a:gsLst>
                <a:gs pos="49000">
                  <a:srgbClr val="073779"/>
                </a:gs>
                <a:gs pos="62000">
                  <a:srgbClr val="051C2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28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F7EE0339-133E-41DD-813A-1D9A067ECD66}"/>
                </a:ext>
              </a:extLst>
            </p:cNvPr>
            <p:cNvSpPr/>
            <p:nvPr/>
          </p:nvSpPr>
          <p:spPr>
            <a:xfrm>
              <a:off x="4131547" y="2777742"/>
              <a:ext cx="4298706" cy="421109"/>
            </a:xfrm>
            <a:prstGeom prst="homePlate">
              <a:avLst/>
            </a:pr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b="1">
                  <a:solidFill>
                    <a:schemeClr val="bg1"/>
                  </a:solidFill>
                  <a:cs typeface="Arial" panose="020B0604020202020204" pitchFamily="34" charset="0"/>
                </a:rPr>
                <a:t>Stage 2: xx years into the JV</a:t>
              </a: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FDBE0DC-38A4-47C2-B243-B0FC259001B2}"/>
                </a:ext>
              </a:extLst>
            </p:cNvPr>
            <p:cNvSpPr/>
            <p:nvPr/>
          </p:nvSpPr>
          <p:spPr>
            <a:xfrm>
              <a:off x="7580644" y="2777741"/>
              <a:ext cx="1209431" cy="842219"/>
            </a:xfrm>
            <a:prstGeom prst="parallelogram">
              <a:avLst>
                <a:gd name="adj" fmla="val 71761"/>
              </a:avLst>
            </a:prstGeom>
            <a:gradFill flip="none" rotWithShape="1">
              <a:gsLst>
                <a:gs pos="49000">
                  <a:srgbClr val="115E93"/>
                </a:gs>
                <a:gs pos="62000">
                  <a:srgbClr val="073779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2800"/>
            </a:p>
          </p:txBody>
        </p:sp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4C4877E8-91DD-4BD6-ABB5-500268DCDFA8}"/>
                </a:ext>
              </a:extLst>
            </p:cNvPr>
            <p:cNvSpPr/>
            <p:nvPr/>
          </p:nvSpPr>
          <p:spPr>
            <a:xfrm>
              <a:off x="7993607" y="3198851"/>
              <a:ext cx="3898356" cy="421109"/>
            </a:xfrm>
            <a:prstGeom prst="homePlate">
              <a:avLst/>
            </a:prstGeom>
            <a:solidFill>
              <a:srgbClr val="115E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b="1">
                  <a:solidFill>
                    <a:schemeClr val="bg1"/>
                  </a:solidFill>
                  <a:cs typeface="Arial" panose="020B0604020202020204" pitchFamily="34" charset="0"/>
                </a:rPr>
                <a:t>Stage 3: xx years into the JV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AC051228-FEC8-4CC3-A3D6-A54DFF300356}"/>
              </a:ext>
            </a:extLst>
          </p:cNvPr>
          <p:cNvSpPr/>
          <p:nvPr/>
        </p:nvSpPr>
        <p:spPr>
          <a:xfrm>
            <a:off x="465136" y="3589899"/>
            <a:ext cx="3572337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B54AAA-082D-4BA9-800A-AA670FEA52A0}"/>
              </a:ext>
            </a:extLst>
          </p:cNvPr>
          <p:cNvSpPr/>
          <p:nvPr/>
        </p:nvSpPr>
        <p:spPr>
          <a:xfrm>
            <a:off x="8064631" y="3589899"/>
            <a:ext cx="3572337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8A64C5-0EF0-4153-95C3-AF55E07E11B3}"/>
              </a:ext>
            </a:extLst>
          </p:cNvPr>
          <p:cNvSpPr/>
          <p:nvPr/>
        </p:nvSpPr>
        <p:spPr>
          <a:xfrm>
            <a:off x="4264883" y="3589899"/>
            <a:ext cx="3572337" cy="924455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Content 2 (16 </a:t>
            </a:r>
            <a:r>
              <a:rPr lang="en-US" sz="1600" err="1">
                <a:solidFill>
                  <a:schemeClr val="tx1"/>
                </a:solidFill>
              </a:rPr>
              <a:t>pt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26" name="Picture 2" descr="Image result for icon">
            <a:extLst>
              <a:ext uri="{FF2B5EF4-FFF2-40B4-BE49-F238E27FC236}">
                <a16:creationId xmlns:a16="http://schemas.microsoft.com/office/drawing/2014/main" id="{D1159675-C66E-4E79-89A6-9CC314BBE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33288" r="20011" b="33395"/>
          <a:stretch/>
        </p:blipFill>
        <p:spPr bwMode="auto">
          <a:xfrm>
            <a:off x="823124" y="2566094"/>
            <a:ext cx="2856359" cy="84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mage result for icon">
            <a:extLst>
              <a:ext uri="{FF2B5EF4-FFF2-40B4-BE49-F238E27FC236}">
                <a16:creationId xmlns:a16="http://schemas.microsoft.com/office/drawing/2014/main" id="{FF8C0957-9864-4B08-A7E5-63A2CE57F1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33288" r="20011" b="33395"/>
          <a:stretch/>
        </p:blipFill>
        <p:spPr bwMode="auto">
          <a:xfrm>
            <a:off x="4622871" y="2566094"/>
            <a:ext cx="2856359" cy="84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Image result for icon">
            <a:extLst>
              <a:ext uri="{FF2B5EF4-FFF2-40B4-BE49-F238E27FC236}">
                <a16:creationId xmlns:a16="http://schemas.microsoft.com/office/drawing/2014/main" id="{5F6D9F79-AC99-43D5-98F8-C1FEDBD9A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33288" r="20011" b="33395"/>
          <a:stretch/>
        </p:blipFill>
        <p:spPr bwMode="auto">
          <a:xfrm>
            <a:off x="8422618" y="2566094"/>
            <a:ext cx="2856359" cy="84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30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DE160-CD0B-4437-9C2B-B09788E526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66CFCD-0AA0-4B15-BF1D-35A86D8B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Implementation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37360-3A57-4484-93E7-047A1B9C8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9323F-8F7E-460B-AC03-729D7F38C4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A3AD-C5B2-4DB8-B04B-F518990EB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658264"/>
              </p:ext>
            </p:extLst>
          </p:nvPr>
        </p:nvGraphicFramePr>
        <p:xfrm>
          <a:off x="263526" y="1187165"/>
          <a:ext cx="11664935" cy="398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155">
                  <a:extLst>
                    <a:ext uri="{9D8B030D-6E8A-4147-A177-3AD203B41FA5}">
                      <a16:colId xmlns:a16="http://schemas.microsoft.com/office/drawing/2014/main" val="2386286079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2259052541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2683755526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4272178183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2089373141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234047194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2235718085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71285212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540877795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525420228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027624336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580733484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751141140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4018428488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4264420839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2010476965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636178682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3213631802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3255536043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1821622833"/>
                    </a:ext>
                  </a:extLst>
                </a:gridCol>
                <a:gridCol w="385239">
                  <a:extLst>
                    <a:ext uri="{9D8B030D-6E8A-4147-A177-3AD203B41FA5}">
                      <a16:colId xmlns:a16="http://schemas.microsoft.com/office/drawing/2014/main" val="3274061916"/>
                    </a:ext>
                  </a:extLst>
                </a:gridCol>
              </a:tblGrid>
              <a:tr h="339544"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HK" sz="1400">
                          <a:solidFill>
                            <a:schemeClr val="tx1"/>
                          </a:solidFill>
                          <a:latin typeface="+mj-lt"/>
                        </a:rPr>
                        <a:t>Year 1</a:t>
                      </a:r>
                    </a:p>
                  </a:txBody>
                  <a:tcPr marL="92228" marR="92228" marT="46114" marB="4611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HK" sz="1400">
                          <a:solidFill>
                            <a:schemeClr val="tx1"/>
                          </a:solidFill>
                          <a:latin typeface="+mj-lt"/>
                        </a:rPr>
                        <a:t>Year 2</a:t>
                      </a:r>
                    </a:p>
                  </a:txBody>
                  <a:tcPr marL="92228" marR="92228" marT="46114" marB="4611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HK" sz="1400">
                          <a:solidFill>
                            <a:schemeClr val="tx1"/>
                          </a:solidFill>
                          <a:latin typeface="+mj-lt"/>
                        </a:rPr>
                        <a:t>Year 3</a:t>
                      </a:r>
                    </a:p>
                  </a:txBody>
                  <a:tcPr marL="92228" marR="92228" marT="46114" marB="4611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HK"/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HK" sz="1400">
                          <a:solidFill>
                            <a:schemeClr val="tx1"/>
                          </a:solidFill>
                          <a:latin typeface="+mj-lt"/>
                        </a:rPr>
                        <a:t>Year 4</a:t>
                      </a:r>
                    </a:p>
                  </a:txBody>
                  <a:tcPr marL="92228" marR="92228" marT="46114" marB="4611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HK" sz="1400">
                          <a:solidFill>
                            <a:schemeClr val="tx1"/>
                          </a:solidFill>
                          <a:latin typeface="+mj-lt"/>
                        </a:rPr>
                        <a:t>Year 5</a:t>
                      </a:r>
                    </a:p>
                  </a:txBody>
                  <a:tcPr marL="92228" marR="92228" marT="46114" marB="4611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HK" sz="1300">
                        <a:solidFill>
                          <a:schemeClr val="bg1"/>
                        </a:solidFill>
                      </a:endParaRPr>
                    </a:p>
                  </a:txBody>
                  <a:tcPr marL="92228" marR="92228" marT="46114" marB="46114">
                    <a:solidFill>
                      <a:srgbClr val="414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07113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r>
                        <a:rPr lang="en-HK" sz="1600" b="1">
                          <a:solidFill>
                            <a:schemeClr val="tx1"/>
                          </a:solidFill>
                          <a:latin typeface="+mj-lt"/>
                        </a:rPr>
                        <a:t>Phase Out</a:t>
                      </a:r>
                    </a:p>
                  </a:txBody>
                  <a:tcPr marL="68337" marR="68337" marT="34168" marB="3416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Q2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Q3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Q4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Q2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Q3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Q4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Q2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Q3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Q4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Q2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Q3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Q4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Q2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Q3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000" b="1">
                          <a:solidFill>
                            <a:schemeClr val="bg1"/>
                          </a:solidFill>
                          <a:latin typeface="+mj-lt"/>
                        </a:rPr>
                        <a:t>Q4</a:t>
                      </a:r>
                    </a:p>
                  </a:txBody>
                  <a:tcPr marL="68337" marR="68337" marT="34168" marB="3416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897076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HK" sz="1400">
                          <a:latin typeface="+mj-lt"/>
                        </a:rPr>
                        <a:t>Communication with current employees</a:t>
                      </a: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78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78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78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78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795941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HK" sz="1400">
                          <a:latin typeface="+mj-lt"/>
                        </a:rPr>
                        <a:t>Liquidate extra properties </a:t>
                      </a: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772114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HK" sz="1400">
                          <a:latin typeface="+mj-lt"/>
                        </a:rPr>
                        <a:t>Ensure logistical support from production plants</a:t>
                      </a: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005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r>
                        <a:rPr lang="en-HK" sz="1600" b="1">
                          <a:solidFill>
                            <a:schemeClr val="tx1"/>
                          </a:solidFill>
                          <a:latin typeface="+mj-lt"/>
                        </a:rPr>
                        <a:t>Transfer</a:t>
                      </a: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752343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r>
                        <a:rPr lang="en-HK" sz="1400">
                          <a:latin typeface="+mj-lt"/>
                        </a:rPr>
                        <a:t>Evaluate resource utilization rate of each plant</a:t>
                      </a: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131684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r>
                        <a:rPr lang="en-HK" sz="1400">
                          <a:latin typeface="+mj-lt"/>
                        </a:rPr>
                        <a:t>Liaise with existing suppliers </a:t>
                      </a: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325281"/>
                  </a:ext>
                </a:extLst>
              </a:tr>
              <a:tr h="386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HK" sz="1400">
                          <a:latin typeface="+mj-lt"/>
                        </a:rPr>
                        <a:t>Ensure specialization among plants</a:t>
                      </a: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61241"/>
                  </a:ext>
                </a:extLst>
              </a:tr>
              <a:tr h="340123">
                <a:tc>
                  <a:txBody>
                    <a:bodyPr/>
                    <a:lstStyle/>
                    <a:p>
                      <a:r>
                        <a:rPr lang="en-HK" sz="1600" b="1">
                          <a:solidFill>
                            <a:schemeClr val="tx1"/>
                          </a:solidFill>
                          <a:latin typeface="+mj-lt"/>
                        </a:rPr>
                        <a:t>General</a:t>
                      </a: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019416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r>
                        <a:rPr lang="en-HK" sz="1400">
                          <a:latin typeface="+mj-lt"/>
                        </a:rPr>
                        <a:t>Conduct market research on disruptive trends</a:t>
                      </a: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211329"/>
                  </a:ext>
                </a:extLst>
              </a:tr>
              <a:tr h="324102">
                <a:tc>
                  <a:txBody>
                    <a:bodyPr/>
                    <a:lstStyle/>
                    <a:p>
                      <a:endParaRPr lang="en-HK" sz="14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HK" sz="1300">
                        <a:latin typeface="+mj-lt"/>
                      </a:endParaRPr>
                    </a:p>
                  </a:txBody>
                  <a:tcPr marL="68337" marR="68337" marT="34168" marB="34168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1986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3F7E54-DA2C-4F1D-BED8-3A3D2433E717}"/>
              </a:ext>
            </a:extLst>
          </p:cNvPr>
          <p:cNvCxnSpPr>
            <a:cxnSpLocks/>
          </p:cNvCxnSpPr>
          <p:nvPr/>
        </p:nvCxnSpPr>
        <p:spPr>
          <a:xfrm>
            <a:off x="9616437" y="1481616"/>
            <a:ext cx="0" cy="3883621"/>
          </a:xfrm>
          <a:prstGeom prst="line">
            <a:avLst/>
          </a:prstGeom>
          <a:solidFill>
            <a:srgbClr val="FCAF17"/>
          </a:solidFill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EE4B88B-0BAF-47BA-AB03-91CF6F3CC1B3}"/>
              </a:ext>
            </a:extLst>
          </p:cNvPr>
          <p:cNvSpPr/>
          <p:nvPr/>
        </p:nvSpPr>
        <p:spPr>
          <a:xfrm>
            <a:off x="9529810" y="5256683"/>
            <a:ext cx="173254" cy="242746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latin typeface="+mj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617B59-2E53-48EC-A47A-F2F73DC27AB1}"/>
              </a:ext>
            </a:extLst>
          </p:cNvPr>
          <p:cNvGrpSpPr/>
          <p:nvPr/>
        </p:nvGrpSpPr>
        <p:grpSpPr>
          <a:xfrm>
            <a:off x="263525" y="5762415"/>
            <a:ext cx="2853835" cy="246273"/>
            <a:chOff x="616748" y="6373139"/>
            <a:chExt cx="3507210" cy="240682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B289767E-A9F8-4318-B8F7-630040401A29}"/>
                </a:ext>
              </a:extLst>
            </p:cNvPr>
            <p:cNvSpPr/>
            <p:nvPr/>
          </p:nvSpPr>
          <p:spPr>
            <a:xfrm>
              <a:off x="1816632" y="6446164"/>
              <a:ext cx="1026160" cy="112627"/>
            </a:xfrm>
            <a:prstGeom prst="homePlat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chemeClr val="accent1">
                    <a:lumMod val="45000"/>
                    <a:lumOff val="55000"/>
                  </a:schemeClr>
                </a:gs>
                <a:gs pos="59000">
                  <a:srgbClr val="006CB7"/>
                </a:gs>
                <a:gs pos="100000">
                  <a:srgbClr val="00375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b="1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1A815C-108E-4E10-98C2-44CF80C06338}"/>
                </a:ext>
              </a:extLst>
            </p:cNvPr>
            <p:cNvSpPr/>
            <p:nvPr/>
          </p:nvSpPr>
          <p:spPr>
            <a:xfrm>
              <a:off x="616748" y="6373190"/>
              <a:ext cx="1174282" cy="2406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000">
                  <a:solidFill>
                    <a:schemeClr val="tx1"/>
                  </a:solidFill>
                </a:rPr>
                <a:t>Less resource intensive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88CF5C-0A88-46FC-B3B3-A79F8D99B661}"/>
                </a:ext>
              </a:extLst>
            </p:cNvPr>
            <p:cNvSpPr/>
            <p:nvPr/>
          </p:nvSpPr>
          <p:spPr>
            <a:xfrm>
              <a:off x="2949675" y="6373139"/>
              <a:ext cx="1174283" cy="2406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000">
                  <a:solidFill>
                    <a:schemeClr val="tx1"/>
                  </a:solidFill>
                </a:rPr>
                <a:t>More resource intensive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04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Project</a:t>
            </a:r>
            <a:r>
              <a:rPr lang="zh-TW" altLang="en-US"/>
              <a:t> </a:t>
            </a:r>
            <a:r>
              <a:rPr lang="en-US" altLang="zh-TW"/>
              <a:t>Timeline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TW"/>
              <a:t>Overview</a:t>
            </a:r>
            <a:endParaRPr lang="en-US"/>
          </a:p>
        </p:txBody>
      </p:sp>
      <p:cxnSp>
        <p:nvCxnSpPr>
          <p:cNvPr id="6" name="Straight Connector 77">
            <a:extLst>
              <a:ext uri="{FF2B5EF4-FFF2-40B4-BE49-F238E27FC236}">
                <a16:creationId xmlns:a16="http://schemas.microsoft.com/office/drawing/2014/main" id="{5A961727-0047-4D40-AFF0-DEEC621A81E5}"/>
              </a:ext>
            </a:extLst>
          </p:cNvPr>
          <p:cNvCxnSpPr>
            <a:cxnSpLocks/>
          </p:cNvCxnSpPr>
          <p:nvPr/>
        </p:nvCxnSpPr>
        <p:spPr>
          <a:xfrm>
            <a:off x="419381" y="3709313"/>
            <a:ext cx="11442695" cy="0"/>
          </a:xfrm>
          <a:prstGeom prst="line">
            <a:avLst/>
          </a:prstGeom>
          <a:ln w="6350" cmpd="sng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81">
            <a:extLst>
              <a:ext uri="{FF2B5EF4-FFF2-40B4-BE49-F238E27FC236}">
                <a16:creationId xmlns:a16="http://schemas.microsoft.com/office/drawing/2014/main" id="{254B0BFE-E329-4E6E-9799-C053DE3619E1}"/>
              </a:ext>
            </a:extLst>
          </p:cNvPr>
          <p:cNvCxnSpPr>
            <a:cxnSpLocks/>
          </p:cNvCxnSpPr>
          <p:nvPr/>
        </p:nvCxnSpPr>
        <p:spPr>
          <a:xfrm>
            <a:off x="419381" y="4488851"/>
            <a:ext cx="11442694" cy="0"/>
          </a:xfrm>
          <a:prstGeom prst="line">
            <a:avLst/>
          </a:prstGeom>
          <a:ln w="6350" cmpd="sng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144">
            <a:extLst>
              <a:ext uri="{FF2B5EF4-FFF2-40B4-BE49-F238E27FC236}">
                <a16:creationId xmlns:a16="http://schemas.microsoft.com/office/drawing/2014/main" id="{E5DA967F-3D6D-4B44-91FB-6B5851D078DD}"/>
              </a:ext>
            </a:extLst>
          </p:cNvPr>
          <p:cNvSpPr/>
          <p:nvPr/>
        </p:nvSpPr>
        <p:spPr bwMode="gray">
          <a:xfrm>
            <a:off x="419381" y="4536265"/>
            <a:ext cx="1509068" cy="1038242"/>
          </a:xfrm>
          <a:prstGeom prst="rect">
            <a:avLst/>
          </a:prstGeom>
          <a:solidFill>
            <a:schemeClr val="accent1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422" tIns="54422" rIns="54422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DEVELOP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FINAL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RECOMMENDATION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</a:t>
            </a:r>
            <a:endParaRPr lang="en-US" sz="12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Rectangle 97">
            <a:extLst>
              <a:ext uri="{FF2B5EF4-FFF2-40B4-BE49-F238E27FC236}">
                <a16:creationId xmlns:a16="http://schemas.microsoft.com/office/drawing/2014/main" id="{F23F9E98-9A29-42D4-9209-EBCC1117A6B8}"/>
              </a:ext>
            </a:extLst>
          </p:cNvPr>
          <p:cNvSpPr/>
          <p:nvPr/>
        </p:nvSpPr>
        <p:spPr bwMode="gray">
          <a:xfrm>
            <a:off x="2014383" y="1441707"/>
            <a:ext cx="3661390" cy="4132800"/>
          </a:xfrm>
          <a:prstGeom prst="rect">
            <a:avLst/>
          </a:prstGeom>
          <a:solidFill>
            <a:schemeClr val="bg2">
              <a:lumMod val="60000"/>
              <a:lumOff val="40000"/>
              <a:alpha val="50196"/>
            </a:schemeClr>
          </a:solidFill>
          <a:ln w="1270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4257" rIns="0" bIns="742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8686">
              <a:lnSpc>
                <a:spcPct val="90000"/>
              </a:lnSpc>
              <a:defRPr/>
            </a:pPr>
            <a:endParaRPr lang="en-US" sz="1058" kern="0" cap="all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Rectangle 100">
            <a:extLst>
              <a:ext uri="{FF2B5EF4-FFF2-40B4-BE49-F238E27FC236}">
                <a16:creationId xmlns:a16="http://schemas.microsoft.com/office/drawing/2014/main" id="{D204B2EE-FC18-4B0E-B639-76F28EDB7A0D}"/>
              </a:ext>
            </a:extLst>
          </p:cNvPr>
          <p:cNvSpPr/>
          <p:nvPr/>
        </p:nvSpPr>
        <p:spPr bwMode="gray">
          <a:xfrm>
            <a:off x="5820032" y="1441707"/>
            <a:ext cx="3661390" cy="4115480"/>
          </a:xfrm>
          <a:prstGeom prst="rect">
            <a:avLst/>
          </a:prstGeom>
          <a:solidFill>
            <a:srgbClr val="A6A6A6">
              <a:alpha val="50196"/>
            </a:srgbClr>
          </a:solidFill>
          <a:ln w="1270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4257" rIns="0" bIns="742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8686">
              <a:lnSpc>
                <a:spcPct val="90000"/>
              </a:lnSpc>
              <a:defRPr/>
            </a:pPr>
            <a:endParaRPr lang="en-US" sz="1058" kern="0" cap="all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Rectangle 101">
            <a:extLst>
              <a:ext uri="{FF2B5EF4-FFF2-40B4-BE49-F238E27FC236}">
                <a16:creationId xmlns:a16="http://schemas.microsoft.com/office/drawing/2014/main" id="{DBBD22B2-4DF4-4FA1-8D4A-B4326B84E518}"/>
              </a:ext>
            </a:extLst>
          </p:cNvPr>
          <p:cNvSpPr/>
          <p:nvPr/>
        </p:nvSpPr>
        <p:spPr bwMode="gray">
          <a:xfrm>
            <a:off x="9598326" y="1441707"/>
            <a:ext cx="2180276" cy="4115480"/>
          </a:xfrm>
          <a:prstGeom prst="rect">
            <a:avLst/>
          </a:prstGeom>
          <a:solidFill>
            <a:schemeClr val="bg2">
              <a:lumMod val="60000"/>
              <a:lumOff val="40000"/>
              <a:alpha val="50196"/>
            </a:schemeClr>
          </a:solidFill>
          <a:ln w="1270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4257" rIns="0" bIns="742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8686">
              <a:lnSpc>
                <a:spcPct val="90000"/>
              </a:lnSpc>
              <a:defRPr/>
            </a:pPr>
            <a:endParaRPr lang="en-US" sz="1058" kern="0" cap="all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angle 69">
            <a:extLst>
              <a:ext uri="{FF2B5EF4-FFF2-40B4-BE49-F238E27FC236}">
                <a16:creationId xmlns:a16="http://schemas.microsoft.com/office/drawing/2014/main" id="{7FD900FC-1229-45CB-941F-95EDCA79D611}"/>
              </a:ext>
            </a:extLst>
          </p:cNvPr>
          <p:cNvSpPr/>
          <p:nvPr/>
        </p:nvSpPr>
        <p:spPr bwMode="gray">
          <a:xfrm>
            <a:off x="3348539" y="1199093"/>
            <a:ext cx="886829" cy="23835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lIns="33158" tIns="33158" rIns="33158" bIns="33158" rtlCol="0" anchor="ctr"/>
          <a:lstStyle/>
          <a:p>
            <a:pPr algn="ctr" defTabSz="797552">
              <a:defRPr/>
            </a:pPr>
            <a:r>
              <a:rPr lang="en-US" altLang="zh-TW" sz="1200" b="1" i="1" kern="0">
                <a:latin typeface="Calibri" charset="0"/>
                <a:ea typeface="Calibri" charset="0"/>
                <a:cs typeface="Calibri" charset="0"/>
              </a:rPr>
              <a:t>MAR</a:t>
            </a:r>
            <a:endParaRPr lang="en-US" sz="1200" b="1" i="1" kern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Rectangle 69">
            <a:extLst>
              <a:ext uri="{FF2B5EF4-FFF2-40B4-BE49-F238E27FC236}">
                <a16:creationId xmlns:a16="http://schemas.microsoft.com/office/drawing/2014/main" id="{7FD900FC-1229-45CB-941F-95EDCA79D611}"/>
              </a:ext>
            </a:extLst>
          </p:cNvPr>
          <p:cNvSpPr/>
          <p:nvPr/>
        </p:nvSpPr>
        <p:spPr bwMode="gray">
          <a:xfrm>
            <a:off x="7270773" y="1199094"/>
            <a:ext cx="875775" cy="23835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lIns="33158" tIns="33158" rIns="33158" bIns="33158" rtlCol="0" anchor="ctr"/>
          <a:lstStyle/>
          <a:p>
            <a:pPr algn="ctr" defTabSz="797552">
              <a:defRPr/>
            </a:pPr>
            <a:r>
              <a:rPr lang="en-US" altLang="zh-TW" sz="1200" b="1" i="1" kern="0">
                <a:latin typeface="Calibri" charset="0"/>
                <a:ea typeface="Calibri" charset="0"/>
                <a:cs typeface="Calibri" charset="0"/>
              </a:rPr>
              <a:t>APR</a:t>
            </a:r>
            <a:endParaRPr lang="en-US" sz="1200" b="1" i="1" kern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Rectangle 69">
            <a:extLst>
              <a:ext uri="{FF2B5EF4-FFF2-40B4-BE49-F238E27FC236}">
                <a16:creationId xmlns:a16="http://schemas.microsoft.com/office/drawing/2014/main" id="{7FD900FC-1229-45CB-941F-95EDCA79D611}"/>
              </a:ext>
            </a:extLst>
          </p:cNvPr>
          <p:cNvSpPr/>
          <p:nvPr/>
        </p:nvSpPr>
        <p:spPr bwMode="gray">
          <a:xfrm>
            <a:off x="10384231" y="1203884"/>
            <a:ext cx="875775" cy="23835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lIns="33158" tIns="33158" rIns="33158" bIns="33158" rtlCol="0" anchor="ctr"/>
          <a:lstStyle/>
          <a:p>
            <a:pPr algn="ctr" defTabSz="797552">
              <a:defRPr/>
            </a:pPr>
            <a:r>
              <a:rPr lang="en-US" altLang="zh-TW" sz="1200" b="1" i="1" kern="0">
                <a:latin typeface="Calibri" charset="0"/>
                <a:ea typeface="Calibri" charset="0"/>
                <a:cs typeface="Calibri" charset="0"/>
              </a:rPr>
              <a:t>MAY</a:t>
            </a:r>
            <a:endParaRPr lang="en-US" sz="1200" b="1" i="1" kern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Rectangle 144">
            <a:extLst>
              <a:ext uri="{FF2B5EF4-FFF2-40B4-BE49-F238E27FC236}">
                <a16:creationId xmlns:a16="http://schemas.microsoft.com/office/drawing/2014/main" id="{E5DA967F-3D6D-4B44-91FB-6B5851D078DD}"/>
              </a:ext>
            </a:extLst>
          </p:cNvPr>
          <p:cNvSpPr/>
          <p:nvPr/>
        </p:nvSpPr>
        <p:spPr bwMode="gray">
          <a:xfrm>
            <a:off x="419381" y="3748576"/>
            <a:ext cx="1509067" cy="692862"/>
          </a:xfrm>
          <a:prstGeom prst="rect">
            <a:avLst/>
          </a:prstGeom>
          <a:solidFill>
            <a:schemeClr val="accent1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422" tIns="54422" rIns="54422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latin typeface="Calibri" charset="0"/>
                <a:ea typeface="Calibri" charset="0"/>
                <a:cs typeface="Calibri" charset="0"/>
              </a:rPr>
              <a:t>INITIAL</a:t>
            </a:r>
            <a:r>
              <a:rPr lang="zh-TW" altLang="en-US" sz="1200" b="1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latin typeface="Calibri" charset="0"/>
                <a:ea typeface="Calibri" charset="0"/>
                <a:cs typeface="Calibri" charset="0"/>
              </a:rPr>
              <a:t>IDEAS</a:t>
            </a:r>
            <a:r>
              <a:rPr lang="zh-TW" altLang="en-US" sz="1200" b="1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latin typeface="Calibri" charset="0"/>
                <a:ea typeface="Calibri" charset="0"/>
                <a:cs typeface="Calibri" charset="0"/>
              </a:rPr>
              <a:t>-</a:t>
            </a:r>
            <a:r>
              <a:rPr lang="zh-TW" altLang="en-US" sz="1200" b="1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latin typeface="Calibri" charset="0"/>
                <a:ea typeface="Calibri" charset="0"/>
                <a:cs typeface="Calibri" charset="0"/>
              </a:rPr>
              <a:t>VETAS</a:t>
            </a:r>
            <a:endParaRPr lang="en-US" sz="12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Rectangle 144">
            <a:extLst>
              <a:ext uri="{FF2B5EF4-FFF2-40B4-BE49-F238E27FC236}">
                <a16:creationId xmlns:a16="http://schemas.microsoft.com/office/drawing/2014/main" id="{E5DA967F-3D6D-4B44-91FB-6B5851D078DD}"/>
              </a:ext>
            </a:extLst>
          </p:cNvPr>
          <p:cNvSpPr/>
          <p:nvPr/>
        </p:nvSpPr>
        <p:spPr bwMode="gray">
          <a:xfrm>
            <a:off x="419382" y="1441705"/>
            <a:ext cx="1509067" cy="2228345"/>
          </a:xfrm>
          <a:prstGeom prst="rect">
            <a:avLst/>
          </a:prstGeom>
          <a:solidFill>
            <a:schemeClr val="accent1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422" tIns="54422" rIns="54422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UNDERSTAND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CUSTOMER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BAHAVIORS</a:t>
            </a:r>
            <a:endParaRPr lang="en-US" sz="12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文字方塊 43"/>
          <p:cNvSpPr txBox="1"/>
          <p:nvPr/>
        </p:nvSpPr>
        <p:spPr>
          <a:xfrm>
            <a:off x="6625404" y="5810985"/>
            <a:ext cx="1290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>
                <a:latin typeface="Calibri" charset="0"/>
                <a:ea typeface="Calibri" charset="0"/>
                <a:cs typeface="Calibri" charset="0"/>
              </a:rPr>
              <a:t>April</a:t>
            </a:r>
            <a:r>
              <a:rPr lang="zh-TW" altLang="en-US" sz="1000" b="1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000" b="1">
                <a:latin typeface="Calibri" charset="0"/>
                <a:ea typeface="Calibri" charset="0"/>
                <a:cs typeface="Calibri" charset="0"/>
              </a:rPr>
              <a:t>10</a:t>
            </a:r>
            <a:br>
              <a:rPr lang="en-US" altLang="zh-TW" sz="1000" b="1">
                <a:latin typeface="Calibri" charset="0"/>
                <a:ea typeface="Calibri" charset="0"/>
                <a:cs typeface="Calibri" charset="0"/>
              </a:rPr>
            </a:br>
            <a:r>
              <a:rPr lang="en-US" altLang="zh-TW" sz="1000" b="1">
                <a:latin typeface="Calibri" charset="0"/>
                <a:ea typeface="Calibri" charset="0"/>
                <a:cs typeface="Calibri" charset="0"/>
              </a:rPr>
              <a:t>Interim Presentation</a:t>
            </a:r>
            <a:endParaRPr lang="en-US" sz="1000" b="1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22" name="直線接點 44"/>
          <p:cNvCxnSpPr/>
          <p:nvPr/>
        </p:nvCxnSpPr>
        <p:spPr>
          <a:xfrm>
            <a:off x="10827942" y="1442767"/>
            <a:ext cx="0" cy="4227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等腰三角形 45"/>
          <p:cNvSpPr/>
          <p:nvPr/>
        </p:nvSpPr>
        <p:spPr>
          <a:xfrm>
            <a:off x="10618818" y="5569837"/>
            <a:ext cx="418245" cy="2402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文字方塊 46"/>
          <p:cNvSpPr txBox="1"/>
          <p:nvPr/>
        </p:nvSpPr>
        <p:spPr>
          <a:xfrm>
            <a:off x="10251501" y="5810985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MAY 16</a:t>
            </a:r>
            <a:br>
              <a:rPr lang="en-US" altLang="zh-TW" sz="1000" b="1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n-US" altLang="zh-TW" sz="1000" b="1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Final Presentation</a:t>
            </a:r>
            <a:endParaRPr lang="en-US" sz="1000" b="1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5854540" y="3860112"/>
            <a:ext cx="1438996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Generate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initial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recommendations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2034204" y="1601629"/>
            <a:ext cx="1428922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Compose interview guide</a:t>
            </a:r>
          </a:p>
        </p:txBody>
      </p:sp>
      <p:sp>
        <p:nvSpPr>
          <p:cNvPr id="28" name="Arrow: Chevron 129">
            <a:extLst>
              <a:ext uri="{FF2B5EF4-FFF2-40B4-BE49-F238E27FC236}">
                <a16:creationId xmlns:a16="http://schemas.microsoft.com/office/drawing/2014/main" id="{A20DF45A-CF6B-43A9-93CC-FCC7F99AA2C4}"/>
              </a:ext>
            </a:extLst>
          </p:cNvPr>
          <p:cNvSpPr/>
          <p:nvPr/>
        </p:nvSpPr>
        <p:spPr bwMode="gray">
          <a:xfrm>
            <a:off x="3401665" y="1580977"/>
            <a:ext cx="6079757" cy="500564"/>
          </a:xfrm>
          <a:prstGeom prst="chevron">
            <a:avLst>
              <a:gd name="adj" fmla="val 32965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Interviews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(Undergraduates)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29" name="直線接點 40"/>
          <p:cNvCxnSpPr/>
          <p:nvPr/>
        </p:nvCxnSpPr>
        <p:spPr>
          <a:xfrm>
            <a:off x="7270775" y="1441707"/>
            <a:ext cx="0" cy="42273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7301745" y="4516388"/>
            <a:ext cx="2179677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In-depth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research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on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focused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strategies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等腰三角形 41"/>
          <p:cNvSpPr/>
          <p:nvPr/>
        </p:nvSpPr>
        <p:spPr>
          <a:xfrm>
            <a:off x="7061651" y="5569837"/>
            <a:ext cx="418245" cy="24022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3976581" y="2665882"/>
            <a:ext cx="3294194" cy="451703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Surveys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2045352" y="3153339"/>
            <a:ext cx="3630421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Research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insights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7301745" y="3128162"/>
            <a:ext cx="2179678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Research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insights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8500392" y="5055548"/>
            <a:ext cx="2295049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Consolidate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findings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and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final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recommendations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Arrow: Pentagon 148">
            <a:extLst>
              <a:ext uri="{FF2B5EF4-FFF2-40B4-BE49-F238E27FC236}">
                <a16:creationId xmlns:a16="http://schemas.microsoft.com/office/drawing/2014/main" id="{11AC61E1-066A-445A-9807-B68E4B5432BE}"/>
              </a:ext>
            </a:extLst>
          </p:cNvPr>
          <p:cNvSpPr/>
          <p:nvPr/>
        </p:nvSpPr>
        <p:spPr bwMode="gray">
          <a:xfrm>
            <a:off x="3442741" y="2130249"/>
            <a:ext cx="1428922" cy="500564"/>
          </a:xfrm>
          <a:prstGeom prst="homePlate">
            <a:avLst>
              <a:gd name="adj" fmla="val 35000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Compose interview guide</a:t>
            </a:r>
          </a:p>
        </p:txBody>
      </p:sp>
      <p:sp>
        <p:nvSpPr>
          <p:cNvPr id="37" name="Arrow: Chevron 129">
            <a:extLst>
              <a:ext uri="{FF2B5EF4-FFF2-40B4-BE49-F238E27FC236}">
                <a16:creationId xmlns:a16="http://schemas.microsoft.com/office/drawing/2014/main" id="{A20DF45A-CF6B-43A9-93CC-FCC7F99AA2C4}"/>
              </a:ext>
            </a:extLst>
          </p:cNvPr>
          <p:cNvSpPr/>
          <p:nvPr/>
        </p:nvSpPr>
        <p:spPr bwMode="gray">
          <a:xfrm>
            <a:off x="4772011" y="2130249"/>
            <a:ext cx="4709412" cy="500564"/>
          </a:xfrm>
          <a:prstGeom prst="chevron">
            <a:avLst>
              <a:gd name="adj" fmla="val 32965"/>
            </a:avLst>
          </a:prstGeom>
          <a:solidFill>
            <a:srgbClr val="073779"/>
          </a:solidFill>
          <a:ln w="12700" cap="sq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54422" rIns="0" bIns="544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454"/>
              </a:spcAft>
            </a:pP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Interviews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(Young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working</a:t>
            </a:r>
            <a:r>
              <a:rPr lang="zh-TW" altLang="en-US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1200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adults)</a:t>
            </a:r>
            <a:endParaRPr lang="en-US" sz="1200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61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439298-D1DB-4429-8869-FD5FF35915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0898BF-D18A-49A4-AF5A-6C94C258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Risk and mitigation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8B58E-9EF0-4153-AE7D-33296359D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24890-E750-44FD-9152-76B47BAF2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Implementation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0CF541-2058-404B-8FAD-5ACFE8BEB545}"/>
              </a:ext>
            </a:extLst>
          </p:cNvPr>
          <p:cNvGrpSpPr/>
          <p:nvPr/>
        </p:nvGrpSpPr>
        <p:grpSpPr>
          <a:xfrm>
            <a:off x="373645" y="-2029350"/>
            <a:ext cx="11627856" cy="8126660"/>
            <a:chOff x="307422" y="-2762458"/>
            <a:chExt cx="12668479" cy="90587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467162-1DF9-45FC-B647-6840357C744D}"/>
                </a:ext>
              </a:extLst>
            </p:cNvPr>
            <p:cNvGrpSpPr/>
            <p:nvPr/>
          </p:nvGrpSpPr>
          <p:grpSpPr>
            <a:xfrm>
              <a:off x="307422" y="1549667"/>
              <a:ext cx="6548461" cy="4746654"/>
              <a:chOff x="307422" y="1549667"/>
              <a:chExt cx="6548461" cy="474665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080D50-AEEE-4540-9494-781AFC98C055}"/>
                  </a:ext>
                </a:extLst>
              </p:cNvPr>
              <p:cNvSpPr/>
              <p:nvPr/>
            </p:nvSpPr>
            <p:spPr>
              <a:xfrm>
                <a:off x="439155" y="1636295"/>
                <a:ext cx="6327394" cy="45046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>
                  <a:latin typeface="+mj-lt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5A20526-BEB2-43CE-BAC6-2C41A8CC5846}"/>
                  </a:ext>
                </a:extLst>
              </p:cNvPr>
              <p:cNvGrpSpPr/>
              <p:nvPr/>
            </p:nvGrpSpPr>
            <p:grpSpPr>
              <a:xfrm>
                <a:off x="307422" y="1549667"/>
                <a:ext cx="6548461" cy="4746654"/>
                <a:chOff x="307422" y="1549667"/>
                <a:chExt cx="6548461" cy="4746654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864336B-3661-404D-A597-4ACF73FCB7C4}"/>
                    </a:ext>
                  </a:extLst>
                </p:cNvPr>
                <p:cNvGrpSpPr/>
                <p:nvPr/>
              </p:nvGrpSpPr>
              <p:grpSpPr>
                <a:xfrm>
                  <a:off x="307422" y="1549667"/>
                  <a:ext cx="263466" cy="4591251"/>
                  <a:chOff x="307422" y="1549667"/>
                  <a:chExt cx="263466" cy="4591251"/>
                </a:xfrm>
              </p:grpSpPr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2BAF4BD8-C0A7-431A-AB2D-324FDBB581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683" y="1549667"/>
                    <a:ext cx="0" cy="4591251"/>
                  </a:xfrm>
                  <a:prstGeom prst="straightConnector1">
                    <a:avLst/>
                  </a:prstGeom>
                  <a:ln w="28575">
                    <a:solidFill>
                      <a:schemeClr val="bg2">
                        <a:lumMod val="2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95E945A-F4A0-4EA3-AF1C-A4D56958871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-449168" y="3780934"/>
                    <a:ext cx="1776646" cy="26346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HK" sz="1200" b="1">
                        <a:solidFill>
                          <a:schemeClr val="tx1"/>
                        </a:solidFill>
                        <a:latin typeface="+mj-lt"/>
                      </a:rPr>
                      <a:t>Severity of risk</a:t>
                    </a:r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00D6BEE-1381-429E-9698-3C324B49976A}"/>
                    </a:ext>
                  </a:extLst>
                </p:cNvPr>
                <p:cNvGrpSpPr/>
                <p:nvPr/>
              </p:nvGrpSpPr>
              <p:grpSpPr>
                <a:xfrm>
                  <a:off x="429919" y="5985515"/>
                  <a:ext cx="6425964" cy="310806"/>
                  <a:chOff x="429919" y="5985515"/>
                  <a:chExt cx="6425964" cy="310806"/>
                </a:xfrm>
              </p:grpSpPr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FF8E2883-70B5-4D8D-9B31-EE970410B7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9919" y="6140918"/>
                    <a:ext cx="6425964" cy="0"/>
                  </a:xfrm>
                  <a:prstGeom prst="straightConnector1">
                    <a:avLst/>
                  </a:prstGeom>
                  <a:ln w="28575">
                    <a:solidFill>
                      <a:schemeClr val="bg2">
                        <a:lumMod val="2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56CA3167-8654-4B69-8D28-F60F2D5CF9A6}"/>
                      </a:ext>
                    </a:extLst>
                  </p:cNvPr>
                  <p:cNvSpPr/>
                  <p:nvPr/>
                </p:nvSpPr>
                <p:spPr>
                  <a:xfrm>
                    <a:off x="2554918" y="5985515"/>
                    <a:ext cx="2095877" cy="310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HK" sz="1200" b="1">
                        <a:solidFill>
                          <a:schemeClr val="tx1"/>
                        </a:solidFill>
                        <a:latin typeface="+mj-lt"/>
                      </a:rPr>
                      <a:t>Probability of occurrence</a:t>
                    </a:r>
                  </a:p>
                </p:txBody>
              </p:sp>
            </p:grp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BAAB3E-845B-4846-B5E9-947E7D2A207D}"/>
                </a:ext>
              </a:extLst>
            </p:cNvPr>
            <p:cNvGrpSpPr/>
            <p:nvPr/>
          </p:nvGrpSpPr>
          <p:grpSpPr>
            <a:xfrm>
              <a:off x="555901" y="-2762458"/>
              <a:ext cx="12420000" cy="8820000"/>
              <a:chOff x="555901" y="-2762458"/>
              <a:chExt cx="12420000" cy="8820000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66342111-C4BA-4E08-86EF-CB3CB2428757}"/>
                  </a:ext>
                </a:extLst>
              </p:cNvPr>
              <p:cNvSpPr/>
              <p:nvPr/>
            </p:nvSpPr>
            <p:spPr>
              <a:xfrm flipH="1" flipV="1">
                <a:off x="555901" y="-2762458"/>
                <a:ext cx="12420000" cy="8820000"/>
              </a:xfrm>
              <a:prstGeom prst="arc">
                <a:avLst/>
              </a:prstGeom>
              <a:solidFill>
                <a:srgbClr val="5FCEFF">
                  <a:alpha val="3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HK">
                  <a:latin typeface="+mj-lt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AC9F7179-DB6F-4F23-9528-F56E692D2967}"/>
                  </a:ext>
                </a:extLst>
              </p:cNvPr>
              <p:cNvSpPr/>
              <p:nvPr/>
            </p:nvSpPr>
            <p:spPr>
              <a:xfrm flipH="1" flipV="1">
                <a:off x="1545697" y="-2003661"/>
                <a:ext cx="10440000" cy="7308000"/>
              </a:xfrm>
              <a:prstGeom prst="arc">
                <a:avLst/>
              </a:prstGeom>
              <a:solidFill>
                <a:srgbClr val="309CE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HK">
                  <a:latin typeface="+mj-lt"/>
                </a:endParaRP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86A63E2C-DD6F-4314-A6A5-8F5918D2EBEF}"/>
                  </a:ext>
                </a:extLst>
              </p:cNvPr>
              <p:cNvSpPr/>
              <p:nvPr/>
            </p:nvSpPr>
            <p:spPr>
              <a:xfrm flipH="1" flipV="1">
                <a:off x="2767662" y="-1090872"/>
                <a:ext cx="7992000" cy="5472000"/>
              </a:xfrm>
              <a:prstGeom prst="arc">
                <a:avLst/>
              </a:prstGeom>
              <a:solidFill>
                <a:srgbClr val="051C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HK">
                  <a:latin typeface="+mj-lt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2D7A8A-CF42-41CE-947A-EE5FFB089DA1}"/>
                </a:ext>
              </a:extLst>
            </p:cNvPr>
            <p:cNvSpPr/>
            <p:nvPr/>
          </p:nvSpPr>
          <p:spPr>
            <a:xfrm>
              <a:off x="570888" y="1815852"/>
              <a:ext cx="970739" cy="2646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200" b="1">
                  <a:solidFill>
                    <a:schemeClr val="tx1"/>
                  </a:solidFill>
                  <a:latin typeface="+mj-lt"/>
                </a:rPr>
                <a:t>Low threat</a:t>
              </a:r>
              <a:endParaRPr lang="en-HK" sz="16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A49373-48D2-45AA-A5B2-9B47067A7C99}"/>
                </a:ext>
              </a:extLst>
            </p:cNvPr>
            <p:cNvSpPr/>
            <p:nvPr/>
          </p:nvSpPr>
          <p:spPr>
            <a:xfrm>
              <a:off x="1532424" y="1815852"/>
              <a:ext cx="1403658" cy="2646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200" b="1">
                  <a:solidFill>
                    <a:schemeClr val="bg1"/>
                  </a:solidFill>
                  <a:latin typeface="+mj-lt"/>
                </a:rPr>
                <a:t>Medium threat</a:t>
              </a:r>
              <a:endParaRPr lang="en-HK" sz="16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D8A70B-34DA-4366-8FD7-8A38F7ECCF69}"/>
                </a:ext>
              </a:extLst>
            </p:cNvPr>
            <p:cNvSpPr/>
            <p:nvPr/>
          </p:nvSpPr>
          <p:spPr>
            <a:xfrm>
              <a:off x="4370545" y="1815852"/>
              <a:ext cx="1681534" cy="2646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200" b="1">
                  <a:solidFill>
                    <a:schemeClr val="bg1"/>
                  </a:solidFill>
                  <a:latin typeface="+mj-lt"/>
                </a:rPr>
                <a:t>High threat</a:t>
              </a:r>
              <a:endParaRPr lang="en-HK" sz="1600" b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F09CDF-1819-459F-AB8B-45241412DD50}"/>
              </a:ext>
            </a:extLst>
          </p:cNvPr>
          <p:cNvGrpSpPr/>
          <p:nvPr/>
        </p:nvGrpSpPr>
        <p:grpSpPr>
          <a:xfrm>
            <a:off x="4354639" y="2412291"/>
            <a:ext cx="1783463" cy="1036217"/>
            <a:chOff x="4125303" y="2008363"/>
            <a:chExt cx="1728078" cy="100403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B2B726-FB1C-4382-AD37-BA06B0619C0C}"/>
                </a:ext>
              </a:extLst>
            </p:cNvPr>
            <p:cNvSpPr/>
            <p:nvPr/>
          </p:nvSpPr>
          <p:spPr>
            <a:xfrm>
              <a:off x="4247923" y="2130984"/>
              <a:ext cx="1605458" cy="881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400">
                  <a:solidFill>
                    <a:schemeClr val="tx1"/>
                  </a:solidFill>
                  <a:latin typeface="+mj-lt"/>
                </a:rPr>
                <a:t>Slow increase on #trips w/ purchase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ABE3672-41C5-494D-835E-1990F81D76CA}"/>
                </a:ext>
              </a:extLst>
            </p:cNvPr>
            <p:cNvSpPr/>
            <p:nvPr/>
          </p:nvSpPr>
          <p:spPr>
            <a:xfrm>
              <a:off x="4125303" y="2008363"/>
              <a:ext cx="245241" cy="2452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100">
                  <a:solidFill>
                    <a:schemeClr val="tx1"/>
                  </a:solidFill>
                  <a:latin typeface="+mj-lt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5B8F2B-5378-49D7-9F88-3F8C283203CF}"/>
              </a:ext>
            </a:extLst>
          </p:cNvPr>
          <p:cNvGrpSpPr/>
          <p:nvPr/>
        </p:nvGrpSpPr>
        <p:grpSpPr>
          <a:xfrm>
            <a:off x="2489577" y="3479007"/>
            <a:ext cx="1783463" cy="1036217"/>
            <a:chOff x="4125303" y="2008363"/>
            <a:chExt cx="1728078" cy="100403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CB39F2B-D3B7-400F-A81F-FEED7279CBAF}"/>
                </a:ext>
              </a:extLst>
            </p:cNvPr>
            <p:cNvSpPr/>
            <p:nvPr/>
          </p:nvSpPr>
          <p:spPr>
            <a:xfrm>
              <a:off x="4247923" y="2130984"/>
              <a:ext cx="1605458" cy="881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400">
                  <a:solidFill>
                    <a:schemeClr val="tx1"/>
                  </a:solidFill>
                  <a:latin typeface="+mj-lt"/>
                </a:rPr>
                <a:t>Experiences not welcome 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A9149B5-2455-41D2-9EB4-D84D59C4D4B4}"/>
                </a:ext>
              </a:extLst>
            </p:cNvPr>
            <p:cNvSpPr/>
            <p:nvPr/>
          </p:nvSpPr>
          <p:spPr>
            <a:xfrm>
              <a:off x="4125303" y="2008363"/>
              <a:ext cx="245241" cy="2452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100">
                  <a:solidFill>
                    <a:schemeClr val="tx1"/>
                  </a:solidFill>
                  <a:latin typeface="+mj-lt"/>
                </a:rPr>
                <a:t>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0A855A8-2C6C-4C4F-B37B-03393D75A7F4}"/>
              </a:ext>
            </a:extLst>
          </p:cNvPr>
          <p:cNvGrpSpPr/>
          <p:nvPr/>
        </p:nvGrpSpPr>
        <p:grpSpPr>
          <a:xfrm>
            <a:off x="976470" y="4626919"/>
            <a:ext cx="1783463" cy="1036217"/>
            <a:chOff x="4125303" y="2008363"/>
            <a:chExt cx="1728078" cy="100403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F244D8-E644-4D24-9C31-CBDBBB099D64}"/>
                </a:ext>
              </a:extLst>
            </p:cNvPr>
            <p:cNvSpPr/>
            <p:nvPr/>
          </p:nvSpPr>
          <p:spPr>
            <a:xfrm>
              <a:off x="4247923" y="2130984"/>
              <a:ext cx="1605458" cy="881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400">
                  <a:solidFill>
                    <a:schemeClr val="tx1"/>
                  </a:solidFill>
                  <a:latin typeface="+mj-lt"/>
                </a:rPr>
                <a:t>Declining visits to physical storefronts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116379F-8F73-4D90-8F82-E47C1B181350}"/>
                </a:ext>
              </a:extLst>
            </p:cNvPr>
            <p:cNvSpPr/>
            <p:nvPr/>
          </p:nvSpPr>
          <p:spPr>
            <a:xfrm>
              <a:off x="4125303" y="2008363"/>
              <a:ext cx="245241" cy="24524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100">
                  <a:solidFill>
                    <a:schemeClr val="tx1"/>
                  </a:solidFill>
                  <a:latin typeface="+mj-lt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0ED323F-5BFE-4E66-BA96-61765E62E7D7}"/>
              </a:ext>
            </a:extLst>
          </p:cNvPr>
          <p:cNvGrpSpPr/>
          <p:nvPr/>
        </p:nvGrpSpPr>
        <p:grpSpPr>
          <a:xfrm>
            <a:off x="6512697" y="1797401"/>
            <a:ext cx="5379265" cy="1142866"/>
            <a:chOff x="3513024" y="2159201"/>
            <a:chExt cx="5379265" cy="1142866"/>
          </a:xfrm>
          <a:solidFill>
            <a:srgbClr val="404040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10C5CAC-0F80-41B5-A146-B7E4F720D8EC}"/>
                </a:ext>
              </a:extLst>
            </p:cNvPr>
            <p:cNvSpPr/>
            <p:nvPr/>
          </p:nvSpPr>
          <p:spPr>
            <a:xfrm>
              <a:off x="3678054" y="2276419"/>
              <a:ext cx="5214235" cy="1025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b="1">
                  <a:solidFill>
                    <a:schemeClr val="tx1"/>
                  </a:solidFill>
                  <a:latin typeface="+mj-lt"/>
                </a:rPr>
                <a:t>   Plan 1</a:t>
              </a:r>
            </a:p>
            <a:p>
              <a:endParaRPr lang="en-HK" sz="500">
                <a:solidFill>
                  <a:schemeClr val="tx1"/>
                </a:solidFill>
                <a:latin typeface="+mj-lt"/>
              </a:endParaRPr>
            </a:p>
            <a:p>
              <a:r>
                <a:rPr lang="en-HK" sz="1600">
                  <a:solidFill>
                    <a:schemeClr val="tx1"/>
                  </a:solidFill>
                  <a:latin typeface="+mj-lt"/>
                </a:rPr>
                <a:t>This is the detail of plan 1.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8FCA829-7074-4987-A5CD-C9C4F754EAE3}"/>
                </a:ext>
              </a:extLst>
            </p:cNvPr>
            <p:cNvSpPr/>
            <p:nvPr/>
          </p:nvSpPr>
          <p:spPr>
            <a:xfrm>
              <a:off x="3513024" y="2159201"/>
              <a:ext cx="324000" cy="324000"/>
            </a:xfrm>
            <a:prstGeom prst="ellips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1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5D489D1-3215-4A28-AFBC-DF4AB18C67C5}"/>
              </a:ext>
            </a:extLst>
          </p:cNvPr>
          <p:cNvGrpSpPr/>
          <p:nvPr/>
        </p:nvGrpSpPr>
        <p:grpSpPr>
          <a:xfrm>
            <a:off x="6512697" y="4818034"/>
            <a:ext cx="5379265" cy="1142866"/>
            <a:chOff x="3513024" y="2159201"/>
            <a:chExt cx="5379265" cy="1142866"/>
          </a:xfrm>
          <a:solidFill>
            <a:srgbClr val="404040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B3FBE12-2156-4518-BD3A-0DAFA04BD1F6}"/>
                </a:ext>
              </a:extLst>
            </p:cNvPr>
            <p:cNvSpPr/>
            <p:nvPr/>
          </p:nvSpPr>
          <p:spPr>
            <a:xfrm>
              <a:off x="3678055" y="2276419"/>
              <a:ext cx="5214234" cy="1025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b="1">
                  <a:solidFill>
                    <a:schemeClr val="tx1"/>
                  </a:solidFill>
                  <a:latin typeface="+mj-lt"/>
                </a:rPr>
                <a:t>   Plan 3</a:t>
              </a:r>
            </a:p>
            <a:p>
              <a:endParaRPr lang="en-HK" sz="500">
                <a:solidFill>
                  <a:schemeClr val="tx1"/>
                </a:solidFill>
                <a:latin typeface="+mj-lt"/>
              </a:endParaRPr>
            </a:p>
            <a:p>
              <a:r>
                <a:rPr lang="en-HK" sz="1600">
                  <a:solidFill>
                    <a:schemeClr val="tx1"/>
                  </a:solidFill>
                  <a:latin typeface="+mj-lt"/>
                </a:rPr>
                <a:t>This is the detail of plan 3.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F7952D9-C44B-4603-9660-238A237CAE9B}"/>
                </a:ext>
              </a:extLst>
            </p:cNvPr>
            <p:cNvSpPr/>
            <p:nvPr/>
          </p:nvSpPr>
          <p:spPr>
            <a:xfrm>
              <a:off x="3513024" y="2159201"/>
              <a:ext cx="324000" cy="324000"/>
            </a:xfrm>
            <a:prstGeom prst="ellips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0E4415-A667-444A-A7EA-686A19045F6E}"/>
              </a:ext>
            </a:extLst>
          </p:cNvPr>
          <p:cNvGrpSpPr/>
          <p:nvPr/>
        </p:nvGrpSpPr>
        <p:grpSpPr>
          <a:xfrm>
            <a:off x="6512697" y="3359770"/>
            <a:ext cx="5379265" cy="1142866"/>
            <a:chOff x="3513024" y="2159201"/>
            <a:chExt cx="5379265" cy="1142866"/>
          </a:xfrm>
          <a:solidFill>
            <a:srgbClr val="404040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48C5F96-DA72-4DC3-8F1B-1B9CC3FDEF7F}"/>
                </a:ext>
              </a:extLst>
            </p:cNvPr>
            <p:cNvSpPr/>
            <p:nvPr/>
          </p:nvSpPr>
          <p:spPr>
            <a:xfrm>
              <a:off x="3678055" y="2276419"/>
              <a:ext cx="5214234" cy="1025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b="1">
                  <a:solidFill>
                    <a:schemeClr val="tx1"/>
                  </a:solidFill>
                  <a:latin typeface="+mj-lt"/>
                </a:rPr>
                <a:t>   Plan 2</a:t>
              </a:r>
            </a:p>
            <a:p>
              <a:endParaRPr lang="en-HK" sz="500">
                <a:solidFill>
                  <a:schemeClr val="tx1"/>
                </a:solidFill>
                <a:latin typeface="+mj-lt"/>
              </a:endParaRPr>
            </a:p>
            <a:p>
              <a:r>
                <a:rPr lang="en-HK" sz="1600">
                  <a:solidFill>
                    <a:schemeClr val="tx1"/>
                  </a:solidFill>
                  <a:latin typeface="+mj-lt"/>
                </a:rPr>
                <a:t>This is the detail of plan 2.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D5017E2-19BC-449E-A911-8F7D7005B2DC}"/>
                </a:ext>
              </a:extLst>
            </p:cNvPr>
            <p:cNvSpPr/>
            <p:nvPr/>
          </p:nvSpPr>
          <p:spPr>
            <a:xfrm>
              <a:off x="3513024" y="2159201"/>
              <a:ext cx="324000" cy="324000"/>
            </a:xfrm>
            <a:prstGeom prst="ellips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b="1">
                  <a:latin typeface="+mj-lt"/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7D75BC-1A94-4FDB-A32B-1A2F1004B94C}"/>
              </a:ext>
            </a:extLst>
          </p:cNvPr>
          <p:cNvGrpSpPr/>
          <p:nvPr/>
        </p:nvGrpSpPr>
        <p:grpSpPr>
          <a:xfrm>
            <a:off x="367765" y="1303980"/>
            <a:ext cx="6016433" cy="696404"/>
            <a:chOff x="558265" y="1303980"/>
            <a:chExt cx="5436135" cy="69640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18202C1-F93C-49AC-91F1-FE957A72DBA3}"/>
                </a:ext>
              </a:extLst>
            </p:cNvPr>
            <p:cNvGrpSpPr/>
            <p:nvPr/>
          </p:nvGrpSpPr>
          <p:grpSpPr>
            <a:xfrm>
              <a:off x="558265" y="1303980"/>
              <a:ext cx="5436135" cy="334175"/>
              <a:chOff x="292101" y="1443680"/>
              <a:chExt cx="5702300" cy="334175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E3DFD8-81F7-4D9A-9CF0-EAC2E139ED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101" y="1777855"/>
                <a:ext cx="5702300" cy="0"/>
              </a:xfrm>
              <a:prstGeom prst="line">
                <a:avLst/>
              </a:prstGeom>
              <a:ln w="28575">
                <a:solidFill>
                  <a:srgbClr val="71717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72DFB95-6846-4522-ADB1-66C6CFE790FC}"/>
                  </a:ext>
                </a:extLst>
              </p:cNvPr>
              <p:cNvSpPr/>
              <p:nvPr/>
            </p:nvSpPr>
            <p:spPr>
              <a:xfrm>
                <a:off x="292101" y="1443680"/>
                <a:ext cx="5702300" cy="3341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HK" altLang="zh-TW" sz="2000" b="1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Risk ranking</a:t>
                </a:r>
                <a:endParaRPr lang="en-HK" sz="200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07B19C-428E-45C1-886C-DE5614E85B8A}"/>
                </a:ext>
              </a:extLst>
            </p:cNvPr>
            <p:cNvSpPr/>
            <p:nvPr/>
          </p:nvSpPr>
          <p:spPr>
            <a:xfrm>
              <a:off x="558265" y="1636553"/>
              <a:ext cx="5436135" cy="363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TW" sz="1600" i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4966AD-7437-4A25-A280-F2E71CF3393C}"/>
              </a:ext>
            </a:extLst>
          </p:cNvPr>
          <p:cNvGrpSpPr/>
          <p:nvPr/>
        </p:nvGrpSpPr>
        <p:grpSpPr>
          <a:xfrm>
            <a:off x="6618145" y="1302398"/>
            <a:ext cx="5273817" cy="696404"/>
            <a:chOff x="558265" y="1303980"/>
            <a:chExt cx="5436135" cy="69640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89C5612-6D8C-4E5B-8891-EFFF7002C323}"/>
                </a:ext>
              </a:extLst>
            </p:cNvPr>
            <p:cNvGrpSpPr/>
            <p:nvPr/>
          </p:nvGrpSpPr>
          <p:grpSpPr>
            <a:xfrm>
              <a:off x="558265" y="1303980"/>
              <a:ext cx="5436135" cy="334175"/>
              <a:chOff x="292101" y="1443680"/>
              <a:chExt cx="5702300" cy="334175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6F695AC-40D4-497B-8CCC-9735A9E4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101" y="1777855"/>
                <a:ext cx="5702300" cy="0"/>
              </a:xfrm>
              <a:prstGeom prst="line">
                <a:avLst/>
              </a:prstGeom>
              <a:ln w="28575">
                <a:solidFill>
                  <a:srgbClr val="71717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E0CB2EA-2B38-490E-A885-EAD794C1002D}"/>
                  </a:ext>
                </a:extLst>
              </p:cNvPr>
              <p:cNvSpPr/>
              <p:nvPr/>
            </p:nvSpPr>
            <p:spPr>
              <a:xfrm>
                <a:off x="292101" y="1443680"/>
                <a:ext cx="5702300" cy="3341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HK" altLang="zh-TW" sz="2000" b="1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Mitigation</a:t>
                </a:r>
                <a:endParaRPr lang="en-HK" sz="200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ED0DBE7-A99E-47EB-98FD-48A44C4E5316}"/>
                </a:ext>
              </a:extLst>
            </p:cNvPr>
            <p:cNvSpPr/>
            <p:nvPr/>
          </p:nvSpPr>
          <p:spPr>
            <a:xfrm>
              <a:off x="558265" y="1636553"/>
              <a:ext cx="5436135" cy="363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TW" sz="1600" i="1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897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1EFFF-28A6-49C9-9E64-CBC42A76EE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738289-76CD-4F77-ACFF-EAA345C2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Our recommendations foster a positive feedback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6CD98-F68A-4E62-A191-45FB487F4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8A1AE-2713-48FF-8959-E394BDD80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Impact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829898-9829-4044-A816-6AAAB1F36A1A}"/>
              </a:ext>
            </a:extLst>
          </p:cNvPr>
          <p:cNvGrpSpPr/>
          <p:nvPr/>
        </p:nvGrpSpPr>
        <p:grpSpPr>
          <a:xfrm>
            <a:off x="419380" y="1190273"/>
            <a:ext cx="11472583" cy="376041"/>
            <a:chOff x="533400" y="1316950"/>
            <a:chExt cx="4997520" cy="37604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02ED219-72ED-4879-B4F0-FB3F93B43897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F801BD-F781-4FA0-BE23-556385EED3A6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Virtual cycle</a:t>
              </a:r>
            </a:p>
          </p:txBody>
        </p:sp>
      </p:grpSp>
      <p:sp>
        <p:nvSpPr>
          <p:cNvPr id="9" name="Freeform 6">
            <a:extLst>
              <a:ext uri="{FF2B5EF4-FFF2-40B4-BE49-F238E27FC236}">
                <a16:creationId xmlns:a16="http://schemas.microsoft.com/office/drawing/2014/main" id="{920F033C-9929-4400-A633-2CFA6A4983B1}"/>
              </a:ext>
            </a:extLst>
          </p:cNvPr>
          <p:cNvSpPr>
            <a:spLocks/>
          </p:cNvSpPr>
          <p:nvPr/>
        </p:nvSpPr>
        <p:spPr bwMode="auto">
          <a:xfrm>
            <a:off x="6563708" y="2021022"/>
            <a:ext cx="1695848" cy="2115003"/>
          </a:xfrm>
          <a:custGeom>
            <a:avLst/>
            <a:gdLst/>
            <a:ahLst/>
            <a:cxnLst>
              <a:cxn ang="0">
                <a:pos x="372" y="363"/>
              </a:cxn>
              <a:cxn ang="0">
                <a:pos x="372" y="363"/>
              </a:cxn>
              <a:cxn ang="0">
                <a:pos x="254" y="464"/>
              </a:cxn>
              <a:cxn ang="0">
                <a:pos x="139" y="363"/>
              </a:cxn>
              <a:cxn ang="0">
                <a:pos x="189" y="363"/>
              </a:cxn>
              <a:cxn ang="0">
                <a:pos x="116" y="196"/>
              </a:cxn>
              <a:cxn ang="0">
                <a:pos x="0" y="130"/>
              </a:cxn>
              <a:cxn ang="0">
                <a:pos x="53" y="65"/>
              </a:cxn>
              <a:cxn ang="0">
                <a:pos x="10" y="0"/>
              </a:cxn>
              <a:cxn ang="0">
                <a:pos x="207" y="105"/>
              </a:cxn>
              <a:cxn ang="0">
                <a:pos x="318" y="363"/>
              </a:cxn>
              <a:cxn ang="0">
                <a:pos x="372" y="363"/>
              </a:cxn>
            </a:cxnLst>
            <a:rect l="0" t="0" r="r" b="b"/>
            <a:pathLst>
              <a:path w="372" h="464">
                <a:moveTo>
                  <a:pt x="372" y="363"/>
                </a:moveTo>
                <a:cubicBezTo>
                  <a:pt x="372" y="363"/>
                  <a:pt x="372" y="363"/>
                  <a:pt x="372" y="363"/>
                </a:cubicBezTo>
                <a:cubicBezTo>
                  <a:pt x="254" y="464"/>
                  <a:pt x="254" y="464"/>
                  <a:pt x="254" y="464"/>
                </a:cubicBezTo>
                <a:cubicBezTo>
                  <a:pt x="139" y="363"/>
                  <a:pt x="139" y="363"/>
                  <a:pt x="139" y="363"/>
                </a:cubicBezTo>
                <a:cubicBezTo>
                  <a:pt x="189" y="363"/>
                  <a:pt x="189" y="363"/>
                  <a:pt x="189" y="363"/>
                </a:cubicBezTo>
                <a:cubicBezTo>
                  <a:pt x="187" y="298"/>
                  <a:pt x="162" y="243"/>
                  <a:pt x="116" y="196"/>
                </a:cubicBezTo>
                <a:cubicBezTo>
                  <a:pt x="82" y="162"/>
                  <a:pt x="43" y="140"/>
                  <a:pt x="0" y="130"/>
                </a:cubicBezTo>
                <a:cubicBezTo>
                  <a:pt x="53" y="65"/>
                  <a:pt x="53" y="65"/>
                  <a:pt x="53" y="65"/>
                </a:cubicBezTo>
                <a:cubicBezTo>
                  <a:pt x="10" y="0"/>
                  <a:pt x="10" y="0"/>
                  <a:pt x="10" y="0"/>
                </a:cubicBezTo>
                <a:cubicBezTo>
                  <a:pt x="85" y="13"/>
                  <a:pt x="151" y="48"/>
                  <a:pt x="207" y="105"/>
                </a:cubicBezTo>
                <a:cubicBezTo>
                  <a:pt x="279" y="176"/>
                  <a:pt x="316" y="262"/>
                  <a:pt x="318" y="363"/>
                </a:cubicBezTo>
                <a:lnTo>
                  <a:pt x="372" y="363"/>
                </a:lnTo>
                <a:close/>
              </a:path>
            </a:pathLst>
          </a:custGeom>
          <a:solidFill>
            <a:srgbClr val="073779"/>
          </a:solidFill>
          <a:ln w="9525">
            <a:solidFill>
              <a:srgbClr val="051C2C"/>
            </a:solidFill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+mj-lt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597EEF3D-7BB0-42B4-9EAB-5AAC26881740}"/>
              </a:ext>
            </a:extLst>
          </p:cNvPr>
          <p:cNvSpPr>
            <a:spLocks/>
          </p:cNvSpPr>
          <p:nvPr/>
        </p:nvSpPr>
        <p:spPr bwMode="auto">
          <a:xfrm>
            <a:off x="5871525" y="3989897"/>
            <a:ext cx="2113081" cy="1676621"/>
          </a:xfrm>
          <a:custGeom>
            <a:avLst/>
            <a:gdLst/>
            <a:ahLst/>
            <a:cxnLst>
              <a:cxn ang="0">
                <a:pos x="397" y="59"/>
              </a:cxn>
              <a:cxn ang="0">
                <a:pos x="464" y="11"/>
              </a:cxn>
              <a:cxn ang="0">
                <a:pos x="359" y="207"/>
              </a:cxn>
              <a:cxn ang="0">
                <a:pos x="95" y="318"/>
              </a:cxn>
              <a:cxn ang="0">
                <a:pos x="95" y="368"/>
              </a:cxn>
              <a:cxn ang="0">
                <a:pos x="0" y="254"/>
              </a:cxn>
              <a:cxn ang="0">
                <a:pos x="0" y="254"/>
              </a:cxn>
              <a:cxn ang="0">
                <a:pos x="91" y="139"/>
              </a:cxn>
              <a:cxn ang="0">
                <a:pos x="92" y="139"/>
              </a:cxn>
              <a:cxn ang="0">
                <a:pos x="95" y="139"/>
              </a:cxn>
              <a:cxn ang="0">
                <a:pos x="95" y="189"/>
              </a:cxn>
              <a:cxn ang="0">
                <a:pos x="268" y="116"/>
              </a:cxn>
              <a:cxn ang="0">
                <a:pos x="334" y="0"/>
              </a:cxn>
              <a:cxn ang="0">
                <a:pos x="397" y="59"/>
              </a:cxn>
            </a:cxnLst>
            <a:rect l="0" t="0" r="r" b="b"/>
            <a:pathLst>
              <a:path w="464" h="368">
                <a:moveTo>
                  <a:pt x="397" y="59"/>
                </a:moveTo>
                <a:cubicBezTo>
                  <a:pt x="464" y="11"/>
                  <a:pt x="464" y="11"/>
                  <a:pt x="464" y="11"/>
                </a:cubicBezTo>
                <a:cubicBezTo>
                  <a:pt x="451" y="85"/>
                  <a:pt x="416" y="151"/>
                  <a:pt x="359" y="207"/>
                </a:cubicBezTo>
                <a:cubicBezTo>
                  <a:pt x="286" y="280"/>
                  <a:pt x="198" y="317"/>
                  <a:pt x="95" y="318"/>
                </a:cubicBezTo>
                <a:cubicBezTo>
                  <a:pt x="95" y="368"/>
                  <a:pt x="95" y="368"/>
                  <a:pt x="95" y="368"/>
                </a:cubicBezTo>
                <a:cubicBezTo>
                  <a:pt x="0" y="254"/>
                  <a:pt x="0" y="254"/>
                  <a:pt x="0" y="254"/>
                </a:cubicBezTo>
                <a:cubicBezTo>
                  <a:pt x="0" y="254"/>
                  <a:pt x="0" y="254"/>
                  <a:pt x="0" y="254"/>
                </a:cubicBezTo>
                <a:cubicBezTo>
                  <a:pt x="91" y="139"/>
                  <a:pt x="91" y="139"/>
                  <a:pt x="91" y="139"/>
                </a:cubicBezTo>
                <a:cubicBezTo>
                  <a:pt x="91" y="139"/>
                  <a:pt x="92" y="139"/>
                  <a:pt x="92" y="139"/>
                </a:cubicBezTo>
                <a:cubicBezTo>
                  <a:pt x="93" y="139"/>
                  <a:pt x="94" y="139"/>
                  <a:pt x="95" y="139"/>
                </a:cubicBezTo>
                <a:cubicBezTo>
                  <a:pt x="95" y="189"/>
                  <a:pt x="95" y="189"/>
                  <a:pt x="95" y="189"/>
                </a:cubicBezTo>
                <a:cubicBezTo>
                  <a:pt x="163" y="188"/>
                  <a:pt x="220" y="164"/>
                  <a:pt x="268" y="116"/>
                </a:cubicBezTo>
                <a:cubicBezTo>
                  <a:pt x="302" y="82"/>
                  <a:pt x="324" y="44"/>
                  <a:pt x="334" y="0"/>
                </a:cubicBezTo>
                <a:lnTo>
                  <a:pt x="397" y="59"/>
                </a:lnTo>
                <a:close/>
              </a:path>
            </a:pathLst>
          </a:custGeom>
          <a:solidFill>
            <a:srgbClr val="073779"/>
          </a:solidFill>
          <a:ln w="9525">
            <a:solidFill>
              <a:srgbClr val="051C2C"/>
            </a:solidFill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+mj-lt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262BFCD-BBC2-4480-8D67-DDB8BEF61BE6}"/>
              </a:ext>
            </a:extLst>
          </p:cNvPr>
          <p:cNvSpPr>
            <a:spLocks/>
          </p:cNvSpPr>
          <p:nvPr/>
        </p:nvSpPr>
        <p:spPr bwMode="auto">
          <a:xfrm>
            <a:off x="4325649" y="3297714"/>
            <a:ext cx="1668930" cy="2115003"/>
          </a:xfrm>
          <a:custGeom>
            <a:avLst/>
            <a:gdLst/>
            <a:ahLst/>
            <a:cxnLst>
              <a:cxn ang="0">
                <a:pos x="314" y="398"/>
              </a:cxn>
              <a:cxn ang="0">
                <a:pos x="314" y="398"/>
              </a:cxn>
              <a:cxn ang="0">
                <a:pos x="360" y="464"/>
              </a:cxn>
              <a:cxn ang="0">
                <a:pos x="164" y="359"/>
              </a:cxn>
              <a:cxn ang="0">
                <a:pos x="53" y="102"/>
              </a:cxn>
              <a:cxn ang="0">
                <a:pos x="0" y="102"/>
              </a:cxn>
              <a:cxn ang="0">
                <a:pos x="0" y="97"/>
              </a:cxn>
              <a:cxn ang="0">
                <a:pos x="117" y="0"/>
              </a:cxn>
              <a:cxn ang="0">
                <a:pos x="233" y="102"/>
              </a:cxn>
              <a:cxn ang="0">
                <a:pos x="183" y="102"/>
              </a:cxn>
              <a:cxn ang="0">
                <a:pos x="255" y="268"/>
              </a:cxn>
              <a:cxn ang="0">
                <a:pos x="366" y="333"/>
              </a:cxn>
              <a:cxn ang="0">
                <a:pos x="314" y="398"/>
              </a:cxn>
            </a:cxnLst>
            <a:rect l="0" t="0" r="r" b="b"/>
            <a:pathLst>
              <a:path w="366" h="464">
                <a:moveTo>
                  <a:pt x="314" y="398"/>
                </a:moveTo>
                <a:cubicBezTo>
                  <a:pt x="314" y="398"/>
                  <a:pt x="314" y="398"/>
                  <a:pt x="314" y="398"/>
                </a:cubicBezTo>
                <a:cubicBezTo>
                  <a:pt x="360" y="464"/>
                  <a:pt x="360" y="464"/>
                  <a:pt x="360" y="464"/>
                </a:cubicBezTo>
                <a:cubicBezTo>
                  <a:pt x="286" y="451"/>
                  <a:pt x="220" y="416"/>
                  <a:pt x="164" y="359"/>
                </a:cubicBezTo>
                <a:cubicBezTo>
                  <a:pt x="92" y="288"/>
                  <a:pt x="55" y="202"/>
                  <a:pt x="53" y="102"/>
                </a:cubicBezTo>
                <a:cubicBezTo>
                  <a:pt x="0" y="102"/>
                  <a:pt x="0" y="102"/>
                  <a:pt x="0" y="102"/>
                </a:cubicBezTo>
                <a:cubicBezTo>
                  <a:pt x="0" y="100"/>
                  <a:pt x="0" y="99"/>
                  <a:pt x="0" y="97"/>
                </a:cubicBezTo>
                <a:cubicBezTo>
                  <a:pt x="117" y="0"/>
                  <a:pt x="117" y="0"/>
                  <a:pt x="117" y="0"/>
                </a:cubicBezTo>
                <a:cubicBezTo>
                  <a:pt x="233" y="102"/>
                  <a:pt x="233" y="102"/>
                  <a:pt x="233" y="102"/>
                </a:cubicBezTo>
                <a:cubicBezTo>
                  <a:pt x="183" y="102"/>
                  <a:pt x="183" y="102"/>
                  <a:pt x="183" y="102"/>
                </a:cubicBezTo>
                <a:cubicBezTo>
                  <a:pt x="185" y="166"/>
                  <a:pt x="209" y="222"/>
                  <a:pt x="255" y="268"/>
                </a:cubicBezTo>
                <a:cubicBezTo>
                  <a:pt x="288" y="300"/>
                  <a:pt x="325" y="322"/>
                  <a:pt x="366" y="333"/>
                </a:cubicBezTo>
                <a:lnTo>
                  <a:pt x="314" y="398"/>
                </a:lnTo>
                <a:close/>
              </a:path>
            </a:pathLst>
          </a:custGeom>
          <a:solidFill>
            <a:srgbClr val="1782BF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2B4FB4-C8A6-4152-995B-6B66070C858F}"/>
              </a:ext>
            </a:extLst>
          </p:cNvPr>
          <p:cNvGrpSpPr/>
          <p:nvPr/>
        </p:nvGrpSpPr>
        <p:grpSpPr>
          <a:xfrm>
            <a:off x="4322705" y="1811867"/>
            <a:ext cx="2388349" cy="1644722"/>
            <a:chOff x="4322705" y="1811867"/>
            <a:chExt cx="2388349" cy="1644722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BD433927-5A98-4EE8-B0AE-A23DBF88885E}"/>
                </a:ext>
              </a:extLst>
            </p:cNvPr>
            <p:cNvSpPr/>
            <p:nvPr/>
          </p:nvSpPr>
          <p:spPr>
            <a:xfrm>
              <a:off x="5517410" y="1873743"/>
              <a:ext cx="1193644" cy="893564"/>
            </a:xfrm>
            <a:prstGeom prst="rightArrow">
              <a:avLst/>
            </a:prstGeom>
            <a:solidFill>
              <a:srgbClr val="A1A3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>
                <a:latin typeface="+mj-lt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983FF5-B495-48A8-9D03-9A55E0A82E08}"/>
                </a:ext>
              </a:extLst>
            </p:cNvPr>
            <p:cNvGrpSpPr/>
            <p:nvPr/>
          </p:nvGrpSpPr>
          <p:grpSpPr>
            <a:xfrm rot="16200000">
              <a:off x="4039133" y="2095439"/>
              <a:ext cx="1644722" cy="1077577"/>
              <a:chOff x="1791858" y="2370562"/>
              <a:chExt cx="1644722" cy="1077577"/>
            </a:xfrm>
            <a:solidFill>
              <a:srgbClr val="E87E2E"/>
            </a:solidFill>
          </p:grpSpPr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31A6542D-B5FF-4638-9571-4FF3F5CC77EF}"/>
                  </a:ext>
                </a:extLst>
              </p:cNvPr>
              <p:cNvSpPr/>
              <p:nvPr/>
            </p:nvSpPr>
            <p:spPr>
              <a:xfrm>
                <a:off x="1791858" y="2640014"/>
                <a:ext cx="610603" cy="536400"/>
              </a:xfrm>
              <a:prstGeom prst="chevron">
                <a:avLst>
                  <a:gd name="adj" fmla="val 4583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48E1803C-637C-4506-BC1C-E82A012018E7}"/>
                  </a:ext>
                </a:extLst>
              </p:cNvPr>
              <p:cNvSpPr/>
              <p:nvPr/>
            </p:nvSpPr>
            <p:spPr>
              <a:xfrm>
                <a:off x="2142065" y="2370562"/>
                <a:ext cx="1294515" cy="1077577"/>
              </a:xfrm>
              <a:prstGeom prst="rightArrow">
                <a:avLst>
                  <a:gd name="adj1" fmla="val 50000"/>
                  <a:gd name="adj2" fmla="val 642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HK">
                  <a:latin typeface="+mj-lt"/>
                </a:endParaRPr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C9B37BE-B7FB-40EF-98DE-37F237EF50DF}"/>
              </a:ext>
            </a:extLst>
          </p:cNvPr>
          <p:cNvSpPr/>
          <p:nvPr/>
        </p:nvSpPr>
        <p:spPr>
          <a:xfrm>
            <a:off x="5329249" y="3130951"/>
            <a:ext cx="1830847" cy="1117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tx1"/>
                </a:solidFill>
                <a:latin typeface="+mj-lt"/>
              </a:rPr>
              <a:t>Future outlook of our strategy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5A91C-F149-4520-AEF2-F12956F65EF5}"/>
              </a:ext>
            </a:extLst>
          </p:cNvPr>
          <p:cNvSpPr/>
          <p:nvPr/>
        </p:nvSpPr>
        <p:spPr>
          <a:xfrm>
            <a:off x="621158" y="4498007"/>
            <a:ext cx="3582977" cy="1181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600" b="1" u="sng">
                <a:solidFill>
                  <a:schemeClr val="tx1"/>
                </a:solidFill>
                <a:latin typeface="+mj-lt"/>
              </a:rPr>
              <a:t>Systematically onboarding of suppliers</a:t>
            </a:r>
          </a:p>
          <a:p>
            <a:r>
              <a:rPr lang="en-HK" sz="1600" i="1">
                <a:solidFill>
                  <a:schemeClr val="tx1"/>
                </a:solidFill>
                <a:latin typeface="+mj-lt"/>
              </a:rPr>
              <a:t>Descriptions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872E29-F354-475A-B822-4365C5CD9F17}"/>
              </a:ext>
            </a:extLst>
          </p:cNvPr>
          <p:cNvGrpSpPr/>
          <p:nvPr/>
        </p:nvGrpSpPr>
        <p:grpSpPr>
          <a:xfrm rot="16200000">
            <a:off x="7591938" y="1946019"/>
            <a:ext cx="330827" cy="1195805"/>
            <a:chOff x="11260756" y="4161738"/>
            <a:chExt cx="330827" cy="119580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DA988C-9D9C-484E-A784-573FACD111CF}"/>
                </a:ext>
              </a:extLst>
            </p:cNvPr>
            <p:cNvCxnSpPr>
              <a:cxnSpLocks/>
            </p:cNvCxnSpPr>
            <p:nvPr/>
          </p:nvCxnSpPr>
          <p:spPr>
            <a:xfrm>
              <a:off x="11260756" y="4161738"/>
              <a:ext cx="330827" cy="758599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439B63-8727-4236-9E55-646BB0D27FB8}"/>
                </a:ext>
              </a:extLst>
            </p:cNvPr>
            <p:cNvCxnSpPr>
              <a:cxnSpLocks/>
            </p:cNvCxnSpPr>
            <p:nvPr/>
          </p:nvCxnSpPr>
          <p:spPr>
            <a:xfrm>
              <a:off x="11591583" y="4918676"/>
              <a:ext cx="0" cy="438867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F5690-13B0-4F89-8798-40241A9334F4}"/>
              </a:ext>
            </a:extLst>
          </p:cNvPr>
          <p:cNvSpPr/>
          <p:nvPr/>
        </p:nvSpPr>
        <p:spPr>
          <a:xfrm>
            <a:off x="8353822" y="2101882"/>
            <a:ext cx="3330177" cy="589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600" b="1" u="sng">
                <a:solidFill>
                  <a:schemeClr val="tx1"/>
                </a:solidFill>
                <a:latin typeface="+mj-lt"/>
              </a:rPr>
              <a:t>OECM Wish List</a:t>
            </a:r>
          </a:p>
          <a:p>
            <a:r>
              <a:rPr lang="en-HK" sz="1600" i="1">
                <a:solidFill>
                  <a:schemeClr val="tx1"/>
                </a:solidFill>
                <a:latin typeface="+mj-lt"/>
              </a:rPr>
              <a:t>Allowing OECM to accurately assess the needs of clients</a:t>
            </a:r>
            <a:endParaRPr lang="en-HK" sz="1600" b="1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7C9EC7-DAC4-4A1A-99D0-A2CF3B2587C0}"/>
              </a:ext>
            </a:extLst>
          </p:cNvPr>
          <p:cNvGrpSpPr/>
          <p:nvPr/>
        </p:nvGrpSpPr>
        <p:grpSpPr>
          <a:xfrm rot="5400000" flipV="1">
            <a:off x="7590507" y="4123213"/>
            <a:ext cx="330827" cy="1195805"/>
            <a:chOff x="11260756" y="4161738"/>
            <a:chExt cx="330827" cy="119580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312D714-6837-4542-B7C7-0E8D6979F238}"/>
                </a:ext>
              </a:extLst>
            </p:cNvPr>
            <p:cNvCxnSpPr>
              <a:cxnSpLocks/>
            </p:cNvCxnSpPr>
            <p:nvPr/>
          </p:nvCxnSpPr>
          <p:spPr>
            <a:xfrm>
              <a:off x="11260756" y="4161738"/>
              <a:ext cx="330827" cy="758599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669284-E137-4BA4-80A9-2B0C2FC4CBAA}"/>
                </a:ext>
              </a:extLst>
            </p:cNvPr>
            <p:cNvCxnSpPr>
              <a:cxnSpLocks/>
            </p:cNvCxnSpPr>
            <p:nvPr/>
          </p:nvCxnSpPr>
          <p:spPr>
            <a:xfrm>
              <a:off x="11591583" y="4918676"/>
              <a:ext cx="0" cy="438867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E38FE85-F838-46A5-8997-304D77EEF247}"/>
              </a:ext>
            </a:extLst>
          </p:cNvPr>
          <p:cNvSpPr/>
          <p:nvPr/>
        </p:nvSpPr>
        <p:spPr>
          <a:xfrm>
            <a:off x="8353822" y="4498007"/>
            <a:ext cx="3330177" cy="589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HK" sz="1600" b="1" u="sng">
                <a:solidFill>
                  <a:schemeClr val="tx1"/>
                </a:solidFill>
                <a:latin typeface="+mj-lt"/>
              </a:rPr>
              <a:t>Trend packages</a:t>
            </a:r>
          </a:p>
          <a:p>
            <a:r>
              <a:rPr lang="en-HK" sz="1600" i="1">
                <a:solidFill>
                  <a:schemeClr val="tx1"/>
                </a:solidFill>
                <a:latin typeface="+mj-lt"/>
              </a:rPr>
              <a:t>Proactive approach in pre-empting future needs</a:t>
            </a:r>
            <a:endParaRPr lang="en-HK" sz="1600" b="1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4881FA-2336-4B91-B5CD-BA2B98497787}"/>
              </a:ext>
            </a:extLst>
          </p:cNvPr>
          <p:cNvGrpSpPr/>
          <p:nvPr/>
        </p:nvGrpSpPr>
        <p:grpSpPr>
          <a:xfrm rot="16200000" flipH="1" flipV="1">
            <a:off x="4755193" y="4453413"/>
            <a:ext cx="330827" cy="1195805"/>
            <a:chOff x="11260756" y="4161738"/>
            <a:chExt cx="330827" cy="1195805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13BBA04-70F8-4688-BEE4-053ADDF4C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260756" y="4161738"/>
              <a:ext cx="330827" cy="758599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1B865FF-97CD-4DFD-95EC-C3E1083749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91583" y="4918676"/>
              <a:ext cx="0" cy="438867"/>
            </a:xfrm>
            <a:prstGeom prst="line">
              <a:avLst/>
            </a:prstGeom>
            <a:ln w="19050">
              <a:solidFill>
                <a:srgbClr val="0037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65E217-EF0A-4C14-8023-1201F806627F}"/>
              </a:ext>
            </a:extLst>
          </p:cNvPr>
          <p:cNvGrpSpPr/>
          <p:nvPr/>
        </p:nvGrpSpPr>
        <p:grpSpPr>
          <a:xfrm>
            <a:off x="621158" y="2001605"/>
            <a:ext cx="3281304" cy="1398142"/>
            <a:chOff x="924177" y="2190400"/>
            <a:chExt cx="3281304" cy="139814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A6A98BD-B6F1-4F40-8758-5C8C230D0506}"/>
                </a:ext>
              </a:extLst>
            </p:cNvPr>
            <p:cNvSpPr/>
            <p:nvPr/>
          </p:nvSpPr>
          <p:spPr>
            <a:xfrm>
              <a:off x="924177" y="2739140"/>
              <a:ext cx="3281304" cy="849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HK" sz="1600" b="1" i="1">
                  <a:solidFill>
                    <a:schemeClr val="tx1"/>
                  </a:solidFill>
                  <a:latin typeface="+mj-lt"/>
                </a:rPr>
                <a:t>Better match of service between clients and suppliers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BE84AE-119B-4EEF-89C8-A2012087CABE}"/>
                </a:ext>
              </a:extLst>
            </p:cNvPr>
            <p:cNvSpPr/>
            <p:nvPr/>
          </p:nvSpPr>
          <p:spPr>
            <a:xfrm>
              <a:off x="924177" y="2190400"/>
              <a:ext cx="3281304" cy="505081"/>
            </a:xfrm>
            <a:prstGeom prst="rect">
              <a:avLst/>
            </a:prstGeom>
            <a:solidFill>
              <a:srgbClr val="E87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sz="2000" b="1" i="1">
                  <a:solidFill>
                    <a:schemeClr val="bg1"/>
                  </a:solidFill>
                  <a:latin typeface="+mj-lt"/>
                </a:rPr>
                <a:t>More CSAs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7" grpId="0"/>
      <p:bldP spid="21" grpId="0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82634-44B1-4CA7-83E4-24BA251B5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20656-093F-411F-B1F2-2F2314FA211B}"/>
              </a:ext>
            </a:extLst>
          </p:cNvPr>
          <p:cNvSpPr/>
          <p:nvPr/>
        </p:nvSpPr>
        <p:spPr>
          <a:xfrm>
            <a:off x="300039" y="767556"/>
            <a:ext cx="11591924" cy="5398294"/>
          </a:xfrm>
          <a:prstGeom prst="rect">
            <a:avLst/>
          </a:prstGeom>
          <a:solidFill>
            <a:schemeClr val="tx1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Number &amp; chart</a:t>
            </a:r>
          </a:p>
          <a:p>
            <a:pPr algn="ctr"/>
            <a:r>
              <a:rPr lang="en-HK" sz="32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____________</a:t>
            </a:r>
          </a:p>
        </p:txBody>
      </p:sp>
    </p:spTree>
    <p:extLst>
      <p:ext uri="{BB962C8B-B14F-4D97-AF65-F5344CB8AC3E}">
        <p14:creationId xmlns:p14="http://schemas.microsoft.com/office/powerpoint/2010/main" val="378148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90F74F-3AED-4153-B2C6-55D121D7A5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57C9D-F18B-4405-8297-C9C56D3B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KPIs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E7480-C75A-44C8-91F1-6B1F1EE14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A4B6B-09A2-4328-B1FC-5848C374C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5705D-E59E-4B7B-903F-527CA5CA59A3}"/>
              </a:ext>
            </a:extLst>
          </p:cNvPr>
          <p:cNvSpPr/>
          <p:nvPr/>
        </p:nvSpPr>
        <p:spPr>
          <a:xfrm>
            <a:off x="3284025" y="1211758"/>
            <a:ext cx="2355595" cy="340681"/>
          </a:xfrm>
          <a:prstGeom prst="rect">
            <a:avLst/>
          </a:prstGeom>
          <a:solidFill>
            <a:schemeClr val="accent5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sz="1400" b="1" kern="0" spc="300">
                <a:solidFill>
                  <a:srgbClr val="FFFFFF"/>
                </a:solidFill>
              </a:rPr>
              <a:t>2022 TARGET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3C59A-806B-4DD8-8656-ED503AE732AD}"/>
              </a:ext>
            </a:extLst>
          </p:cNvPr>
          <p:cNvSpPr/>
          <p:nvPr/>
        </p:nvSpPr>
        <p:spPr>
          <a:xfrm>
            <a:off x="352532" y="1689158"/>
            <a:ext cx="2617059" cy="13286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b="1" kern="0">
                <a:solidFill>
                  <a:schemeClr val="tx1">
                    <a:lumMod val="85000"/>
                    <a:lumOff val="15000"/>
                  </a:schemeClr>
                </a:solidFill>
              </a:rPr>
              <a:t>Number of individuals in family segment reached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5B8D8-5FEE-4380-90CD-3D6D44E90DE7}"/>
              </a:ext>
            </a:extLst>
          </p:cNvPr>
          <p:cNvSpPr/>
          <p:nvPr/>
        </p:nvSpPr>
        <p:spPr>
          <a:xfrm>
            <a:off x="352530" y="3183748"/>
            <a:ext cx="2617059" cy="13286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b="1" kern="0">
                <a:solidFill>
                  <a:schemeClr val="tx1">
                    <a:lumMod val="85000"/>
                    <a:lumOff val="15000"/>
                  </a:schemeClr>
                </a:solidFill>
              </a:rPr>
              <a:t>Percentage from recurring donations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A7568A-DC00-42C8-9398-E323FB7BEA84}"/>
              </a:ext>
            </a:extLst>
          </p:cNvPr>
          <p:cNvSpPr/>
          <p:nvPr/>
        </p:nvSpPr>
        <p:spPr>
          <a:xfrm>
            <a:off x="352533" y="4729032"/>
            <a:ext cx="2617059" cy="13286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b="1" kern="0">
                <a:solidFill>
                  <a:schemeClr val="tx1">
                    <a:lumMod val="85000"/>
                    <a:lumOff val="15000"/>
                  </a:schemeClr>
                </a:solidFill>
              </a:rPr>
              <a:t>Cost per Dollar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02B6D3-9760-4512-A891-DC47C340A476}"/>
              </a:ext>
            </a:extLst>
          </p:cNvPr>
          <p:cNvSpPr/>
          <p:nvPr/>
        </p:nvSpPr>
        <p:spPr>
          <a:xfrm>
            <a:off x="3282042" y="1679520"/>
            <a:ext cx="2359167" cy="13286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D5D0C-9119-4EFA-8D02-0064189A73B0}"/>
              </a:ext>
            </a:extLst>
          </p:cNvPr>
          <p:cNvSpPr/>
          <p:nvPr/>
        </p:nvSpPr>
        <p:spPr>
          <a:xfrm>
            <a:off x="3293463" y="3183748"/>
            <a:ext cx="2359167" cy="13286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20.8%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0CCFD-24FD-4C79-92E6-23968F42E71D}"/>
              </a:ext>
            </a:extLst>
          </p:cNvPr>
          <p:cNvSpPr/>
          <p:nvPr/>
        </p:nvSpPr>
        <p:spPr>
          <a:xfrm>
            <a:off x="3293463" y="4729211"/>
            <a:ext cx="2359167" cy="13286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0.23 AUD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57CAC-0D2A-41D5-AB75-B54FD76434E1}"/>
              </a:ext>
            </a:extLst>
          </p:cNvPr>
          <p:cNvSpPr/>
          <p:nvPr/>
        </p:nvSpPr>
        <p:spPr>
          <a:xfrm>
            <a:off x="6580415" y="1211758"/>
            <a:ext cx="5276623" cy="340681"/>
          </a:xfrm>
          <a:prstGeom prst="rect">
            <a:avLst/>
          </a:prstGeom>
          <a:solidFill>
            <a:schemeClr val="accent5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sz="1400" b="1" kern="0" spc="300">
                <a:solidFill>
                  <a:srgbClr val="FFFFFF"/>
                </a:solidFill>
              </a:rPr>
              <a:t>IF NOT MET?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4ABFF-3457-490B-B32C-B2C025A6B722}"/>
              </a:ext>
            </a:extLst>
          </p:cNvPr>
          <p:cNvSpPr/>
          <p:nvPr/>
        </p:nvSpPr>
        <p:spPr>
          <a:xfrm>
            <a:off x="352530" y="1207627"/>
            <a:ext cx="2617059" cy="344812"/>
          </a:xfrm>
          <a:prstGeom prst="rect">
            <a:avLst/>
          </a:prstGeom>
          <a:solidFill>
            <a:schemeClr val="accent5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lvl="0" algn="ctr" defTabSz="457200">
              <a:defRPr/>
            </a:pPr>
            <a:r>
              <a:rPr lang="en-US" sz="1400" b="1" kern="0" spc="30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80F47-E295-4B96-8572-940B9839EBA6}"/>
              </a:ext>
            </a:extLst>
          </p:cNvPr>
          <p:cNvSpPr/>
          <p:nvPr/>
        </p:nvSpPr>
        <p:spPr>
          <a:xfrm flipH="1">
            <a:off x="6580413" y="1679520"/>
            <a:ext cx="5276623" cy="1328687"/>
          </a:xfrm>
          <a:prstGeom prst="rect">
            <a:avLst/>
          </a:prstGeom>
          <a:solidFill>
            <a:srgbClr val="DCE6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Increase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marketing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effort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to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endParaRPr lang="en-HK" altLang="zh-Hant" ker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raise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awareness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among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families</a:t>
            </a:r>
            <a:endParaRPr kumimoji="0" lang="en-US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FC189D-B309-4351-A4A5-681EDF9BD268}"/>
              </a:ext>
            </a:extLst>
          </p:cNvPr>
          <p:cNvSpPr/>
          <p:nvPr/>
        </p:nvSpPr>
        <p:spPr>
          <a:xfrm flipH="1">
            <a:off x="6580412" y="3183749"/>
            <a:ext cx="5276623" cy="1328687"/>
          </a:xfrm>
          <a:prstGeom prst="rect">
            <a:avLst/>
          </a:prstGeom>
          <a:solidFill>
            <a:srgbClr val="DCE6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surveys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analyze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reason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behind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one-off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donors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being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reluctant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recurring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donates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specific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family</a:t>
            </a:r>
            <a:endParaRPr kumimoji="0" lang="en-US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3960B-97B5-4684-98D3-628A12ABBFEC}"/>
              </a:ext>
            </a:extLst>
          </p:cNvPr>
          <p:cNvSpPr/>
          <p:nvPr/>
        </p:nvSpPr>
        <p:spPr>
          <a:xfrm flipH="1">
            <a:off x="6580411" y="4727069"/>
            <a:ext cx="5276623" cy="1328687"/>
          </a:xfrm>
          <a:prstGeom prst="rect">
            <a:avLst/>
          </a:prstGeom>
          <a:solidFill>
            <a:srgbClr val="DCE6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29" tIns="45715" rIns="91429" bIns="45715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</a:t>
            </a:r>
            <a:r>
              <a:rPr kumimoji="0" lang="zh-Hant" altLang="en-US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Hant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-bash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follow-up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efforts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and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reduce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costly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marketing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r>
              <a:rPr lang="en-US" altLang="zh-Hant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channels</a:t>
            </a:r>
            <a:r>
              <a:rPr lang="zh-Hant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</a:t>
            </a:r>
            <a:endParaRPr kumimoji="0" lang="en-US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riangle 37">
            <a:extLst>
              <a:ext uri="{FF2B5EF4-FFF2-40B4-BE49-F238E27FC236}">
                <a16:creationId xmlns:a16="http://schemas.microsoft.com/office/drawing/2014/main" id="{EC8591D5-5719-473A-8686-2F02E2ADE3E8}"/>
              </a:ext>
            </a:extLst>
          </p:cNvPr>
          <p:cNvSpPr/>
          <p:nvPr/>
        </p:nvSpPr>
        <p:spPr>
          <a:xfrm rot="5400000">
            <a:off x="5689099" y="2281242"/>
            <a:ext cx="854843" cy="28003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iangle 38">
            <a:extLst>
              <a:ext uri="{FF2B5EF4-FFF2-40B4-BE49-F238E27FC236}">
                <a16:creationId xmlns:a16="http://schemas.microsoft.com/office/drawing/2014/main" id="{BBB10BC0-0A3F-44EF-BA57-F4836AF1AEC1}"/>
              </a:ext>
            </a:extLst>
          </p:cNvPr>
          <p:cNvSpPr/>
          <p:nvPr/>
        </p:nvSpPr>
        <p:spPr>
          <a:xfrm rot="5400000">
            <a:off x="5689100" y="3820590"/>
            <a:ext cx="854843" cy="28003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39">
            <a:extLst>
              <a:ext uri="{FF2B5EF4-FFF2-40B4-BE49-F238E27FC236}">
                <a16:creationId xmlns:a16="http://schemas.microsoft.com/office/drawing/2014/main" id="{43B42BD0-DE8F-460D-958A-5670B519D71C}"/>
              </a:ext>
            </a:extLst>
          </p:cNvPr>
          <p:cNvSpPr/>
          <p:nvPr/>
        </p:nvSpPr>
        <p:spPr>
          <a:xfrm rot="5400000">
            <a:off x="5689099" y="5345680"/>
            <a:ext cx="854843" cy="28003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3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06D748-066C-433B-B74C-8110A212BF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DCFC12-C77D-4F0C-A801-C6ECE20E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Guide to pasting charts from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3B732-F737-437E-AFA0-FD6B3CE95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DE259-444A-46C7-ADF5-E6C77395A4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Toolkit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C0E84-D136-4EF6-824E-F38D4DFD2A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9" t="41884" r="13342" b="20724"/>
          <a:stretch/>
        </p:blipFill>
        <p:spPr>
          <a:xfrm>
            <a:off x="598774" y="1779807"/>
            <a:ext cx="3061254" cy="2564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EAB201-A215-44EC-B7E1-FCA37285FA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84" t="4927" b="67102"/>
          <a:stretch/>
        </p:blipFill>
        <p:spPr>
          <a:xfrm>
            <a:off x="5461866" y="2102828"/>
            <a:ext cx="6012620" cy="191825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1CAFCB-E7A4-4AC3-AFA7-2C660E2AE11F}"/>
              </a:ext>
            </a:extLst>
          </p:cNvPr>
          <p:cNvGrpSpPr/>
          <p:nvPr/>
        </p:nvGrpSpPr>
        <p:grpSpPr>
          <a:xfrm>
            <a:off x="419381" y="1269785"/>
            <a:ext cx="3995531" cy="376041"/>
            <a:chOff x="533400" y="1316950"/>
            <a:chExt cx="4997520" cy="37604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38A221-E103-42E6-919A-8935B2A20244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05749B-264C-465C-9D48-BDBD4110D058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1 Paste option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876C623-BA7B-4D1B-B4FD-DCAFCC0C0649}"/>
              </a:ext>
            </a:extLst>
          </p:cNvPr>
          <p:cNvSpPr/>
          <p:nvPr/>
        </p:nvSpPr>
        <p:spPr>
          <a:xfrm>
            <a:off x="598775" y="4457269"/>
            <a:ext cx="3816138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 b="1">
                <a:solidFill>
                  <a:schemeClr val="tx1"/>
                </a:solidFill>
              </a:rPr>
              <a:t>Use Destination Theme &amp; Link Data (L)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AF6AF-40D1-440D-8B26-2D672BD863AB}"/>
              </a:ext>
            </a:extLst>
          </p:cNvPr>
          <p:cNvSpPr/>
          <p:nvPr/>
        </p:nvSpPr>
        <p:spPr>
          <a:xfrm>
            <a:off x="598774" y="5026812"/>
            <a:ext cx="3816138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Manually align </a:t>
            </a:r>
            <a:r>
              <a:rPr lang="en-HK" sz="1600" err="1">
                <a:solidFill>
                  <a:schemeClr val="tx1"/>
                </a:solidFill>
              </a:rPr>
              <a:t>color</a:t>
            </a:r>
            <a:r>
              <a:rPr lang="en-HK" sz="1600">
                <a:solidFill>
                  <a:schemeClr val="tx1"/>
                </a:solidFill>
              </a:rPr>
              <a:t> scheme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05F737-0473-4957-9A95-20433142A616}"/>
              </a:ext>
            </a:extLst>
          </p:cNvPr>
          <p:cNvGrpSpPr/>
          <p:nvPr/>
        </p:nvGrpSpPr>
        <p:grpSpPr>
          <a:xfrm>
            <a:off x="5044389" y="1272366"/>
            <a:ext cx="6847574" cy="376041"/>
            <a:chOff x="533400" y="1316950"/>
            <a:chExt cx="4997520" cy="37604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E30882-6F87-4F27-841E-5DA39476C1BC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9EC4EE0-82D3-4517-A463-C70CADB94B44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2 When you revise your data in excel..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79B4285-B126-4CA5-BB58-DCD7B7B45020}"/>
              </a:ext>
            </a:extLst>
          </p:cNvPr>
          <p:cNvSpPr/>
          <p:nvPr/>
        </p:nvSpPr>
        <p:spPr>
          <a:xfrm>
            <a:off x="5223783" y="4457269"/>
            <a:ext cx="6668180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Click the chart (ppt) &gt;&gt; </a:t>
            </a:r>
            <a:r>
              <a:rPr lang="en-HK" sz="1600" b="1">
                <a:solidFill>
                  <a:schemeClr val="tx1"/>
                </a:solidFill>
              </a:rPr>
              <a:t>Chart Design (ribbon) &gt;&gt; Refresh Data</a:t>
            </a:r>
            <a:r>
              <a:rPr lang="en-HK" sz="1600">
                <a:solidFill>
                  <a:schemeClr val="tx1"/>
                </a:solidFill>
              </a:rPr>
              <a:t> &gt;&gt; Done!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182150-8DE3-42EE-90C6-16087E6CD0AC}"/>
              </a:ext>
            </a:extLst>
          </p:cNvPr>
          <p:cNvSpPr/>
          <p:nvPr/>
        </p:nvSpPr>
        <p:spPr>
          <a:xfrm>
            <a:off x="5223783" y="5030702"/>
            <a:ext cx="6668180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Manually align format</a:t>
            </a:r>
          </a:p>
        </p:txBody>
      </p:sp>
    </p:spTree>
    <p:extLst>
      <p:ext uri="{BB962C8B-B14F-4D97-AF65-F5344CB8AC3E}">
        <p14:creationId xmlns:p14="http://schemas.microsoft.com/office/powerpoint/2010/main" val="278288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C49CE-D282-4B92-9B70-6E24BF15D8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6CAAB6-2ADE-482E-8E71-D2BA3A55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Financial charts: Format guide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1D404-5D33-484F-A804-C5B56E8F9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B0F31-D73E-41AB-A4C4-B5F0FBA0E7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Toolkit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A0311F-7696-4CE7-A952-2447D4E4CC63}"/>
              </a:ext>
            </a:extLst>
          </p:cNvPr>
          <p:cNvGrpSpPr/>
          <p:nvPr/>
        </p:nvGrpSpPr>
        <p:grpSpPr>
          <a:xfrm>
            <a:off x="7101779" y="1272366"/>
            <a:ext cx="4790183" cy="376041"/>
            <a:chOff x="533400" y="1316950"/>
            <a:chExt cx="4997520" cy="37604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B04675-35AA-48A8-91AE-6294958E8327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0686BA-2DE8-43D7-B967-AB4DE3AAC497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Remarks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E27FAC-982F-4C1C-8DDA-78DA786804CC}"/>
              </a:ext>
            </a:extLst>
          </p:cNvPr>
          <p:cNvGrpSpPr/>
          <p:nvPr/>
        </p:nvGrpSpPr>
        <p:grpSpPr>
          <a:xfrm>
            <a:off x="419381" y="1269785"/>
            <a:ext cx="6497886" cy="376041"/>
            <a:chOff x="533400" y="1316950"/>
            <a:chExt cx="4997520" cy="3760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A89477-F552-41D2-8CCC-D89BF9C1F42A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866396-12F9-4643-A41F-B894CE0F4515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Illustration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FD8BEC-ABEF-40D0-A9F0-9F36723E64B7}"/>
              </a:ext>
            </a:extLst>
          </p:cNvPr>
          <p:cNvGrpSpPr/>
          <p:nvPr/>
        </p:nvGrpSpPr>
        <p:grpSpPr>
          <a:xfrm>
            <a:off x="430899" y="1767166"/>
            <a:ext cx="6486368" cy="1037774"/>
            <a:chOff x="792162" y="1086342"/>
            <a:chExt cx="2617465" cy="69800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26A37E3-4623-418E-A3B8-C01CE276182E}"/>
                </a:ext>
              </a:extLst>
            </p:cNvPr>
            <p:cNvGrpSpPr/>
            <p:nvPr/>
          </p:nvGrpSpPr>
          <p:grpSpPr>
            <a:xfrm>
              <a:off x="792162" y="1086342"/>
              <a:ext cx="2617465" cy="334175"/>
              <a:chOff x="792163" y="912920"/>
              <a:chExt cx="4728104" cy="307777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6CC4F9A-4A29-4E43-85F5-068C4FCE1A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163" y="1220697"/>
                <a:ext cx="4728104" cy="0"/>
              </a:xfrm>
              <a:prstGeom prst="line">
                <a:avLst/>
              </a:prstGeom>
              <a:ln w="19050">
                <a:solidFill>
                  <a:srgbClr val="71717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781B835-AD94-469E-8AC0-17B12379D467}"/>
                  </a:ext>
                </a:extLst>
              </p:cNvPr>
              <p:cNvSpPr/>
              <p:nvPr/>
            </p:nvSpPr>
            <p:spPr>
              <a:xfrm>
                <a:off x="792163" y="912920"/>
                <a:ext cx="4728104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HK" b="1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By 2024, digital assets AUM in custody will reach US$75 bn</a:t>
                </a:r>
                <a:endParaRPr lang="en-HK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702CD48-348F-469B-AA23-422D1C8EC6A3}"/>
                </a:ext>
              </a:extLst>
            </p:cNvPr>
            <p:cNvSpPr/>
            <p:nvPr/>
          </p:nvSpPr>
          <p:spPr>
            <a:xfrm>
              <a:off x="792162" y="1420517"/>
              <a:ext cx="2617465" cy="363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TW" sz="1200">
                  <a:solidFill>
                    <a:schemeClr val="bg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</a:rPr>
                <a:t>AUM in custody, US$ m; CAGR, %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797ADD-5AE0-43B9-B8DE-A08254187975}"/>
              </a:ext>
            </a:extLst>
          </p:cNvPr>
          <p:cNvGrpSpPr/>
          <p:nvPr/>
        </p:nvGrpSpPr>
        <p:grpSpPr>
          <a:xfrm>
            <a:off x="695159" y="2804940"/>
            <a:ext cx="4951516" cy="2889649"/>
            <a:chOff x="784416" y="1528044"/>
            <a:chExt cx="3330386" cy="1943576"/>
          </a:xfrm>
        </p:grpSpPr>
        <p:graphicFrame>
          <p:nvGraphicFramePr>
            <p:cNvPr id="24" name="Chart 23">
              <a:extLst>
                <a:ext uri="{FF2B5EF4-FFF2-40B4-BE49-F238E27FC236}">
                  <a16:creationId xmlns:a16="http://schemas.microsoft.com/office/drawing/2014/main" id="{FFA0D8D7-53B8-4650-AFB8-11493192EC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84416" y="1528045"/>
            <a:ext cx="3330386" cy="19435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63E484-4593-4BE0-AE21-0F5B75593FC4}"/>
                </a:ext>
              </a:extLst>
            </p:cNvPr>
            <p:cNvSpPr/>
            <p:nvPr/>
          </p:nvSpPr>
          <p:spPr>
            <a:xfrm>
              <a:off x="3435608" y="1528044"/>
              <a:ext cx="671444" cy="2330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TW" sz="1050" b="1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$75 bn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960D9E2-113E-4517-9817-FDE371920BD1}"/>
                </a:ext>
              </a:extLst>
            </p:cNvPr>
            <p:cNvSpPr/>
            <p:nvPr/>
          </p:nvSpPr>
          <p:spPr>
            <a:xfrm>
              <a:off x="1145839" y="2976129"/>
              <a:ext cx="428524" cy="2330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TW" sz="1050" b="1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$1.7 bn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DEC4AB7-AB8B-46A7-BA7F-31707DC5FF86}"/>
                </a:ext>
              </a:extLst>
            </p:cNvPr>
            <p:cNvGrpSpPr/>
            <p:nvPr/>
          </p:nvGrpSpPr>
          <p:grpSpPr>
            <a:xfrm>
              <a:off x="1574363" y="1677141"/>
              <a:ext cx="1968934" cy="1343092"/>
              <a:chOff x="1736618" y="2007250"/>
              <a:chExt cx="1968934" cy="1343092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9E0A1AC-D3BD-4566-93EA-7CC26194D4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6618" y="2007250"/>
                <a:ext cx="1968934" cy="1343092"/>
              </a:xfrm>
              <a:prstGeom prst="straightConnector1">
                <a:avLst/>
              </a:prstGeom>
              <a:ln w="12700">
                <a:solidFill>
                  <a:srgbClr val="272B5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777B5F7-B09E-4800-A984-1FAE4047C17E}"/>
                  </a:ext>
                </a:extLst>
              </p:cNvPr>
              <p:cNvSpPr/>
              <p:nvPr/>
            </p:nvSpPr>
            <p:spPr>
              <a:xfrm>
                <a:off x="2415557" y="2505299"/>
                <a:ext cx="723935" cy="3386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72B5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111</a:t>
                </a:r>
                <a:r>
                  <a:rPr lang="en-US" sz="1200" b="1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% p.a.</a:t>
                </a: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467AAAA-6934-4C9E-BA56-F4B4C5FFBFF4}"/>
              </a:ext>
            </a:extLst>
          </p:cNvPr>
          <p:cNvSpPr/>
          <p:nvPr/>
        </p:nvSpPr>
        <p:spPr>
          <a:xfrm>
            <a:off x="7101776" y="1767166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Have a (meaningful) chart 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8F2794-B2EF-499C-B13F-8CE82249BE87}"/>
              </a:ext>
            </a:extLst>
          </p:cNvPr>
          <p:cNvSpPr/>
          <p:nvPr/>
        </p:nvSpPr>
        <p:spPr>
          <a:xfrm>
            <a:off x="7101776" y="2416522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Always remember to put </a:t>
            </a:r>
            <a:r>
              <a:rPr lang="en-HK" sz="1600" b="1">
                <a:solidFill>
                  <a:srgbClr val="FF0000"/>
                </a:solidFill>
              </a:rPr>
              <a:t>unit</a:t>
            </a:r>
            <a:r>
              <a:rPr lang="en-HK" sz="160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B38D1D-AAB2-40D6-A296-72B14A6D4D41}"/>
              </a:ext>
            </a:extLst>
          </p:cNvPr>
          <p:cNvSpPr/>
          <p:nvPr/>
        </p:nvSpPr>
        <p:spPr>
          <a:xfrm>
            <a:off x="7101776" y="3065878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For Y axis, have MAX. ONE thousands separator.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A1425B-5B7B-4448-9AAA-8DE9D1A56F38}"/>
              </a:ext>
            </a:extLst>
          </p:cNvPr>
          <p:cNvSpPr/>
          <p:nvPr/>
        </p:nvSpPr>
        <p:spPr>
          <a:xfrm>
            <a:off x="7101776" y="3715234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Label the most crucial data point.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6CF1DF-6599-4273-AA78-4C140BED4ED5}"/>
              </a:ext>
            </a:extLst>
          </p:cNvPr>
          <p:cNvCxnSpPr>
            <a:stCxn id="25" idx="3"/>
            <a:endCxn id="36" idx="1"/>
          </p:cNvCxnSpPr>
          <p:nvPr/>
        </p:nvCxnSpPr>
        <p:spPr>
          <a:xfrm>
            <a:off x="5635152" y="2978191"/>
            <a:ext cx="1466624" cy="9855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E11FEF5-6E04-4D69-983C-02F75B5F7B9A}"/>
              </a:ext>
            </a:extLst>
          </p:cNvPr>
          <p:cNvSpPr/>
          <p:nvPr/>
        </p:nvSpPr>
        <p:spPr>
          <a:xfrm>
            <a:off x="7101776" y="4364590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For simplicity, drop all the background line.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13797B-D911-4A26-B26C-66665F12EBDA}"/>
              </a:ext>
            </a:extLst>
          </p:cNvPr>
          <p:cNvSpPr/>
          <p:nvPr/>
        </p:nvSpPr>
        <p:spPr>
          <a:xfrm>
            <a:off x="7100300" y="5013946"/>
            <a:ext cx="4790183" cy="496956"/>
          </a:xfrm>
          <a:prstGeom prst="rect">
            <a:avLst/>
          </a:prstGeom>
          <a:solidFill>
            <a:srgbClr val="DC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1600">
                <a:solidFill>
                  <a:schemeClr val="tx1"/>
                </a:solidFill>
              </a:rPr>
              <a:t>Be ethical, begin the base with 0.</a:t>
            </a:r>
          </a:p>
        </p:txBody>
      </p:sp>
    </p:spTree>
    <p:extLst>
      <p:ext uri="{BB962C8B-B14F-4D97-AF65-F5344CB8AC3E}">
        <p14:creationId xmlns:p14="http://schemas.microsoft.com/office/powerpoint/2010/main" val="200228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CB2607-D831-486B-80EF-9CCF6FE939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0220EA-73CA-45BB-AC3E-DC1B4744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(Company) will need an upfront investment of 100mn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453E4-6D4A-4069-88C6-4EEB1009D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B403A-E5B1-4CCC-BDB5-32CA3919EF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Financials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9E9A82-8EF4-4D14-B24B-30C31B2D39FF}"/>
              </a:ext>
            </a:extLst>
          </p:cNvPr>
          <p:cNvGrpSpPr/>
          <p:nvPr/>
        </p:nvGrpSpPr>
        <p:grpSpPr>
          <a:xfrm>
            <a:off x="454238" y="2176675"/>
            <a:ext cx="3946836" cy="3572933"/>
            <a:chOff x="607950" y="1998000"/>
            <a:chExt cx="4737100" cy="3572933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36616AAD-3783-4A75-A0EF-48DE0A5B118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46210650"/>
                </p:ext>
              </p:extLst>
            </p:nvPr>
          </p:nvGraphicFramePr>
          <p:xfrm>
            <a:off x="607950" y="1998000"/>
            <a:ext cx="4737100" cy="35729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19BE0B-9EB3-4E04-AA09-2A7627D765AB}"/>
                </a:ext>
              </a:extLst>
            </p:cNvPr>
            <p:cNvSpPr/>
            <p:nvPr/>
          </p:nvSpPr>
          <p:spPr>
            <a:xfrm>
              <a:off x="2125653" y="3401833"/>
              <a:ext cx="1701693" cy="7652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HK" sz="4800" b="1">
                  <a:solidFill>
                    <a:srgbClr val="073779"/>
                  </a:solidFill>
                </a:rPr>
                <a:t>100 </a:t>
              </a:r>
            </a:p>
            <a:p>
              <a:pPr algn="ctr"/>
              <a:r>
                <a:rPr lang="en-HK" sz="2800" b="1">
                  <a:solidFill>
                    <a:srgbClr val="073779"/>
                  </a:solidFill>
                </a:rPr>
                <a:t>million</a:t>
              </a:r>
              <a:endParaRPr lang="en-HK" sz="4000" b="1">
                <a:solidFill>
                  <a:srgbClr val="073779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5A8119-1F01-4506-8D48-331ABC39085B}"/>
              </a:ext>
            </a:extLst>
          </p:cNvPr>
          <p:cNvGrpSpPr/>
          <p:nvPr/>
        </p:nvGrpSpPr>
        <p:grpSpPr>
          <a:xfrm>
            <a:off x="419379" y="1190273"/>
            <a:ext cx="11472584" cy="758718"/>
            <a:chOff x="419379" y="1190273"/>
            <a:chExt cx="11472584" cy="75871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85FEDE-0142-45D5-B0C3-D7F8C3907B2F}"/>
                </a:ext>
              </a:extLst>
            </p:cNvPr>
            <p:cNvGrpSpPr/>
            <p:nvPr/>
          </p:nvGrpSpPr>
          <p:grpSpPr>
            <a:xfrm>
              <a:off x="419380" y="1190273"/>
              <a:ext cx="11472583" cy="376041"/>
              <a:chOff x="533400" y="1316950"/>
              <a:chExt cx="4997520" cy="3760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9BD92F4-0AB3-438B-B755-E81960873764}"/>
                  </a:ext>
                </a:extLst>
              </p:cNvPr>
              <p:cNvCxnSpPr/>
              <p:nvPr/>
            </p:nvCxnSpPr>
            <p:spPr>
              <a:xfrm>
                <a:off x="533400" y="1689100"/>
                <a:ext cx="4997520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D1668F-F9D8-4379-B72F-3001845D1C00}"/>
                  </a:ext>
                </a:extLst>
              </p:cNvPr>
              <p:cNvSpPr/>
              <p:nvPr/>
            </p:nvSpPr>
            <p:spPr>
              <a:xfrm>
                <a:off x="533400" y="1316950"/>
                <a:ext cx="4997520" cy="3760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HK">
                    <a:solidFill>
                      <a:schemeClr val="tx1"/>
                    </a:solidFill>
                  </a:rPr>
                  <a:t>Cost projection (1</a:t>
                </a:r>
                <a:r>
                  <a:rPr lang="en-HK" baseline="30000">
                    <a:solidFill>
                      <a:schemeClr val="tx1"/>
                    </a:solidFill>
                  </a:rPr>
                  <a:t>st</a:t>
                </a:r>
                <a:r>
                  <a:rPr lang="en-HK">
                    <a:solidFill>
                      <a:schemeClr val="tx1"/>
                    </a:solidFill>
                  </a:rPr>
                  <a:t> year)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1BFF57-C36C-43C9-A3BB-C69B314DB669}"/>
                </a:ext>
              </a:extLst>
            </p:cNvPr>
            <p:cNvSpPr/>
            <p:nvPr/>
          </p:nvSpPr>
          <p:spPr>
            <a:xfrm>
              <a:off x="419379" y="1572950"/>
              <a:ext cx="288000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 sz="1600" b="1" i="1">
                  <a:solidFill>
                    <a:schemeClr val="bg1">
                      <a:lumMod val="65000"/>
                    </a:schemeClr>
                  </a:solidFill>
                </a:rPr>
                <a:t>(in CAD)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E43E79-7C2E-4CC7-8423-3BF8B07C625E}"/>
              </a:ext>
            </a:extLst>
          </p:cNvPr>
          <p:cNvGrpSpPr/>
          <p:nvPr/>
        </p:nvGrpSpPr>
        <p:grpSpPr>
          <a:xfrm>
            <a:off x="5054668" y="2468135"/>
            <a:ext cx="3090849" cy="656063"/>
            <a:chOff x="465131" y="1069269"/>
            <a:chExt cx="2242982" cy="73328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3EA75E-7470-436C-870D-2AC588F03EC5}"/>
                </a:ext>
              </a:extLst>
            </p:cNvPr>
            <p:cNvSpPr/>
            <p:nvPr/>
          </p:nvSpPr>
          <p:spPr>
            <a:xfrm>
              <a:off x="465131" y="1069269"/>
              <a:ext cx="1541280" cy="733286"/>
            </a:xfrm>
            <a:prstGeom prst="rect">
              <a:avLst/>
            </a:prstGeom>
            <a:solidFill>
              <a:srgbClr val="073779"/>
            </a:solidFill>
            <a:ln w="28575">
              <a:solidFill>
                <a:srgbClr val="0737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latin typeface="+mj-lt"/>
                  <a:ea typeface="Arial" charset="0"/>
                  <a:cs typeface="Calibri Light" panose="020F0302020204030204" pitchFamily="34" charset="0"/>
                </a:rPr>
                <a:t>Marketing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F3CB3E-4ABF-49A8-83AE-44C785C7285E}"/>
                </a:ext>
              </a:extLst>
            </p:cNvPr>
            <p:cNvSpPr/>
            <p:nvPr/>
          </p:nvSpPr>
          <p:spPr>
            <a:xfrm>
              <a:off x="2006411" y="1069269"/>
              <a:ext cx="701702" cy="733286"/>
            </a:xfrm>
            <a:prstGeom prst="rect">
              <a:avLst/>
            </a:prstGeom>
            <a:noFill/>
            <a:ln w="28575">
              <a:solidFill>
                <a:srgbClr val="0737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40 </a:t>
              </a:r>
              <a:r>
                <a:rPr lang="en-US" b="1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mn</a:t>
              </a:r>
              <a:endPara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FB4E70B-0885-4AFE-9AA1-7796EB045606}"/>
              </a:ext>
            </a:extLst>
          </p:cNvPr>
          <p:cNvSpPr/>
          <p:nvPr/>
        </p:nvSpPr>
        <p:spPr>
          <a:xfrm>
            <a:off x="5054668" y="1739407"/>
            <a:ext cx="3214750" cy="501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HK" sz="2000" b="1" i="1">
                <a:solidFill>
                  <a:schemeClr val="tx1"/>
                </a:solidFill>
              </a:rPr>
              <a:t>Cost breakdown..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E0480-53A1-4643-B5DB-C635BD83B233}"/>
              </a:ext>
            </a:extLst>
          </p:cNvPr>
          <p:cNvSpPr/>
          <p:nvPr/>
        </p:nvSpPr>
        <p:spPr>
          <a:xfrm>
            <a:off x="8297917" y="2468135"/>
            <a:ext cx="3594046" cy="656063"/>
          </a:xfrm>
          <a:prstGeom prst="rect">
            <a:avLst/>
          </a:prstGeom>
          <a:noFill/>
          <a:ln w="28575">
            <a:solidFill>
              <a:srgbClr val="073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rPr>
              <a:t>Billboard (offline), KOL partnership (online)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91697E-6BF6-4A07-9811-EBA5EC0C6AB0}"/>
              </a:ext>
            </a:extLst>
          </p:cNvPr>
          <p:cNvGrpSpPr/>
          <p:nvPr/>
        </p:nvGrpSpPr>
        <p:grpSpPr>
          <a:xfrm>
            <a:off x="5054668" y="3240788"/>
            <a:ext cx="3090849" cy="656063"/>
            <a:chOff x="465131" y="1069269"/>
            <a:chExt cx="2242982" cy="73328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70EA4F9-70EB-4E36-9EFC-D9B6BAFF89ED}"/>
                </a:ext>
              </a:extLst>
            </p:cNvPr>
            <p:cNvSpPr/>
            <p:nvPr/>
          </p:nvSpPr>
          <p:spPr>
            <a:xfrm>
              <a:off x="465131" y="1069269"/>
              <a:ext cx="1541280" cy="733286"/>
            </a:xfrm>
            <a:prstGeom prst="rect">
              <a:avLst/>
            </a:prstGeom>
            <a:solidFill>
              <a:srgbClr val="1782BF"/>
            </a:solidFill>
            <a:ln w="28575">
              <a:solidFill>
                <a:srgbClr val="1782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latin typeface="+mj-lt"/>
                  <a:ea typeface="Arial" charset="0"/>
                  <a:cs typeface="Calibri Light" panose="020F0302020204030204" pitchFamily="34" charset="0"/>
                </a:rPr>
                <a:t>R&amp;D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F93725-1A22-4661-8499-DCB46ECE9C90}"/>
                </a:ext>
              </a:extLst>
            </p:cNvPr>
            <p:cNvSpPr/>
            <p:nvPr/>
          </p:nvSpPr>
          <p:spPr>
            <a:xfrm>
              <a:off x="2006411" y="1069269"/>
              <a:ext cx="701702" cy="733286"/>
            </a:xfrm>
            <a:prstGeom prst="rect">
              <a:avLst/>
            </a:prstGeom>
            <a:noFill/>
            <a:ln w="28575">
              <a:solidFill>
                <a:srgbClr val="1782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30 </a:t>
              </a:r>
              <a:r>
                <a:rPr lang="en-US" b="1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mn</a:t>
              </a:r>
              <a:endPara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0E252E7-6042-4B92-9901-459181D6F382}"/>
              </a:ext>
            </a:extLst>
          </p:cNvPr>
          <p:cNvSpPr/>
          <p:nvPr/>
        </p:nvSpPr>
        <p:spPr>
          <a:xfrm>
            <a:off x="8297917" y="3240788"/>
            <a:ext cx="3594046" cy="656063"/>
          </a:xfrm>
          <a:prstGeom prst="rect">
            <a:avLst/>
          </a:prstGeom>
          <a:noFill/>
          <a:ln w="28575">
            <a:solidFill>
              <a:srgbClr val="178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rPr>
              <a:t>Development of new flavors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169C05-89BB-429A-B8B9-373107CC666E}"/>
              </a:ext>
            </a:extLst>
          </p:cNvPr>
          <p:cNvGrpSpPr/>
          <p:nvPr/>
        </p:nvGrpSpPr>
        <p:grpSpPr>
          <a:xfrm>
            <a:off x="5054668" y="4007320"/>
            <a:ext cx="3090849" cy="656063"/>
            <a:chOff x="465131" y="1069269"/>
            <a:chExt cx="2242982" cy="73328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DF0ED5-5F3C-4EB8-9A36-45D38834A972}"/>
                </a:ext>
              </a:extLst>
            </p:cNvPr>
            <p:cNvSpPr/>
            <p:nvPr/>
          </p:nvSpPr>
          <p:spPr>
            <a:xfrm>
              <a:off x="465131" y="1069269"/>
              <a:ext cx="1541280" cy="733286"/>
            </a:xfrm>
            <a:prstGeom prst="rect">
              <a:avLst/>
            </a:prstGeom>
            <a:solidFill>
              <a:srgbClr val="DCE6F4"/>
            </a:solidFill>
            <a:ln w="28575">
              <a:solidFill>
                <a:srgbClr val="DCE6F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solidFill>
                    <a:schemeClr val="tx1"/>
                  </a:solidFill>
                  <a:latin typeface="+mj-lt"/>
                  <a:ea typeface="Arial" charset="0"/>
                  <a:cs typeface="Calibri Light" panose="020F0302020204030204" pitchFamily="34" charset="0"/>
                </a:rPr>
                <a:t>HR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B6BD5D-76D5-46E3-A747-0A9D60CAC735}"/>
                </a:ext>
              </a:extLst>
            </p:cNvPr>
            <p:cNvSpPr/>
            <p:nvPr/>
          </p:nvSpPr>
          <p:spPr>
            <a:xfrm>
              <a:off x="2006411" y="1069269"/>
              <a:ext cx="701702" cy="733286"/>
            </a:xfrm>
            <a:prstGeom prst="rect">
              <a:avLst/>
            </a:prstGeom>
            <a:noFill/>
            <a:ln w="28575">
              <a:solidFill>
                <a:srgbClr val="DCE6F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15 </a:t>
              </a:r>
              <a:r>
                <a:rPr lang="en-US" b="1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mn</a:t>
              </a:r>
              <a:endPara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33A913E-F5FA-4BA3-A7FA-C7941C8C5786}"/>
              </a:ext>
            </a:extLst>
          </p:cNvPr>
          <p:cNvSpPr/>
          <p:nvPr/>
        </p:nvSpPr>
        <p:spPr>
          <a:xfrm>
            <a:off x="8297917" y="4007320"/>
            <a:ext cx="3594046" cy="656063"/>
          </a:xfrm>
          <a:prstGeom prst="rect">
            <a:avLst/>
          </a:prstGeom>
          <a:noFill/>
          <a:ln w="2857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rPr>
              <a:t>Hiring additional logistics personnel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550C91-B2E9-43C5-A918-D3F69B5BC788}"/>
              </a:ext>
            </a:extLst>
          </p:cNvPr>
          <p:cNvGrpSpPr/>
          <p:nvPr/>
        </p:nvGrpSpPr>
        <p:grpSpPr>
          <a:xfrm>
            <a:off x="5054668" y="4773852"/>
            <a:ext cx="3090849" cy="656063"/>
            <a:chOff x="465131" y="1069269"/>
            <a:chExt cx="2242982" cy="73328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00AD9F-29E4-4930-9BD7-2E8ECDD8E9A5}"/>
                </a:ext>
              </a:extLst>
            </p:cNvPr>
            <p:cNvSpPr/>
            <p:nvPr/>
          </p:nvSpPr>
          <p:spPr>
            <a:xfrm>
              <a:off x="465131" y="1069269"/>
              <a:ext cx="1541280" cy="733286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latin typeface="+mj-lt"/>
                  <a:ea typeface="Arial" charset="0"/>
                  <a:cs typeface="Calibri Light" panose="020F0302020204030204" pitchFamily="34" charset="0"/>
                </a:rPr>
                <a:t>Software development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4F974A-1C2F-4E63-8C48-13F04AF3F216}"/>
                </a:ext>
              </a:extLst>
            </p:cNvPr>
            <p:cNvSpPr/>
            <p:nvPr/>
          </p:nvSpPr>
          <p:spPr>
            <a:xfrm>
              <a:off x="2006411" y="1069269"/>
              <a:ext cx="701702" cy="73328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15 </a:t>
              </a:r>
              <a:r>
                <a:rPr lang="en-US" b="1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Arial" charset="0"/>
                  <a:cs typeface="Calibri" panose="020F0502020204030204" pitchFamily="34" charset="0"/>
                </a:rPr>
                <a:t>mn</a:t>
              </a:r>
              <a:endPara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F7C8EED9-6126-48F2-8B32-D10202089888}"/>
              </a:ext>
            </a:extLst>
          </p:cNvPr>
          <p:cNvSpPr/>
          <p:nvPr/>
        </p:nvSpPr>
        <p:spPr>
          <a:xfrm>
            <a:off x="8297917" y="4773852"/>
            <a:ext cx="3594046" cy="656063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Arial" charset="0"/>
                <a:cs typeface="Calibri" panose="020F0502020204030204" pitchFamily="34" charset="0"/>
              </a:rPr>
              <a:t>App UX/UI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794FDBF0-0D38-482E-967A-D698A6EA6DFB}"/>
              </a:ext>
            </a:extLst>
          </p:cNvPr>
          <p:cNvSpPr/>
          <p:nvPr/>
        </p:nvSpPr>
        <p:spPr>
          <a:xfrm>
            <a:off x="4553474" y="3685720"/>
            <a:ext cx="227546" cy="53382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9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755F5-A3EB-4D55-9722-447BECE709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0B9803-EF85-424E-9163-FFE019A7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Funnel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E2B00-B085-4348-8B56-35F841FB8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A29F5-7A41-4AF6-B5FF-185D7ED9D1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Market sizing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74F071-D79B-4518-97BD-FCB2B5AA108F}"/>
              </a:ext>
            </a:extLst>
          </p:cNvPr>
          <p:cNvGrpSpPr/>
          <p:nvPr/>
        </p:nvGrpSpPr>
        <p:grpSpPr>
          <a:xfrm>
            <a:off x="654873" y="1708250"/>
            <a:ext cx="4056830" cy="4530869"/>
            <a:chOff x="1908360" y="1499583"/>
            <a:chExt cx="4056830" cy="453086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2CB81D-15C5-4146-9ABA-4D90FF9A0EBF}"/>
                </a:ext>
              </a:extLst>
            </p:cNvPr>
            <p:cNvGrpSpPr/>
            <p:nvPr/>
          </p:nvGrpSpPr>
          <p:grpSpPr>
            <a:xfrm flipV="1">
              <a:off x="1908360" y="1499583"/>
              <a:ext cx="4056830" cy="3554782"/>
              <a:chOff x="2076196" y="2544477"/>
              <a:chExt cx="4056830" cy="3554782"/>
            </a:xfrm>
          </p:grpSpPr>
          <p:sp>
            <p:nvSpPr>
              <p:cNvPr id="11" name="Trapezoid 10">
                <a:extLst>
                  <a:ext uri="{FF2B5EF4-FFF2-40B4-BE49-F238E27FC236}">
                    <a16:creationId xmlns:a16="http://schemas.microsoft.com/office/drawing/2014/main" id="{4C3119E7-32BD-4443-978A-E2ECE40F0885}"/>
                  </a:ext>
                </a:extLst>
              </p:cNvPr>
              <p:cNvSpPr/>
              <p:nvPr/>
            </p:nvSpPr>
            <p:spPr>
              <a:xfrm>
                <a:off x="2076196" y="5486834"/>
                <a:ext cx="4056830" cy="612425"/>
              </a:xfrm>
              <a:prstGeom prst="trapezoid">
                <a:avLst>
                  <a:gd name="adj" fmla="val 48792"/>
                </a:avLst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rgbClr val="7F7F7F"/>
                  </a:solidFill>
                  <a:latin typeface="+mj-lt"/>
                </a:endParaRPr>
              </a:p>
            </p:txBody>
          </p:sp>
          <p:sp>
            <p:nvSpPr>
              <p:cNvPr id="12" name="Trapezoid 11">
                <a:extLst>
                  <a:ext uri="{FF2B5EF4-FFF2-40B4-BE49-F238E27FC236}">
                    <a16:creationId xmlns:a16="http://schemas.microsoft.com/office/drawing/2014/main" id="{F6855FC7-3798-40FE-9901-4C37592C73E9}"/>
                  </a:ext>
                </a:extLst>
              </p:cNvPr>
              <p:cNvSpPr/>
              <p:nvPr/>
            </p:nvSpPr>
            <p:spPr>
              <a:xfrm>
                <a:off x="2497027" y="4505109"/>
                <a:ext cx="3223298" cy="612425"/>
              </a:xfrm>
              <a:prstGeom prst="trapezoid">
                <a:avLst>
                  <a:gd name="adj" fmla="val 48792"/>
                </a:avLst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3" name="Trapezoid 12">
                <a:extLst>
                  <a:ext uri="{FF2B5EF4-FFF2-40B4-BE49-F238E27FC236}">
                    <a16:creationId xmlns:a16="http://schemas.microsoft.com/office/drawing/2014/main" id="{DAF14345-7AAF-4960-BEE3-548FD0310AE9}"/>
                  </a:ext>
                </a:extLst>
              </p:cNvPr>
              <p:cNvSpPr/>
              <p:nvPr/>
            </p:nvSpPr>
            <p:spPr>
              <a:xfrm>
                <a:off x="2909728" y="3526202"/>
                <a:ext cx="2415531" cy="612425"/>
              </a:xfrm>
              <a:prstGeom prst="trapezoid">
                <a:avLst>
                  <a:gd name="adj" fmla="val 48792"/>
                </a:avLst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4" name="Trapezoid 13">
                <a:extLst>
                  <a:ext uri="{FF2B5EF4-FFF2-40B4-BE49-F238E27FC236}">
                    <a16:creationId xmlns:a16="http://schemas.microsoft.com/office/drawing/2014/main" id="{D3FF3476-DEF8-462B-A430-3A13C1D9F54B}"/>
                  </a:ext>
                </a:extLst>
              </p:cNvPr>
              <p:cNvSpPr/>
              <p:nvPr/>
            </p:nvSpPr>
            <p:spPr>
              <a:xfrm>
                <a:off x="3304796" y="2547296"/>
                <a:ext cx="1642575" cy="612425"/>
              </a:xfrm>
              <a:prstGeom prst="trapezoid">
                <a:avLst>
                  <a:gd name="adj" fmla="val 48792"/>
                </a:avLst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" name="Trapezoid 27">
                <a:extLst>
                  <a:ext uri="{FF2B5EF4-FFF2-40B4-BE49-F238E27FC236}">
                    <a16:creationId xmlns:a16="http://schemas.microsoft.com/office/drawing/2014/main" id="{869F7D50-EAF0-447B-8FF2-3F24E85486D0}"/>
                  </a:ext>
                </a:extLst>
              </p:cNvPr>
              <p:cNvSpPr/>
              <p:nvPr/>
            </p:nvSpPr>
            <p:spPr>
              <a:xfrm>
                <a:off x="3304796" y="2544477"/>
                <a:ext cx="500887" cy="615242"/>
              </a:xfrm>
              <a:custGeom>
                <a:avLst/>
                <a:gdLst>
                  <a:gd name="connsiteX0" fmla="*/ 0 w 611450"/>
                  <a:gd name="connsiteY0" fmla="*/ 517495 h 517495"/>
                  <a:gd name="connsiteX1" fmla="*/ 252496 w 611450"/>
                  <a:gd name="connsiteY1" fmla="*/ 0 h 517495"/>
                  <a:gd name="connsiteX2" fmla="*/ 358954 w 611450"/>
                  <a:gd name="connsiteY2" fmla="*/ 0 h 517495"/>
                  <a:gd name="connsiteX3" fmla="*/ 611450 w 611450"/>
                  <a:gd name="connsiteY3" fmla="*/ 517495 h 517495"/>
                  <a:gd name="connsiteX4" fmla="*/ 0 w 611450"/>
                  <a:gd name="connsiteY4" fmla="*/ 517495 h 517495"/>
                  <a:gd name="connsiteX0" fmla="*/ 0 w 358954"/>
                  <a:gd name="connsiteY0" fmla="*/ 517495 h 519877"/>
                  <a:gd name="connsiteX1" fmla="*/ 252496 w 358954"/>
                  <a:gd name="connsiteY1" fmla="*/ 0 h 519877"/>
                  <a:gd name="connsiteX2" fmla="*/ 358954 w 358954"/>
                  <a:gd name="connsiteY2" fmla="*/ 0 h 519877"/>
                  <a:gd name="connsiteX3" fmla="*/ 289982 w 358954"/>
                  <a:gd name="connsiteY3" fmla="*/ 519877 h 519877"/>
                  <a:gd name="connsiteX4" fmla="*/ 0 w 358954"/>
                  <a:gd name="connsiteY4" fmla="*/ 517495 h 519877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9982 w 458966"/>
                  <a:gd name="connsiteY3" fmla="*/ 522258 h 522258"/>
                  <a:gd name="connsiteX4" fmla="*/ 0 w 458966"/>
                  <a:gd name="connsiteY4" fmla="*/ 519876 h 522258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0457 w 458966"/>
                  <a:gd name="connsiteY3" fmla="*/ 522258 h 522258"/>
                  <a:gd name="connsiteX4" fmla="*/ 0 w 458966"/>
                  <a:gd name="connsiteY4" fmla="*/ 519876 h 522258"/>
                  <a:gd name="connsiteX0" fmla="*/ 0 w 444678"/>
                  <a:gd name="connsiteY0" fmla="*/ 524638 h 527020"/>
                  <a:gd name="connsiteX1" fmla="*/ 252496 w 444678"/>
                  <a:gd name="connsiteY1" fmla="*/ 7143 h 527020"/>
                  <a:gd name="connsiteX2" fmla="*/ 444678 w 444678"/>
                  <a:gd name="connsiteY2" fmla="*/ 0 h 527020"/>
                  <a:gd name="connsiteX3" fmla="*/ 280457 w 444678"/>
                  <a:gd name="connsiteY3" fmla="*/ 527020 h 527020"/>
                  <a:gd name="connsiteX4" fmla="*/ 0 w 444678"/>
                  <a:gd name="connsiteY4" fmla="*/ 524638 h 527020"/>
                  <a:gd name="connsiteX0" fmla="*/ 0 w 423246"/>
                  <a:gd name="connsiteY0" fmla="*/ 519876 h 522258"/>
                  <a:gd name="connsiteX1" fmla="*/ 252496 w 423246"/>
                  <a:gd name="connsiteY1" fmla="*/ 2381 h 522258"/>
                  <a:gd name="connsiteX2" fmla="*/ 423246 w 423246"/>
                  <a:gd name="connsiteY2" fmla="*/ 0 h 522258"/>
                  <a:gd name="connsiteX3" fmla="*/ 280457 w 423246"/>
                  <a:gd name="connsiteY3" fmla="*/ 522258 h 522258"/>
                  <a:gd name="connsiteX4" fmla="*/ 0 w 423246"/>
                  <a:gd name="connsiteY4" fmla="*/ 519876 h 522258"/>
                  <a:gd name="connsiteX0" fmla="*/ 0 w 423246"/>
                  <a:gd name="connsiteY0" fmla="*/ 519876 h 519877"/>
                  <a:gd name="connsiteX1" fmla="*/ 252496 w 423246"/>
                  <a:gd name="connsiteY1" fmla="*/ 2381 h 519877"/>
                  <a:gd name="connsiteX2" fmla="*/ 423246 w 423246"/>
                  <a:gd name="connsiteY2" fmla="*/ 0 h 519877"/>
                  <a:gd name="connsiteX3" fmla="*/ 256645 w 423246"/>
                  <a:gd name="connsiteY3" fmla="*/ 519877 h 519877"/>
                  <a:gd name="connsiteX4" fmla="*/ 0 w 423246"/>
                  <a:gd name="connsiteY4" fmla="*/ 519876 h 519877"/>
                  <a:gd name="connsiteX0" fmla="*/ 0 w 423246"/>
                  <a:gd name="connsiteY0" fmla="*/ 519876 h 519876"/>
                  <a:gd name="connsiteX1" fmla="*/ 252496 w 423246"/>
                  <a:gd name="connsiteY1" fmla="*/ 2381 h 519876"/>
                  <a:gd name="connsiteX2" fmla="*/ 423246 w 423246"/>
                  <a:gd name="connsiteY2" fmla="*/ 0 h 519876"/>
                  <a:gd name="connsiteX3" fmla="*/ 266170 w 423246"/>
                  <a:gd name="connsiteY3" fmla="*/ 515115 h 519876"/>
                  <a:gd name="connsiteX4" fmla="*/ 0 w 423246"/>
                  <a:gd name="connsiteY4" fmla="*/ 519876 h 519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3246" h="519876">
                    <a:moveTo>
                      <a:pt x="0" y="519876"/>
                    </a:moveTo>
                    <a:lnTo>
                      <a:pt x="252496" y="2381"/>
                    </a:lnTo>
                    <a:lnTo>
                      <a:pt x="423246" y="0"/>
                    </a:lnTo>
                    <a:lnTo>
                      <a:pt x="266170" y="515115"/>
                    </a:lnTo>
                    <a:lnTo>
                      <a:pt x="0" y="519876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6" name="Trapezoid 27">
                <a:extLst>
                  <a:ext uri="{FF2B5EF4-FFF2-40B4-BE49-F238E27FC236}">
                    <a16:creationId xmlns:a16="http://schemas.microsoft.com/office/drawing/2014/main" id="{EC8B9F82-88DC-4EBF-ACEF-80EC037E8DB0}"/>
                  </a:ext>
                </a:extLst>
              </p:cNvPr>
              <p:cNvSpPr/>
              <p:nvPr/>
            </p:nvSpPr>
            <p:spPr>
              <a:xfrm>
                <a:off x="2909728" y="3523383"/>
                <a:ext cx="596701" cy="615244"/>
              </a:xfrm>
              <a:custGeom>
                <a:avLst/>
                <a:gdLst>
                  <a:gd name="connsiteX0" fmla="*/ 0 w 611450"/>
                  <a:gd name="connsiteY0" fmla="*/ 517495 h 517495"/>
                  <a:gd name="connsiteX1" fmla="*/ 252496 w 611450"/>
                  <a:gd name="connsiteY1" fmla="*/ 0 h 517495"/>
                  <a:gd name="connsiteX2" fmla="*/ 358954 w 611450"/>
                  <a:gd name="connsiteY2" fmla="*/ 0 h 517495"/>
                  <a:gd name="connsiteX3" fmla="*/ 611450 w 611450"/>
                  <a:gd name="connsiteY3" fmla="*/ 517495 h 517495"/>
                  <a:gd name="connsiteX4" fmla="*/ 0 w 611450"/>
                  <a:gd name="connsiteY4" fmla="*/ 517495 h 517495"/>
                  <a:gd name="connsiteX0" fmla="*/ 0 w 358954"/>
                  <a:gd name="connsiteY0" fmla="*/ 517495 h 519877"/>
                  <a:gd name="connsiteX1" fmla="*/ 252496 w 358954"/>
                  <a:gd name="connsiteY1" fmla="*/ 0 h 519877"/>
                  <a:gd name="connsiteX2" fmla="*/ 358954 w 358954"/>
                  <a:gd name="connsiteY2" fmla="*/ 0 h 519877"/>
                  <a:gd name="connsiteX3" fmla="*/ 289982 w 358954"/>
                  <a:gd name="connsiteY3" fmla="*/ 519877 h 519877"/>
                  <a:gd name="connsiteX4" fmla="*/ 0 w 358954"/>
                  <a:gd name="connsiteY4" fmla="*/ 517495 h 519877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9982 w 458966"/>
                  <a:gd name="connsiteY3" fmla="*/ 522258 h 522258"/>
                  <a:gd name="connsiteX4" fmla="*/ 0 w 458966"/>
                  <a:gd name="connsiteY4" fmla="*/ 519876 h 522258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0457 w 458966"/>
                  <a:gd name="connsiteY3" fmla="*/ 522258 h 522258"/>
                  <a:gd name="connsiteX4" fmla="*/ 0 w 458966"/>
                  <a:gd name="connsiteY4" fmla="*/ 519876 h 522258"/>
                  <a:gd name="connsiteX0" fmla="*/ 0 w 511353"/>
                  <a:gd name="connsiteY0" fmla="*/ 517495 h 519877"/>
                  <a:gd name="connsiteX1" fmla="*/ 252496 w 511353"/>
                  <a:gd name="connsiteY1" fmla="*/ 0 h 519877"/>
                  <a:gd name="connsiteX2" fmla="*/ 511353 w 511353"/>
                  <a:gd name="connsiteY2" fmla="*/ 2382 h 519877"/>
                  <a:gd name="connsiteX3" fmla="*/ 280457 w 511353"/>
                  <a:gd name="connsiteY3" fmla="*/ 519877 h 519877"/>
                  <a:gd name="connsiteX4" fmla="*/ 0 w 511353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280457 w 499447"/>
                  <a:gd name="connsiteY3" fmla="*/ 519877 h 519877"/>
                  <a:gd name="connsiteX4" fmla="*/ 0 w 499447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347132 w 499447"/>
                  <a:gd name="connsiteY3" fmla="*/ 519877 h 519877"/>
                  <a:gd name="connsiteX4" fmla="*/ 0 w 499447"/>
                  <a:gd name="connsiteY4" fmla="*/ 517495 h 519877"/>
                  <a:gd name="connsiteX0" fmla="*/ 0 w 504209"/>
                  <a:gd name="connsiteY0" fmla="*/ 517495 h 519877"/>
                  <a:gd name="connsiteX1" fmla="*/ 252496 w 504209"/>
                  <a:gd name="connsiteY1" fmla="*/ 0 h 519877"/>
                  <a:gd name="connsiteX2" fmla="*/ 504209 w 504209"/>
                  <a:gd name="connsiteY2" fmla="*/ 7145 h 519877"/>
                  <a:gd name="connsiteX3" fmla="*/ 347132 w 504209"/>
                  <a:gd name="connsiteY3" fmla="*/ 519877 h 519877"/>
                  <a:gd name="connsiteX4" fmla="*/ 0 w 504209"/>
                  <a:gd name="connsiteY4" fmla="*/ 517495 h 519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209" h="519877">
                    <a:moveTo>
                      <a:pt x="0" y="517495"/>
                    </a:moveTo>
                    <a:lnTo>
                      <a:pt x="252496" y="0"/>
                    </a:lnTo>
                    <a:lnTo>
                      <a:pt x="504209" y="7145"/>
                    </a:lnTo>
                    <a:lnTo>
                      <a:pt x="347132" y="519877"/>
                    </a:lnTo>
                    <a:lnTo>
                      <a:pt x="0" y="51749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7" name="Trapezoid 27">
                <a:extLst>
                  <a:ext uri="{FF2B5EF4-FFF2-40B4-BE49-F238E27FC236}">
                    <a16:creationId xmlns:a16="http://schemas.microsoft.com/office/drawing/2014/main" id="{E0EF9EBC-973F-4B06-948C-CFEB1888F4F4}"/>
                  </a:ext>
                </a:extLst>
              </p:cNvPr>
              <p:cNvSpPr/>
              <p:nvPr/>
            </p:nvSpPr>
            <p:spPr>
              <a:xfrm>
                <a:off x="2497029" y="4505109"/>
                <a:ext cx="706606" cy="612425"/>
              </a:xfrm>
              <a:custGeom>
                <a:avLst/>
                <a:gdLst>
                  <a:gd name="connsiteX0" fmla="*/ 0 w 611450"/>
                  <a:gd name="connsiteY0" fmla="*/ 517495 h 517495"/>
                  <a:gd name="connsiteX1" fmla="*/ 252496 w 611450"/>
                  <a:gd name="connsiteY1" fmla="*/ 0 h 517495"/>
                  <a:gd name="connsiteX2" fmla="*/ 358954 w 611450"/>
                  <a:gd name="connsiteY2" fmla="*/ 0 h 517495"/>
                  <a:gd name="connsiteX3" fmla="*/ 611450 w 611450"/>
                  <a:gd name="connsiteY3" fmla="*/ 517495 h 517495"/>
                  <a:gd name="connsiteX4" fmla="*/ 0 w 611450"/>
                  <a:gd name="connsiteY4" fmla="*/ 517495 h 517495"/>
                  <a:gd name="connsiteX0" fmla="*/ 0 w 358954"/>
                  <a:gd name="connsiteY0" fmla="*/ 517495 h 519877"/>
                  <a:gd name="connsiteX1" fmla="*/ 252496 w 358954"/>
                  <a:gd name="connsiteY1" fmla="*/ 0 h 519877"/>
                  <a:gd name="connsiteX2" fmla="*/ 358954 w 358954"/>
                  <a:gd name="connsiteY2" fmla="*/ 0 h 519877"/>
                  <a:gd name="connsiteX3" fmla="*/ 289982 w 358954"/>
                  <a:gd name="connsiteY3" fmla="*/ 519877 h 519877"/>
                  <a:gd name="connsiteX4" fmla="*/ 0 w 358954"/>
                  <a:gd name="connsiteY4" fmla="*/ 517495 h 519877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9982 w 458966"/>
                  <a:gd name="connsiteY3" fmla="*/ 522258 h 522258"/>
                  <a:gd name="connsiteX4" fmla="*/ 0 w 458966"/>
                  <a:gd name="connsiteY4" fmla="*/ 519876 h 522258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0457 w 458966"/>
                  <a:gd name="connsiteY3" fmla="*/ 522258 h 522258"/>
                  <a:gd name="connsiteX4" fmla="*/ 0 w 458966"/>
                  <a:gd name="connsiteY4" fmla="*/ 519876 h 522258"/>
                  <a:gd name="connsiteX0" fmla="*/ 0 w 511353"/>
                  <a:gd name="connsiteY0" fmla="*/ 517495 h 519877"/>
                  <a:gd name="connsiteX1" fmla="*/ 252496 w 511353"/>
                  <a:gd name="connsiteY1" fmla="*/ 0 h 519877"/>
                  <a:gd name="connsiteX2" fmla="*/ 511353 w 511353"/>
                  <a:gd name="connsiteY2" fmla="*/ 2382 h 519877"/>
                  <a:gd name="connsiteX3" fmla="*/ 280457 w 511353"/>
                  <a:gd name="connsiteY3" fmla="*/ 519877 h 519877"/>
                  <a:gd name="connsiteX4" fmla="*/ 0 w 511353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280457 w 499447"/>
                  <a:gd name="connsiteY3" fmla="*/ 519877 h 519877"/>
                  <a:gd name="connsiteX4" fmla="*/ 0 w 499447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347132 w 499447"/>
                  <a:gd name="connsiteY3" fmla="*/ 519877 h 519877"/>
                  <a:gd name="connsiteX4" fmla="*/ 0 w 499447"/>
                  <a:gd name="connsiteY4" fmla="*/ 517495 h 519877"/>
                  <a:gd name="connsiteX0" fmla="*/ 0 w 504209"/>
                  <a:gd name="connsiteY0" fmla="*/ 517495 h 519877"/>
                  <a:gd name="connsiteX1" fmla="*/ 252496 w 504209"/>
                  <a:gd name="connsiteY1" fmla="*/ 0 h 519877"/>
                  <a:gd name="connsiteX2" fmla="*/ 504209 w 504209"/>
                  <a:gd name="connsiteY2" fmla="*/ 7145 h 519877"/>
                  <a:gd name="connsiteX3" fmla="*/ 347132 w 504209"/>
                  <a:gd name="connsiteY3" fmla="*/ 519877 h 519877"/>
                  <a:gd name="connsiteX4" fmla="*/ 0 w 504209"/>
                  <a:gd name="connsiteY4" fmla="*/ 517495 h 519877"/>
                  <a:gd name="connsiteX0" fmla="*/ 0 w 597078"/>
                  <a:gd name="connsiteY0" fmla="*/ 517495 h 519877"/>
                  <a:gd name="connsiteX1" fmla="*/ 252496 w 597078"/>
                  <a:gd name="connsiteY1" fmla="*/ 0 h 519877"/>
                  <a:gd name="connsiteX2" fmla="*/ 597078 w 597078"/>
                  <a:gd name="connsiteY2" fmla="*/ 2383 h 519877"/>
                  <a:gd name="connsiteX3" fmla="*/ 347132 w 597078"/>
                  <a:gd name="connsiteY3" fmla="*/ 519877 h 519877"/>
                  <a:gd name="connsiteX4" fmla="*/ 0 w 597078"/>
                  <a:gd name="connsiteY4" fmla="*/ 517495 h 519877"/>
                  <a:gd name="connsiteX0" fmla="*/ 0 w 597078"/>
                  <a:gd name="connsiteY0" fmla="*/ 517495 h 517495"/>
                  <a:gd name="connsiteX1" fmla="*/ 252496 w 597078"/>
                  <a:gd name="connsiteY1" fmla="*/ 0 h 517495"/>
                  <a:gd name="connsiteX2" fmla="*/ 597078 w 597078"/>
                  <a:gd name="connsiteY2" fmla="*/ 2383 h 517495"/>
                  <a:gd name="connsiteX3" fmla="*/ 437619 w 597078"/>
                  <a:gd name="connsiteY3" fmla="*/ 515115 h 517495"/>
                  <a:gd name="connsiteX4" fmla="*/ 0 w 597078"/>
                  <a:gd name="connsiteY4" fmla="*/ 517495 h 517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078" h="517495">
                    <a:moveTo>
                      <a:pt x="0" y="517495"/>
                    </a:moveTo>
                    <a:lnTo>
                      <a:pt x="252496" y="0"/>
                    </a:lnTo>
                    <a:lnTo>
                      <a:pt x="597078" y="2383"/>
                    </a:lnTo>
                    <a:lnTo>
                      <a:pt x="437619" y="515115"/>
                    </a:lnTo>
                    <a:lnTo>
                      <a:pt x="0" y="51749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8" name="Trapezoid 27">
                <a:extLst>
                  <a:ext uri="{FF2B5EF4-FFF2-40B4-BE49-F238E27FC236}">
                    <a16:creationId xmlns:a16="http://schemas.microsoft.com/office/drawing/2014/main" id="{467AE5F3-AE55-4AB6-A79C-692AD5925368}"/>
                  </a:ext>
                </a:extLst>
              </p:cNvPr>
              <p:cNvSpPr/>
              <p:nvPr/>
            </p:nvSpPr>
            <p:spPr>
              <a:xfrm>
                <a:off x="2076196" y="5484015"/>
                <a:ext cx="827784" cy="615244"/>
              </a:xfrm>
              <a:custGeom>
                <a:avLst/>
                <a:gdLst>
                  <a:gd name="connsiteX0" fmla="*/ 0 w 611450"/>
                  <a:gd name="connsiteY0" fmla="*/ 517495 h 517495"/>
                  <a:gd name="connsiteX1" fmla="*/ 252496 w 611450"/>
                  <a:gd name="connsiteY1" fmla="*/ 0 h 517495"/>
                  <a:gd name="connsiteX2" fmla="*/ 358954 w 611450"/>
                  <a:gd name="connsiteY2" fmla="*/ 0 h 517495"/>
                  <a:gd name="connsiteX3" fmla="*/ 611450 w 611450"/>
                  <a:gd name="connsiteY3" fmla="*/ 517495 h 517495"/>
                  <a:gd name="connsiteX4" fmla="*/ 0 w 611450"/>
                  <a:gd name="connsiteY4" fmla="*/ 517495 h 517495"/>
                  <a:gd name="connsiteX0" fmla="*/ 0 w 358954"/>
                  <a:gd name="connsiteY0" fmla="*/ 517495 h 519877"/>
                  <a:gd name="connsiteX1" fmla="*/ 252496 w 358954"/>
                  <a:gd name="connsiteY1" fmla="*/ 0 h 519877"/>
                  <a:gd name="connsiteX2" fmla="*/ 358954 w 358954"/>
                  <a:gd name="connsiteY2" fmla="*/ 0 h 519877"/>
                  <a:gd name="connsiteX3" fmla="*/ 289982 w 358954"/>
                  <a:gd name="connsiteY3" fmla="*/ 519877 h 519877"/>
                  <a:gd name="connsiteX4" fmla="*/ 0 w 358954"/>
                  <a:gd name="connsiteY4" fmla="*/ 517495 h 519877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9982 w 458966"/>
                  <a:gd name="connsiteY3" fmla="*/ 522258 h 522258"/>
                  <a:gd name="connsiteX4" fmla="*/ 0 w 458966"/>
                  <a:gd name="connsiteY4" fmla="*/ 519876 h 522258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0457 w 458966"/>
                  <a:gd name="connsiteY3" fmla="*/ 522258 h 522258"/>
                  <a:gd name="connsiteX4" fmla="*/ 0 w 458966"/>
                  <a:gd name="connsiteY4" fmla="*/ 519876 h 522258"/>
                  <a:gd name="connsiteX0" fmla="*/ 0 w 511353"/>
                  <a:gd name="connsiteY0" fmla="*/ 517495 h 519877"/>
                  <a:gd name="connsiteX1" fmla="*/ 252496 w 511353"/>
                  <a:gd name="connsiteY1" fmla="*/ 0 h 519877"/>
                  <a:gd name="connsiteX2" fmla="*/ 511353 w 511353"/>
                  <a:gd name="connsiteY2" fmla="*/ 2382 h 519877"/>
                  <a:gd name="connsiteX3" fmla="*/ 280457 w 511353"/>
                  <a:gd name="connsiteY3" fmla="*/ 519877 h 519877"/>
                  <a:gd name="connsiteX4" fmla="*/ 0 w 511353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280457 w 499447"/>
                  <a:gd name="connsiteY3" fmla="*/ 519877 h 519877"/>
                  <a:gd name="connsiteX4" fmla="*/ 0 w 499447"/>
                  <a:gd name="connsiteY4" fmla="*/ 517495 h 519877"/>
                  <a:gd name="connsiteX0" fmla="*/ 0 w 499447"/>
                  <a:gd name="connsiteY0" fmla="*/ 517495 h 519877"/>
                  <a:gd name="connsiteX1" fmla="*/ 252496 w 499447"/>
                  <a:gd name="connsiteY1" fmla="*/ 0 h 519877"/>
                  <a:gd name="connsiteX2" fmla="*/ 499447 w 499447"/>
                  <a:gd name="connsiteY2" fmla="*/ 9526 h 519877"/>
                  <a:gd name="connsiteX3" fmla="*/ 347132 w 499447"/>
                  <a:gd name="connsiteY3" fmla="*/ 519877 h 519877"/>
                  <a:gd name="connsiteX4" fmla="*/ 0 w 499447"/>
                  <a:gd name="connsiteY4" fmla="*/ 517495 h 519877"/>
                  <a:gd name="connsiteX0" fmla="*/ 0 w 504209"/>
                  <a:gd name="connsiteY0" fmla="*/ 517495 h 519877"/>
                  <a:gd name="connsiteX1" fmla="*/ 252496 w 504209"/>
                  <a:gd name="connsiteY1" fmla="*/ 0 h 519877"/>
                  <a:gd name="connsiteX2" fmla="*/ 504209 w 504209"/>
                  <a:gd name="connsiteY2" fmla="*/ 7145 h 519877"/>
                  <a:gd name="connsiteX3" fmla="*/ 347132 w 504209"/>
                  <a:gd name="connsiteY3" fmla="*/ 519877 h 519877"/>
                  <a:gd name="connsiteX4" fmla="*/ 0 w 504209"/>
                  <a:gd name="connsiteY4" fmla="*/ 517495 h 519877"/>
                  <a:gd name="connsiteX0" fmla="*/ 0 w 597078"/>
                  <a:gd name="connsiteY0" fmla="*/ 517495 h 519877"/>
                  <a:gd name="connsiteX1" fmla="*/ 252496 w 597078"/>
                  <a:gd name="connsiteY1" fmla="*/ 0 h 519877"/>
                  <a:gd name="connsiteX2" fmla="*/ 597078 w 597078"/>
                  <a:gd name="connsiteY2" fmla="*/ 2383 h 519877"/>
                  <a:gd name="connsiteX3" fmla="*/ 347132 w 597078"/>
                  <a:gd name="connsiteY3" fmla="*/ 519877 h 519877"/>
                  <a:gd name="connsiteX4" fmla="*/ 0 w 597078"/>
                  <a:gd name="connsiteY4" fmla="*/ 517495 h 519877"/>
                  <a:gd name="connsiteX0" fmla="*/ 0 w 597078"/>
                  <a:gd name="connsiteY0" fmla="*/ 517495 h 517495"/>
                  <a:gd name="connsiteX1" fmla="*/ 252496 w 597078"/>
                  <a:gd name="connsiteY1" fmla="*/ 0 h 517495"/>
                  <a:gd name="connsiteX2" fmla="*/ 597078 w 597078"/>
                  <a:gd name="connsiteY2" fmla="*/ 2383 h 517495"/>
                  <a:gd name="connsiteX3" fmla="*/ 437619 w 597078"/>
                  <a:gd name="connsiteY3" fmla="*/ 515115 h 517495"/>
                  <a:gd name="connsiteX4" fmla="*/ 0 w 597078"/>
                  <a:gd name="connsiteY4" fmla="*/ 517495 h 517495"/>
                  <a:gd name="connsiteX0" fmla="*/ 0 w 699472"/>
                  <a:gd name="connsiteY0" fmla="*/ 517495 h 517495"/>
                  <a:gd name="connsiteX1" fmla="*/ 252496 w 699472"/>
                  <a:gd name="connsiteY1" fmla="*/ 0 h 517495"/>
                  <a:gd name="connsiteX2" fmla="*/ 699472 w 699472"/>
                  <a:gd name="connsiteY2" fmla="*/ 2 h 517495"/>
                  <a:gd name="connsiteX3" fmla="*/ 437619 w 699472"/>
                  <a:gd name="connsiteY3" fmla="*/ 515115 h 517495"/>
                  <a:gd name="connsiteX4" fmla="*/ 0 w 699472"/>
                  <a:gd name="connsiteY4" fmla="*/ 517495 h 517495"/>
                  <a:gd name="connsiteX0" fmla="*/ 0 w 699472"/>
                  <a:gd name="connsiteY0" fmla="*/ 517495 h 519877"/>
                  <a:gd name="connsiteX1" fmla="*/ 252496 w 699472"/>
                  <a:gd name="connsiteY1" fmla="*/ 0 h 519877"/>
                  <a:gd name="connsiteX2" fmla="*/ 699472 w 699472"/>
                  <a:gd name="connsiteY2" fmla="*/ 2 h 519877"/>
                  <a:gd name="connsiteX3" fmla="*/ 542394 w 699472"/>
                  <a:gd name="connsiteY3" fmla="*/ 519877 h 519877"/>
                  <a:gd name="connsiteX4" fmla="*/ 0 w 699472"/>
                  <a:gd name="connsiteY4" fmla="*/ 517495 h 519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9472" h="519877">
                    <a:moveTo>
                      <a:pt x="0" y="517495"/>
                    </a:moveTo>
                    <a:lnTo>
                      <a:pt x="252496" y="0"/>
                    </a:lnTo>
                    <a:lnTo>
                      <a:pt x="699472" y="2"/>
                    </a:lnTo>
                    <a:lnTo>
                      <a:pt x="542394" y="519877"/>
                    </a:lnTo>
                    <a:lnTo>
                      <a:pt x="0" y="51749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4050D2-B39D-4172-80B6-72448FA3FF85}"/>
                </a:ext>
              </a:extLst>
            </p:cNvPr>
            <p:cNvGrpSpPr/>
            <p:nvPr/>
          </p:nvGrpSpPr>
          <p:grpSpPr>
            <a:xfrm>
              <a:off x="3136960" y="5415208"/>
              <a:ext cx="1642575" cy="615244"/>
              <a:chOff x="3136960" y="5415208"/>
              <a:chExt cx="1642575" cy="615244"/>
            </a:xfrm>
          </p:grpSpPr>
          <p:sp>
            <p:nvSpPr>
              <p:cNvPr id="9" name="Trapezoid 8">
                <a:extLst>
                  <a:ext uri="{FF2B5EF4-FFF2-40B4-BE49-F238E27FC236}">
                    <a16:creationId xmlns:a16="http://schemas.microsoft.com/office/drawing/2014/main" id="{8BFC2AED-038D-4C10-908F-424415E6968F}"/>
                  </a:ext>
                </a:extLst>
              </p:cNvPr>
              <p:cNvSpPr/>
              <p:nvPr/>
            </p:nvSpPr>
            <p:spPr>
              <a:xfrm>
                <a:off x="3136960" y="5415208"/>
                <a:ext cx="1642575" cy="612425"/>
              </a:xfrm>
              <a:prstGeom prst="trapezoid">
                <a:avLst>
                  <a:gd name="adj" fmla="val 48792"/>
                </a:avLst>
              </a:prstGeom>
              <a:solidFill>
                <a:srgbClr val="E87E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0" name="Trapezoid 27">
                <a:extLst>
                  <a:ext uri="{FF2B5EF4-FFF2-40B4-BE49-F238E27FC236}">
                    <a16:creationId xmlns:a16="http://schemas.microsoft.com/office/drawing/2014/main" id="{99E3B1CE-9808-4C8C-830E-1B194B3057E3}"/>
                  </a:ext>
                </a:extLst>
              </p:cNvPr>
              <p:cNvSpPr/>
              <p:nvPr/>
            </p:nvSpPr>
            <p:spPr>
              <a:xfrm>
                <a:off x="3136960" y="5415210"/>
                <a:ext cx="500887" cy="615242"/>
              </a:xfrm>
              <a:custGeom>
                <a:avLst/>
                <a:gdLst>
                  <a:gd name="connsiteX0" fmla="*/ 0 w 611450"/>
                  <a:gd name="connsiteY0" fmla="*/ 517495 h 517495"/>
                  <a:gd name="connsiteX1" fmla="*/ 252496 w 611450"/>
                  <a:gd name="connsiteY1" fmla="*/ 0 h 517495"/>
                  <a:gd name="connsiteX2" fmla="*/ 358954 w 611450"/>
                  <a:gd name="connsiteY2" fmla="*/ 0 h 517495"/>
                  <a:gd name="connsiteX3" fmla="*/ 611450 w 611450"/>
                  <a:gd name="connsiteY3" fmla="*/ 517495 h 517495"/>
                  <a:gd name="connsiteX4" fmla="*/ 0 w 611450"/>
                  <a:gd name="connsiteY4" fmla="*/ 517495 h 517495"/>
                  <a:gd name="connsiteX0" fmla="*/ 0 w 358954"/>
                  <a:gd name="connsiteY0" fmla="*/ 517495 h 519877"/>
                  <a:gd name="connsiteX1" fmla="*/ 252496 w 358954"/>
                  <a:gd name="connsiteY1" fmla="*/ 0 h 519877"/>
                  <a:gd name="connsiteX2" fmla="*/ 358954 w 358954"/>
                  <a:gd name="connsiteY2" fmla="*/ 0 h 519877"/>
                  <a:gd name="connsiteX3" fmla="*/ 289982 w 358954"/>
                  <a:gd name="connsiteY3" fmla="*/ 519877 h 519877"/>
                  <a:gd name="connsiteX4" fmla="*/ 0 w 358954"/>
                  <a:gd name="connsiteY4" fmla="*/ 517495 h 519877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9982 w 458966"/>
                  <a:gd name="connsiteY3" fmla="*/ 522258 h 522258"/>
                  <a:gd name="connsiteX4" fmla="*/ 0 w 458966"/>
                  <a:gd name="connsiteY4" fmla="*/ 519876 h 522258"/>
                  <a:gd name="connsiteX0" fmla="*/ 0 w 458966"/>
                  <a:gd name="connsiteY0" fmla="*/ 519876 h 522258"/>
                  <a:gd name="connsiteX1" fmla="*/ 252496 w 458966"/>
                  <a:gd name="connsiteY1" fmla="*/ 2381 h 522258"/>
                  <a:gd name="connsiteX2" fmla="*/ 458966 w 458966"/>
                  <a:gd name="connsiteY2" fmla="*/ 0 h 522258"/>
                  <a:gd name="connsiteX3" fmla="*/ 280457 w 458966"/>
                  <a:gd name="connsiteY3" fmla="*/ 522258 h 522258"/>
                  <a:gd name="connsiteX4" fmla="*/ 0 w 458966"/>
                  <a:gd name="connsiteY4" fmla="*/ 519876 h 522258"/>
                  <a:gd name="connsiteX0" fmla="*/ 0 w 444678"/>
                  <a:gd name="connsiteY0" fmla="*/ 524638 h 527020"/>
                  <a:gd name="connsiteX1" fmla="*/ 252496 w 444678"/>
                  <a:gd name="connsiteY1" fmla="*/ 7143 h 527020"/>
                  <a:gd name="connsiteX2" fmla="*/ 444678 w 444678"/>
                  <a:gd name="connsiteY2" fmla="*/ 0 h 527020"/>
                  <a:gd name="connsiteX3" fmla="*/ 280457 w 444678"/>
                  <a:gd name="connsiteY3" fmla="*/ 527020 h 527020"/>
                  <a:gd name="connsiteX4" fmla="*/ 0 w 444678"/>
                  <a:gd name="connsiteY4" fmla="*/ 524638 h 527020"/>
                  <a:gd name="connsiteX0" fmla="*/ 0 w 423246"/>
                  <a:gd name="connsiteY0" fmla="*/ 519876 h 522258"/>
                  <a:gd name="connsiteX1" fmla="*/ 252496 w 423246"/>
                  <a:gd name="connsiteY1" fmla="*/ 2381 h 522258"/>
                  <a:gd name="connsiteX2" fmla="*/ 423246 w 423246"/>
                  <a:gd name="connsiteY2" fmla="*/ 0 h 522258"/>
                  <a:gd name="connsiteX3" fmla="*/ 280457 w 423246"/>
                  <a:gd name="connsiteY3" fmla="*/ 522258 h 522258"/>
                  <a:gd name="connsiteX4" fmla="*/ 0 w 423246"/>
                  <a:gd name="connsiteY4" fmla="*/ 519876 h 522258"/>
                  <a:gd name="connsiteX0" fmla="*/ 0 w 423246"/>
                  <a:gd name="connsiteY0" fmla="*/ 519876 h 519877"/>
                  <a:gd name="connsiteX1" fmla="*/ 252496 w 423246"/>
                  <a:gd name="connsiteY1" fmla="*/ 2381 h 519877"/>
                  <a:gd name="connsiteX2" fmla="*/ 423246 w 423246"/>
                  <a:gd name="connsiteY2" fmla="*/ 0 h 519877"/>
                  <a:gd name="connsiteX3" fmla="*/ 256645 w 423246"/>
                  <a:gd name="connsiteY3" fmla="*/ 519877 h 519877"/>
                  <a:gd name="connsiteX4" fmla="*/ 0 w 423246"/>
                  <a:gd name="connsiteY4" fmla="*/ 519876 h 519877"/>
                  <a:gd name="connsiteX0" fmla="*/ 0 w 423246"/>
                  <a:gd name="connsiteY0" fmla="*/ 519876 h 519876"/>
                  <a:gd name="connsiteX1" fmla="*/ 252496 w 423246"/>
                  <a:gd name="connsiteY1" fmla="*/ 2381 h 519876"/>
                  <a:gd name="connsiteX2" fmla="*/ 423246 w 423246"/>
                  <a:gd name="connsiteY2" fmla="*/ 0 h 519876"/>
                  <a:gd name="connsiteX3" fmla="*/ 266170 w 423246"/>
                  <a:gd name="connsiteY3" fmla="*/ 515115 h 519876"/>
                  <a:gd name="connsiteX4" fmla="*/ 0 w 423246"/>
                  <a:gd name="connsiteY4" fmla="*/ 519876 h 519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3246" h="519876">
                    <a:moveTo>
                      <a:pt x="0" y="519876"/>
                    </a:moveTo>
                    <a:lnTo>
                      <a:pt x="252496" y="2381"/>
                    </a:lnTo>
                    <a:lnTo>
                      <a:pt x="423246" y="0"/>
                    </a:lnTo>
                    <a:lnTo>
                      <a:pt x="266170" y="515115"/>
                    </a:lnTo>
                    <a:lnTo>
                      <a:pt x="0" y="519876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A565DF-6FED-410B-869C-ABDB2E526D5E}"/>
              </a:ext>
            </a:extLst>
          </p:cNvPr>
          <p:cNvGrpSpPr/>
          <p:nvPr/>
        </p:nvGrpSpPr>
        <p:grpSpPr>
          <a:xfrm>
            <a:off x="3692582" y="2997256"/>
            <a:ext cx="991417" cy="919346"/>
            <a:chOff x="5364933" y="1808614"/>
            <a:chExt cx="991417" cy="91934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689395-0B70-43B1-8BB6-DF62FD18A01C}"/>
                </a:ext>
              </a:extLst>
            </p:cNvPr>
            <p:cNvCxnSpPr>
              <a:cxnSpLocks/>
            </p:cNvCxnSpPr>
            <p:nvPr/>
          </p:nvCxnSpPr>
          <p:spPr>
            <a:xfrm>
              <a:off x="5815783" y="1808614"/>
              <a:ext cx="5405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C0C68A2-5A29-4F20-A865-B480A388613A}"/>
                </a:ext>
              </a:extLst>
            </p:cNvPr>
            <p:cNvCxnSpPr>
              <a:cxnSpLocks/>
            </p:cNvCxnSpPr>
            <p:nvPr/>
          </p:nvCxnSpPr>
          <p:spPr>
            <a:xfrm>
              <a:off x="5364933" y="2724602"/>
              <a:ext cx="9914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F9CA62-B081-4274-8FAE-0571A5C4B2EF}"/>
                </a:ext>
              </a:extLst>
            </p:cNvPr>
            <p:cNvCxnSpPr>
              <a:cxnSpLocks/>
            </p:cNvCxnSpPr>
            <p:nvPr/>
          </p:nvCxnSpPr>
          <p:spPr>
            <a:xfrm>
              <a:off x="6344182" y="1808614"/>
              <a:ext cx="0" cy="9193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F4655E-1E79-4163-82EF-3FA6A101AB71}"/>
              </a:ext>
            </a:extLst>
          </p:cNvPr>
          <p:cNvGrpSpPr/>
          <p:nvPr/>
        </p:nvGrpSpPr>
        <p:grpSpPr>
          <a:xfrm>
            <a:off x="3294084" y="3981204"/>
            <a:ext cx="991417" cy="919346"/>
            <a:chOff x="5364933" y="1808614"/>
            <a:chExt cx="991417" cy="91934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250A1F6-7C70-4094-8451-688AFF07F19D}"/>
                </a:ext>
              </a:extLst>
            </p:cNvPr>
            <p:cNvCxnSpPr>
              <a:cxnSpLocks/>
            </p:cNvCxnSpPr>
            <p:nvPr/>
          </p:nvCxnSpPr>
          <p:spPr>
            <a:xfrm>
              <a:off x="5815783" y="1808614"/>
              <a:ext cx="5405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69DED03-4685-4DBC-AC25-38752B19AF25}"/>
                </a:ext>
              </a:extLst>
            </p:cNvPr>
            <p:cNvCxnSpPr>
              <a:cxnSpLocks/>
            </p:cNvCxnSpPr>
            <p:nvPr/>
          </p:nvCxnSpPr>
          <p:spPr>
            <a:xfrm>
              <a:off x="5364933" y="2724602"/>
              <a:ext cx="9914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105FBD-378F-4AD1-9933-8252542DB0D3}"/>
                </a:ext>
              </a:extLst>
            </p:cNvPr>
            <p:cNvCxnSpPr>
              <a:cxnSpLocks/>
            </p:cNvCxnSpPr>
            <p:nvPr/>
          </p:nvCxnSpPr>
          <p:spPr>
            <a:xfrm>
              <a:off x="6344182" y="1808614"/>
              <a:ext cx="0" cy="9193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A6FE19B-644C-4C4E-9F08-B4FB68034026}"/>
              </a:ext>
            </a:extLst>
          </p:cNvPr>
          <p:cNvSpPr/>
          <p:nvPr/>
        </p:nvSpPr>
        <p:spPr>
          <a:xfrm>
            <a:off x="1856039" y="1707711"/>
            <a:ext cx="1667592" cy="61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Awareness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B6E297-38AB-4501-9DC0-32910424FC9C}"/>
              </a:ext>
            </a:extLst>
          </p:cNvPr>
          <p:cNvSpPr/>
          <p:nvPr/>
        </p:nvSpPr>
        <p:spPr>
          <a:xfrm>
            <a:off x="2035357" y="2689975"/>
            <a:ext cx="1308956" cy="61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Interest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6DCDB5-941D-4B43-9C74-0F8A47170B5C}"/>
              </a:ext>
            </a:extLst>
          </p:cNvPr>
          <p:cNvSpPr/>
          <p:nvPr/>
        </p:nvSpPr>
        <p:spPr>
          <a:xfrm>
            <a:off x="1834130" y="3663241"/>
            <a:ext cx="1711410" cy="61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Engagement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63F7C7-8398-4CBC-8222-A2520945B171}"/>
              </a:ext>
            </a:extLst>
          </p:cNvPr>
          <p:cNvSpPr/>
          <p:nvPr/>
        </p:nvSpPr>
        <p:spPr>
          <a:xfrm>
            <a:off x="2035357" y="4653439"/>
            <a:ext cx="1308956" cy="61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Repeat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4919E4-A5CA-4921-92B4-077CBC0A5FB2}"/>
              </a:ext>
            </a:extLst>
          </p:cNvPr>
          <p:cNvSpPr/>
          <p:nvPr/>
        </p:nvSpPr>
        <p:spPr>
          <a:xfrm>
            <a:off x="2035357" y="5618226"/>
            <a:ext cx="1308956" cy="612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>
                <a:solidFill>
                  <a:schemeClr val="bg1"/>
                </a:solidFill>
                <a:latin typeface="+mj-lt"/>
              </a:rPr>
              <a:t>Advocacy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D499FB9-DABF-4276-8B0B-2D172F8B9571}"/>
              </a:ext>
            </a:extLst>
          </p:cNvPr>
          <p:cNvSpPr/>
          <p:nvPr/>
        </p:nvSpPr>
        <p:spPr>
          <a:xfrm>
            <a:off x="4144623" y="3191377"/>
            <a:ext cx="1363133" cy="5635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b="1">
                <a:solidFill>
                  <a:schemeClr val="tx1"/>
                </a:solidFill>
                <a:latin typeface="+mj-lt"/>
              </a:rPr>
              <a:t>50%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32F3A6-850F-4BD0-9B2E-DD0AB66C5033}"/>
              </a:ext>
            </a:extLst>
          </p:cNvPr>
          <p:cNvSpPr/>
          <p:nvPr/>
        </p:nvSpPr>
        <p:spPr>
          <a:xfrm>
            <a:off x="3664104" y="4181063"/>
            <a:ext cx="1363133" cy="5635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b="1">
                <a:solidFill>
                  <a:schemeClr val="tx1"/>
                </a:solidFill>
                <a:latin typeface="+mj-lt"/>
              </a:rPr>
              <a:t>90%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B3F4F6-0D8D-410F-A764-4430E7C7858B}"/>
              </a:ext>
            </a:extLst>
          </p:cNvPr>
          <p:cNvGrpSpPr/>
          <p:nvPr/>
        </p:nvGrpSpPr>
        <p:grpSpPr>
          <a:xfrm flipV="1">
            <a:off x="3281916" y="4970438"/>
            <a:ext cx="991417" cy="919331"/>
            <a:chOff x="5364933" y="1808614"/>
            <a:chExt cx="991417" cy="91934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089ABB5-B2D2-47FD-AF38-95DE0BF55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4933" y="1808614"/>
              <a:ext cx="9914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2A7C530-7801-40E1-8302-85856A7AE271}"/>
                </a:ext>
              </a:extLst>
            </p:cNvPr>
            <p:cNvCxnSpPr>
              <a:cxnSpLocks/>
            </p:cNvCxnSpPr>
            <p:nvPr/>
          </p:nvCxnSpPr>
          <p:spPr>
            <a:xfrm>
              <a:off x="5364933" y="2724602"/>
              <a:ext cx="9914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3F73CDD-3FBF-4B7C-A227-84F25A08ECA4}"/>
                </a:ext>
              </a:extLst>
            </p:cNvPr>
            <p:cNvCxnSpPr>
              <a:cxnSpLocks/>
            </p:cNvCxnSpPr>
            <p:nvPr/>
          </p:nvCxnSpPr>
          <p:spPr>
            <a:xfrm>
              <a:off x="6344182" y="1808614"/>
              <a:ext cx="0" cy="9193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2F9D135-5CDB-4FC7-9C54-8FBC4C276932}"/>
              </a:ext>
            </a:extLst>
          </p:cNvPr>
          <p:cNvSpPr/>
          <p:nvPr/>
        </p:nvSpPr>
        <p:spPr>
          <a:xfrm>
            <a:off x="3664104" y="5140008"/>
            <a:ext cx="1363133" cy="5635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b="1">
                <a:solidFill>
                  <a:schemeClr val="tx1"/>
                </a:solidFill>
                <a:latin typeface="+mj-lt"/>
              </a:rPr>
              <a:t>x 1.5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C2ECBC7-56D1-40EC-A010-F3094D959A1A}"/>
              </a:ext>
            </a:extLst>
          </p:cNvPr>
          <p:cNvGrpSpPr/>
          <p:nvPr/>
        </p:nvGrpSpPr>
        <p:grpSpPr>
          <a:xfrm>
            <a:off x="4103748" y="2018614"/>
            <a:ext cx="991417" cy="919346"/>
            <a:chOff x="5364933" y="1808614"/>
            <a:chExt cx="991417" cy="91934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0EAF487-6C8B-4BDC-B5BE-D87AB14CF649}"/>
                </a:ext>
              </a:extLst>
            </p:cNvPr>
            <p:cNvCxnSpPr>
              <a:cxnSpLocks/>
            </p:cNvCxnSpPr>
            <p:nvPr/>
          </p:nvCxnSpPr>
          <p:spPr>
            <a:xfrm>
              <a:off x="5815783" y="1808614"/>
              <a:ext cx="5405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CDFC666-EDE3-497F-8DAF-404354EB832E}"/>
                </a:ext>
              </a:extLst>
            </p:cNvPr>
            <p:cNvCxnSpPr>
              <a:cxnSpLocks/>
            </p:cNvCxnSpPr>
            <p:nvPr/>
          </p:nvCxnSpPr>
          <p:spPr>
            <a:xfrm>
              <a:off x="5364933" y="2724602"/>
              <a:ext cx="9914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ED42984-2FBE-4260-B062-37400E26A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44182" y="1808614"/>
              <a:ext cx="0" cy="9193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F654531A-8EA2-41F1-B5FE-3A19B55F567E}"/>
              </a:ext>
            </a:extLst>
          </p:cNvPr>
          <p:cNvSpPr/>
          <p:nvPr/>
        </p:nvSpPr>
        <p:spPr>
          <a:xfrm>
            <a:off x="4555789" y="2212735"/>
            <a:ext cx="1363133" cy="5635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b="1">
                <a:solidFill>
                  <a:schemeClr val="tx1"/>
                </a:solidFill>
                <a:latin typeface="+mj-lt"/>
              </a:rPr>
              <a:t>25%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FA4851-A162-48E9-BC6B-FBD5546E9EE6}"/>
              </a:ext>
            </a:extLst>
          </p:cNvPr>
          <p:cNvGrpSpPr/>
          <p:nvPr/>
        </p:nvGrpSpPr>
        <p:grpSpPr>
          <a:xfrm>
            <a:off x="419380" y="1190273"/>
            <a:ext cx="5557253" cy="376041"/>
            <a:chOff x="533400" y="1316950"/>
            <a:chExt cx="4997520" cy="3760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6B8966-943E-40C0-AD50-558EBCA63D30}"/>
                </a:ext>
              </a:extLst>
            </p:cNvPr>
            <p:cNvCxnSpPr/>
            <p:nvPr/>
          </p:nvCxnSpPr>
          <p:spPr>
            <a:xfrm>
              <a:off x="533400" y="1689100"/>
              <a:ext cx="499752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CD5E947-DDA1-444E-949A-55F84B53BC45}"/>
                </a:ext>
              </a:extLst>
            </p:cNvPr>
            <p:cNvSpPr/>
            <p:nvPr/>
          </p:nvSpPr>
          <p:spPr>
            <a:xfrm>
              <a:off x="533400" y="1316950"/>
              <a:ext cx="4997520" cy="376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HK">
                  <a:solidFill>
                    <a:schemeClr val="tx1"/>
                  </a:solidFill>
                </a:rPr>
                <a:t>Conversion pipeline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86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Strategy Validation - Vendors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Funnel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17CD9-CCE9-4D7E-9096-9E5C4E102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HK"/>
              <a:t>Market Sizing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79792" y="1399671"/>
            <a:ext cx="4421926" cy="4327717"/>
            <a:chOff x="7135318" y="2142972"/>
            <a:chExt cx="2953062" cy="2953062"/>
          </a:xfrm>
        </p:grpSpPr>
        <p:sp>
          <p:nvSpPr>
            <p:cNvPr id="25" name="Oval 24"/>
            <p:cNvSpPr/>
            <p:nvPr/>
          </p:nvSpPr>
          <p:spPr>
            <a:xfrm>
              <a:off x="7135318" y="2142972"/>
              <a:ext cx="2953062" cy="29530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7872183" y="3623963"/>
              <a:ext cx="1472071" cy="147207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8192041" y="4263682"/>
              <a:ext cx="832353" cy="83235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5503840" y="1706642"/>
            <a:ext cx="3795352" cy="1055161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73779"/>
                </a:solidFill>
              </a:rPr>
              <a:t>TAM (Total Addressable Market) </a:t>
            </a:r>
            <a:r>
              <a:rPr lang="en-US">
                <a:solidFill>
                  <a:srgbClr val="073779"/>
                </a:solidFill>
              </a:rPr>
              <a:t>Number of registered marriages in Hong Kong (2016)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3943" y="2431833"/>
            <a:ext cx="1402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50,000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9980" y="3845040"/>
            <a:ext cx="114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9,000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1292" y="4859147"/>
            <a:ext cx="860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450</a:t>
            </a:r>
          </a:p>
        </p:txBody>
      </p:sp>
      <p:cxnSp>
        <p:nvCxnSpPr>
          <p:cNvPr id="10" name="Straight Connector 9"/>
          <p:cNvCxnSpPr>
            <a:endCxn id="28" idx="1"/>
          </p:cNvCxnSpPr>
          <p:nvPr/>
        </p:nvCxnSpPr>
        <p:spPr>
          <a:xfrm>
            <a:off x="3687273" y="2234222"/>
            <a:ext cx="1816567" cy="1"/>
          </a:xfrm>
          <a:prstGeom prst="line">
            <a:avLst/>
          </a:prstGeom>
          <a:ln>
            <a:solidFill>
              <a:srgbClr val="0737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5503840" y="3109973"/>
            <a:ext cx="3795352" cy="1318140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73779"/>
                </a:solidFill>
              </a:rPr>
              <a:t>SAM (Serviceable Available Market) </a:t>
            </a:r>
            <a:r>
              <a:rPr lang="en-US">
                <a:solidFill>
                  <a:srgbClr val="073779"/>
                </a:solidFill>
              </a:rPr>
              <a:t>Number of registered marriages with wedding ceremonies planned by a full-service planner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3317995" y="3825544"/>
            <a:ext cx="2185845" cy="163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5528530" y="4672227"/>
            <a:ext cx="3795352" cy="1055161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73779"/>
                </a:solidFill>
              </a:rPr>
              <a:t>SOM (Serviceable Obtainable Market) </a:t>
            </a:r>
            <a:r>
              <a:rPr lang="en-US">
                <a:solidFill>
                  <a:srgbClr val="073779"/>
                </a:solidFill>
              </a:rPr>
              <a:t>Weddings planned by planners partnered with </a:t>
            </a:r>
            <a:r>
              <a:rPr lang="en-US" err="1">
                <a:solidFill>
                  <a:srgbClr val="073779"/>
                </a:solidFill>
              </a:rPr>
              <a:t>ZhongAn</a:t>
            </a:r>
            <a:endParaRPr lang="en-US">
              <a:solidFill>
                <a:srgbClr val="073779"/>
              </a:solidFill>
            </a:endParaRPr>
          </a:p>
        </p:txBody>
      </p:sp>
      <p:cxnSp>
        <p:nvCxnSpPr>
          <p:cNvPr id="38" name="Straight Connector 37"/>
          <p:cNvCxnSpPr>
            <a:endCxn id="35" idx="1"/>
          </p:cNvCxnSpPr>
          <p:nvPr/>
        </p:nvCxnSpPr>
        <p:spPr>
          <a:xfrm>
            <a:off x="3220960" y="5199807"/>
            <a:ext cx="2307570" cy="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9608648" y="2431833"/>
            <a:ext cx="1873089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9615424" y="2062501"/>
            <a:ext cx="14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Assumptions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86244" y="2578247"/>
            <a:ext cx="23157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20% of all ceremonies arranged by full service planners</a:t>
            </a:r>
          </a:p>
          <a:p>
            <a:pPr marL="285750" indent="-285750">
              <a:buFont typeface="Arial" charset="0"/>
              <a:buChar char="•"/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ZhongAn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partners with 5% of this batch </a:t>
            </a:r>
          </a:p>
          <a:p>
            <a:pPr marL="285750" indent="-285750">
              <a:buFont typeface="Arial" charset="0"/>
              <a:buChar char="•"/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Weddings are uniformly distributed among full-service planners</a:t>
            </a:r>
          </a:p>
        </p:txBody>
      </p:sp>
    </p:spTree>
    <p:extLst>
      <p:ext uri="{BB962C8B-B14F-4D97-AF65-F5344CB8AC3E}">
        <p14:creationId xmlns:p14="http://schemas.microsoft.com/office/powerpoint/2010/main" val="27996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Source: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err="1">
                <a:latin typeface="Calibri" charset="0"/>
                <a:ea typeface="Calibri" charset="0"/>
                <a:cs typeface="Calibri" charset="0"/>
              </a:rPr>
              <a:t>Yougov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,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Statistics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and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Census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Department,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HKSAR</a:t>
            </a:r>
            <a:r>
              <a:rPr lang="zh-TW" altLang="en-US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latin typeface="Calibri" charset="0"/>
                <a:ea typeface="Calibri" charset="0"/>
                <a:cs typeface="Calibri" charset="0"/>
              </a:rPr>
              <a:t>Government</a:t>
            </a:r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Menstrual</a:t>
            </a:r>
            <a:r>
              <a:rPr lang="zh-TW" altLang="en-US"/>
              <a:t> </a:t>
            </a:r>
            <a:r>
              <a:rPr lang="en-US" altLang="zh-TW"/>
              <a:t>cramps</a:t>
            </a:r>
            <a:r>
              <a:rPr lang="zh-TW" altLang="en-US"/>
              <a:t> </a:t>
            </a:r>
            <a:r>
              <a:rPr lang="en-US" altLang="zh-TW"/>
              <a:t>insurance</a:t>
            </a:r>
            <a:r>
              <a:rPr lang="zh-TW" altLang="en-US"/>
              <a:t> </a:t>
            </a:r>
            <a:r>
              <a:rPr lang="en-US" altLang="zh-TW"/>
              <a:t>is</a:t>
            </a:r>
            <a:r>
              <a:rPr lang="zh-TW" altLang="en-US"/>
              <a:t> </a:t>
            </a:r>
            <a:r>
              <a:rPr lang="en-US" altLang="zh-TW"/>
              <a:t>potentially</a:t>
            </a:r>
            <a:r>
              <a:rPr lang="zh-TW" altLang="en-US"/>
              <a:t> </a:t>
            </a:r>
            <a:r>
              <a:rPr lang="en-US" altLang="zh-TW"/>
              <a:t>an</a:t>
            </a:r>
            <a:r>
              <a:rPr lang="zh-TW" altLang="en-US"/>
              <a:t> </a:t>
            </a:r>
            <a:r>
              <a:rPr lang="en-US" altLang="zh-TW"/>
              <a:t>attractive</a:t>
            </a:r>
            <a:r>
              <a:rPr lang="zh-TW" altLang="en-US"/>
              <a:t> </a:t>
            </a:r>
            <a:r>
              <a:rPr lang="en-US" altLang="zh-TW"/>
              <a:t>option</a:t>
            </a:r>
            <a:r>
              <a:rPr lang="zh-TW" altLang="en-US"/>
              <a:t> </a:t>
            </a:r>
            <a:r>
              <a:rPr lang="en-US" altLang="zh-TW"/>
              <a:t>for</a:t>
            </a:r>
            <a:r>
              <a:rPr lang="zh-TW" altLang="en-US"/>
              <a:t> </a:t>
            </a:r>
            <a:r>
              <a:rPr lang="en-US" altLang="zh-TW"/>
              <a:t>women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>
                <a:latin typeface="Calibri" charset="0"/>
                <a:ea typeface="Calibri" charset="0"/>
                <a:cs typeface="Calibri" charset="0"/>
              </a:rPr>
              <a:pPr/>
              <a:t>45</a:t>
            </a:fld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TW"/>
              <a:t>Recommendation 02 </a:t>
            </a:r>
            <a:r>
              <a:rPr lang="mr-IN" altLang="zh-TW"/>
              <a:t>–</a:t>
            </a:r>
            <a:r>
              <a:rPr lang="en-US" altLang="zh-TW"/>
              <a:t> Rationale 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" y="1261655"/>
            <a:ext cx="2600161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15"/>
          <a:stretch/>
        </p:blipFill>
        <p:spPr>
          <a:xfrm>
            <a:off x="253979" y="1261654"/>
            <a:ext cx="2604785" cy="12039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6C5B19-A15F-2640-8151-C6CB8A12E802}"/>
              </a:ext>
            </a:extLst>
          </p:cNvPr>
          <p:cNvSpPr/>
          <p:nvPr/>
        </p:nvSpPr>
        <p:spPr>
          <a:xfrm>
            <a:off x="2250858" y="1304822"/>
            <a:ext cx="3485137" cy="667081"/>
          </a:xfrm>
          <a:prstGeom prst="rect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0000" b="1" kern="0">
                <a:solidFill>
                  <a:schemeClr val="bg2">
                    <a:lumMod val="75000"/>
                  </a:schemeClr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42%</a:t>
            </a:r>
            <a:endParaRPr lang="zh-TW" altLang="en-US" sz="10000" b="1" kern="0">
              <a:solidFill>
                <a:schemeClr val="bg2">
                  <a:lumMod val="75000"/>
                </a:schemeClr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6C5B19-A15F-2640-8151-C6CB8A12E802}"/>
              </a:ext>
            </a:extLst>
          </p:cNvPr>
          <p:cNvSpPr/>
          <p:nvPr/>
        </p:nvSpPr>
        <p:spPr>
          <a:xfrm>
            <a:off x="2250858" y="2114133"/>
            <a:ext cx="3485137" cy="667081"/>
          </a:xfrm>
          <a:prstGeom prst="rect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6000" b="1" ker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Female</a:t>
            </a:r>
            <a:endParaRPr lang="zh-TW" altLang="en-US" sz="6000" b="1" kern="0">
              <a:solidFill>
                <a:schemeClr val="tx1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416622" y="2889735"/>
            <a:ext cx="31187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416622" y="2951181"/>
            <a:ext cx="31187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Are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found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have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experienced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menstrual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that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affected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their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work</a:t>
            </a:r>
            <a:r>
              <a:rPr lang="zh-TW" altLang="en-US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ability</a:t>
            </a:r>
            <a:endParaRPr lang="zh-TW" altLang="en-US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83" y="4448671"/>
            <a:ext cx="764199" cy="7641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3722" y="5212870"/>
            <a:ext cx="22899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Female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population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aged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from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15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39:</a:t>
            </a:r>
            <a:endParaRPr lang="zh-TW" altLang="en-US" sz="14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4721" y="5656911"/>
            <a:ext cx="19079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24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1,381,300</a:t>
            </a:r>
            <a:endParaRPr lang="zh-TW" altLang="en-US" sz="24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2575971" y="4903700"/>
            <a:ext cx="962122" cy="905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75971" y="5120374"/>
            <a:ext cx="875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2400" b="1" ker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42%</a:t>
            </a:r>
            <a:endParaRPr lang="zh-TW" altLang="en-US" sz="2400" b="1" kern="0">
              <a:solidFill>
                <a:schemeClr val="bg1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92654" y="4440385"/>
            <a:ext cx="2364473" cy="156103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Approximately</a:t>
            </a:r>
            <a:r>
              <a:rPr lang="zh-TW" altLang="en-US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sz="4800" b="1">
                <a:solidFill>
                  <a:schemeClr val="accent4"/>
                </a:solidFill>
                <a:latin typeface="Calibri" charset="0"/>
                <a:ea typeface="Calibri" charset="0"/>
                <a:cs typeface="Calibri" charset="0"/>
              </a:rPr>
              <a:t>600,000</a:t>
            </a:r>
            <a:r>
              <a:rPr lang="en-US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6258741" y="3020838"/>
            <a:ext cx="5340350" cy="5021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tomachache asiançåçæå°çµæ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44"/>
          <a:stretch/>
        </p:blipFill>
        <p:spPr bwMode="auto">
          <a:xfrm>
            <a:off x="6258741" y="1473245"/>
            <a:ext cx="1785106" cy="148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/>
          <p:cNvCxnSpPr/>
          <p:nvPr/>
        </p:nvCxnSpPr>
        <p:spPr>
          <a:xfrm flipV="1">
            <a:off x="6258741" y="4646130"/>
            <a:ext cx="5340350" cy="5021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022262" y="3068455"/>
            <a:ext cx="35768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One-off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menstrual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are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not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foreseeable,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only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those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who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experience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regular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are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likely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purchase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285750" indent="-285750" fontAlgn="b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term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of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could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short-to-medium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e.g.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6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months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43847" y="4935707"/>
            <a:ext cx="35552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are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hard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proved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when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filing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claims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except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with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medical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certificates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43847" y="1426601"/>
            <a:ext cx="35768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>
              <a:buClr>
                <a:srgbClr val="000000"/>
              </a:buClr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Target: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285750" indent="-285750" fontAlgn="b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Women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whose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work/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daily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activities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are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significantly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affected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cramps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marL="285750" indent="-285750" fontAlgn="b">
              <a:buClr>
                <a:srgbClr val="000000"/>
              </a:buClr>
              <a:buFont typeface="Arial" charset="0"/>
              <a:buChar char="•"/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Those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who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want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take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day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off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because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of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their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5" name="Picture 4" descr="octor asiançåçæå°çµæ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9" r="-1"/>
          <a:stretch/>
        </p:blipFill>
        <p:spPr bwMode="auto">
          <a:xfrm>
            <a:off x="6253843" y="4726451"/>
            <a:ext cx="1783239" cy="14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awling womençåçæå°çµæ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3" r="2728"/>
          <a:stretch/>
        </p:blipFill>
        <p:spPr bwMode="auto">
          <a:xfrm>
            <a:off x="6253842" y="3091230"/>
            <a:ext cx="1790005" cy="14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406946" y="4234550"/>
            <a:ext cx="552514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413722" y="3865218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Potential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Market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Size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6253842" y="1359316"/>
            <a:ext cx="552514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6260618" y="989984"/>
            <a:ext cx="235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Considerations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31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/>
              <a:t>Recommendation 02 - Marketing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Online</a:t>
            </a:r>
            <a:r>
              <a:rPr lang="zh-TW" altLang="en-US"/>
              <a:t> </a:t>
            </a:r>
            <a:r>
              <a:rPr lang="en-US" altLang="zh-TW"/>
              <a:t>and</a:t>
            </a:r>
            <a:r>
              <a:rPr lang="zh-TW" altLang="en-US"/>
              <a:t> </a:t>
            </a:r>
            <a:r>
              <a:rPr lang="en-US" altLang="zh-TW"/>
              <a:t>offline</a:t>
            </a:r>
            <a:r>
              <a:rPr lang="zh-TW" altLang="en-US"/>
              <a:t> </a:t>
            </a:r>
            <a:r>
              <a:rPr lang="en-US" altLang="zh-TW"/>
              <a:t>marketing</a:t>
            </a:r>
            <a:r>
              <a:rPr lang="zh-TW" altLang="en-US"/>
              <a:t> </a:t>
            </a:r>
            <a:r>
              <a:rPr lang="en-US" altLang="zh-TW"/>
              <a:t>channels</a:t>
            </a:r>
            <a:r>
              <a:rPr lang="zh-TW" altLang="en-US"/>
              <a:t> </a:t>
            </a:r>
            <a:r>
              <a:rPr lang="en-US" altLang="zh-TW"/>
              <a:t>can</a:t>
            </a:r>
            <a:r>
              <a:rPr lang="zh-TW" altLang="en-US"/>
              <a:t> </a:t>
            </a:r>
            <a:r>
              <a:rPr lang="en-US" altLang="zh-TW"/>
              <a:t>be</a:t>
            </a:r>
            <a:r>
              <a:rPr lang="zh-TW" altLang="en-US"/>
              <a:t> </a:t>
            </a:r>
            <a:r>
              <a:rPr lang="en-US" altLang="zh-TW"/>
              <a:t>used</a:t>
            </a:r>
            <a:r>
              <a:rPr lang="zh-TW" altLang="en-US"/>
              <a:t> </a:t>
            </a:r>
            <a:r>
              <a:rPr lang="en-US" altLang="zh-TW"/>
              <a:t>to</a:t>
            </a:r>
            <a:r>
              <a:rPr lang="zh-TW" altLang="en-US"/>
              <a:t> </a:t>
            </a:r>
            <a:r>
              <a:rPr lang="en-US" altLang="zh-TW"/>
              <a:t>utilized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18C284-B31D-42B9-BCEF-BE5883BFC4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299549" y="1218137"/>
            <a:ext cx="552514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306324" y="848805"/>
            <a:ext cx="432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Offline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6221537" y="1217185"/>
            <a:ext cx="558848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6228313" y="847853"/>
            <a:ext cx="315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Online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52" name="Picture 4" descr="upermarket sanitary padsçåçæå°çµæ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" t="-539" r="-240" b="13456"/>
          <a:stretch/>
        </p:blipFill>
        <p:spPr bwMode="auto">
          <a:xfrm>
            <a:off x="306324" y="1285296"/>
            <a:ext cx="2637163" cy="199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572349" y="1960452"/>
            <a:ext cx="210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Supermarket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&amp;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convenience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stores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5EC28D-7AB3-8A40-8227-BCE70A4BE079}"/>
              </a:ext>
            </a:extLst>
          </p:cNvPr>
          <p:cNvSpPr/>
          <p:nvPr/>
        </p:nvSpPr>
        <p:spPr>
          <a:xfrm>
            <a:off x="2995398" y="1303226"/>
            <a:ext cx="2829299" cy="419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Why?</a:t>
            </a:r>
            <a:endParaRPr lang="en-US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95398" y="2328849"/>
            <a:ext cx="2829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Direct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touch point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Women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actively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look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products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needed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during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437" y="1745416"/>
            <a:ext cx="545219" cy="545219"/>
          </a:xfrm>
          <a:prstGeom prst="rect">
            <a:avLst/>
          </a:prstGeom>
        </p:spPr>
      </p:pic>
      <p:pic>
        <p:nvPicPr>
          <p:cNvPr id="2056" name="Picture 8" descr="offee æèå¦¤ youtubeçåçæå°çµæ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" r="5709"/>
          <a:stretch/>
        </p:blipFill>
        <p:spPr bwMode="auto">
          <a:xfrm>
            <a:off x="6221537" y="1285296"/>
            <a:ext cx="2736933" cy="200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6228313" y="1285296"/>
            <a:ext cx="2730157" cy="1985086"/>
          </a:xfrm>
          <a:prstGeom prst="rect">
            <a:avLst/>
          </a:prstGeom>
          <a:solidFill>
            <a:schemeClr val="tx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563088" y="1966202"/>
            <a:ext cx="210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Female-oriented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KOLs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EC28D-7AB3-8A40-8227-BCE70A4BE079}"/>
              </a:ext>
            </a:extLst>
          </p:cNvPr>
          <p:cNvSpPr/>
          <p:nvPr/>
        </p:nvSpPr>
        <p:spPr>
          <a:xfrm>
            <a:off x="8980723" y="1281498"/>
            <a:ext cx="2829299" cy="419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Why?</a:t>
            </a:r>
            <a:endParaRPr lang="en-US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292773" y="3767397"/>
            <a:ext cx="11517249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299548" y="3398065"/>
            <a:ext cx="338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Potential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marketing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messages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58" name="Picture 10" descr="arefree womançåçæå°çµæ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26"/>
          <a:stretch/>
        </p:blipFill>
        <p:spPr bwMode="auto">
          <a:xfrm>
            <a:off x="7527235" y="3858914"/>
            <a:ext cx="4282787" cy="246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1004776" y="3981251"/>
            <a:ext cx="907737" cy="907737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3134006" y="3968105"/>
            <a:ext cx="907737" cy="90773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5263236" y="3961908"/>
            <a:ext cx="907737" cy="907737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/>
          <p:cNvSpPr/>
          <p:nvPr/>
        </p:nvSpPr>
        <p:spPr>
          <a:xfrm>
            <a:off x="440576" y="5063085"/>
            <a:ext cx="203613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Zhong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as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caring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insurer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400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Zhong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understand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women’s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needs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we’ve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got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back</a:t>
            </a:r>
            <a:endParaRPr lang="zh-TW" altLang="en-US" sz="14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569806" y="5063085"/>
            <a:ext cx="2036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is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blessing,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not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burden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Enjoy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because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it’s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carefree!</a:t>
            </a:r>
            <a:endParaRPr lang="zh-TW" altLang="en-US" sz="14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699036" y="5063085"/>
            <a:ext cx="2036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Perfect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gift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girlfriend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/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Basic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requirement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being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     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boyfriend</a:t>
            </a:r>
            <a:endParaRPr lang="zh-TW" altLang="en-US" sz="1400" u="sng">
              <a:hlinkClick r:id="rId6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08" y="4058602"/>
            <a:ext cx="717140" cy="717140"/>
          </a:xfrm>
          <a:prstGeom prst="rect">
            <a:avLst/>
          </a:prstGeom>
        </p:spPr>
      </p:pic>
      <p:pic>
        <p:nvPicPr>
          <p:cNvPr id="2051" name="Picture 2050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2" r="16839"/>
          <a:stretch/>
        </p:blipFill>
        <p:spPr>
          <a:xfrm>
            <a:off x="5517273" y="5802070"/>
            <a:ext cx="201472" cy="251594"/>
          </a:xfrm>
          <a:prstGeom prst="rect">
            <a:avLst/>
          </a:prstGeom>
        </p:spPr>
      </p:pic>
      <p:pic>
        <p:nvPicPr>
          <p:cNvPr id="2053" name="Picture 20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74" y="4109326"/>
            <a:ext cx="644400" cy="644400"/>
          </a:xfrm>
          <a:prstGeom prst="rect">
            <a:avLst/>
          </a:prstGeom>
        </p:spPr>
      </p:pic>
      <p:pic>
        <p:nvPicPr>
          <p:cNvPr id="2055" name="Picture 205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75" y="4081769"/>
            <a:ext cx="644400" cy="64440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980723" y="2328848"/>
            <a:ext cx="2829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right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audience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Makeup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workout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KOLs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target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young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female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millennials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057" name="Picture 205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572" y="1751329"/>
            <a:ext cx="543600" cy="5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0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partnership model option set is constrained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- Vendors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7559" y="1851704"/>
          <a:ext cx="10415196" cy="404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9675">
                <a:tc rowSpan="2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Revenue-Sharing </a:t>
                      </a:r>
                    </a:p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Product Exclusivity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Provision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of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Marketing Synergies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Wedding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Event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Employee Life/Health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269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Feasibility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31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/>
                        <a:t>Not permitted in Hong Kong</a:t>
                      </a: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exclusivity would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limit reach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does not have event insurance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Vendors may not have a 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does not have a presence yet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ket 2"/>
          <p:cNvSpPr/>
          <p:nvPr/>
        </p:nvSpPr>
        <p:spPr>
          <a:xfrm rot="16200000">
            <a:off x="6956580" y="-2589421"/>
            <a:ext cx="90853" cy="864149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0" y="1316568"/>
            <a:ext cx="213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Available Option Set</a:t>
            </a:r>
          </a:p>
        </p:txBody>
      </p:sp>
      <p:sp>
        <p:nvSpPr>
          <p:cNvPr id="7" name="Oval 6"/>
          <p:cNvSpPr/>
          <p:nvPr/>
        </p:nvSpPr>
        <p:spPr>
          <a:xfrm>
            <a:off x="1125890" y="3342013"/>
            <a:ext cx="224852" cy="2248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53075" y="3342013"/>
            <a:ext cx="224852" cy="224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58855" y="3639619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/>
              <a:t>Least </a:t>
            </a:r>
          </a:p>
          <a:p>
            <a:pPr algn="ctr"/>
            <a:r>
              <a:rPr lang="en-US" sz="1000" i="1"/>
              <a:t>feasible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3594" y="3644844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/>
              <a:t>Most</a:t>
            </a:r>
          </a:p>
          <a:p>
            <a:pPr algn="ctr"/>
            <a:r>
              <a:rPr lang="en-US" sz="1000" i="1"/>
              <a:t>feasible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476305" y="3454439"/>
            <a:ext cx="55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134006" y="4317373"/>
            <a:ext cx="611470" cy="6114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726478" y="4317620"/>
            <a:ext cx="619433" cy="611470"/>
            <a:chOff x="6696271" y="4361969"/>
            <a:chExt cx="619433" cy="611470"/>
          </a:xfrm>
        </p:grpSpPr>
        <p:sp>
          <p:nvSpPr>
            <p:cNvPr id="32" name="Freeform 31"/>
            <p:cNvSpPr/>
            <p:nvPr/>
          </p:nvSpPr>
          <p:spPr>
            <a:xfrm>
              <a:off x="7009969" y="4365049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913306" y="4300995"/>
            <a:ext cx="613302" cy="611471"/>
            <a:chOff x="8411078" y="4372306"/>
            <a:chExt cx="613302" cy="611471"/>
          </a:xfrm>
        </p:grpSpPr>
        <p:sp>
          <p:nvSpPr>
            <p:cNvPr id="26" name="Freeform 25"/>
            <p:cNvSpPr/>
            <p:nvPr/>
          </p:nvSpPr>
          <p:spPr>
            <a:xfrm rot="5400000">
              <a:off x="8258211" y="4525174"/>
              <a:ext cx="611470" cy="305735"/>
            </a:xfrm>
            <a:custGeom>
              <a:avLst/>
              <a:gdLst>
                <a:gd name="connsiteX0" fmla="*/ 0 w 611470"/>
                <a:gd name="connsiteY0" fmla="*/ 0 h 305735"/>
                <a:gd name="connsiteX1" fmla="*/ 611470 w 611470"/>
                <a:gd name="connsiteY1" fmla="*/ 0 h 305735"/>
                <a:gd name="connsiteX2" fmla="*/ 305735 w 611470"/>
                <a:gd name="connsiteY2" fmla="*/ 305735 h 305735"/>
                <a:gd name="connsiteX3" fmla="*/ 0 w 611470"/>
                <a:gd name="connsiteY3" fmla="*/ 0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70" h="305735">
                  <a:moveTo>
                    <a:pt x="0" y="0"/>
                  </a:moveTo>
                  <a:lnTo>
                    <a:pt x="611470" y="0"/>
                  </a:lnTo>
                  <a:cubicBezTo>
                    <a:pt x="611470" y="168853"/>
                    <a:pt x="474588" y="305735"/>
                    <a:pt x="305735" y="305735"/>
                  </a:cubicBezTo>
                  <a:cubicBezTo>
                    <a:pt x="136882" y="305735"/>
                    <a:pt x="0" y="168853"/>
                    <a:pt x="0" y="0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8412910" y="4372306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2521846" y="336924"/>
            <a:ext cx="611470" cy="611470"/>
            <a:chOff x="4871366" y="4361969"/>
            <a:chExt cx="611470" cy="611470"/>
          </a:xfrm>
        </p:grpSpPr>
        <p:sp>
          <p:nvSpPr>
            <p:cNvPr id="39" name="Freeform 38"/>
            <p:cNvSpPr/>
            <p:nvPr/>
          </p:nvSpPr>
          <p:spPr>
            <a:xfrm>
              <a:off x="4871366" y="4361969"/>
              <a:ext cx="611470" cy="610899"/>
            </a:xfrm>
            <a:custGeom>
              <a:avLst/>
              <a:gdLst>
                <a:gd name="connsiteX0" fmla="*/ 300074 w 611470"/>
                <a:gd name="connsiteY0" fmla="*/ 0 h 610899"/>
                <a:gd name="connsiteX1" fmla="*/ 300074 w 611470"/>
                <a:gd name="connsiteY1" fmla="*/ 305164 h 610899"/>
                <a:gd name="connsiteX2" fmla="*/ 611470 w 611470"/>
                <a:gd name="connsiteY2" fmla="*/ 305164 h 610899"/>
                <a:gd name="connsiteX3" fmla="*/ 305735 w 611470"/>
                <a:gd name="connsiteY3" fmla="*/ 610899 h 610899"/>
                <a:gd name="connsiteX4" fmla="*/ 0 w 611470"/>
                <a:gd name="connsiteY4" fmla="*/ 305164 h 610899"/>
                <a:gd name="connsiteX5" fmla="*/ 244119 w 611470"/>
                <a:gd name="connsiteY5" fmla="*/ 5641 h 6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470" h="610899">
                  <a:moveTo>
                    <a:pt x="300074" y="0"/>
                  </a:moveTo>
                  <a:lnTo>
                    <a:pt x="300074" y="305164"/>
                  </a:lnTo>
                  <a:lnTo>
                    <a:pt x="611470" y="305164"/>
                  </a:lnTo>
                  <a:cubicBezTo>
                    <a:pt x="611470" y="474017"/>
                    <a:pt x="474588" y="610899"/>
                    <a:pt x="305735" y="610899"/>
                  </a:cubicBezTo>
                  <a:cubicBezTo>
                    <a:pt x="136882" y="610899"/>
                    <a:pt x="0" y="474017"/>
                    <a:pt x="0" y="305164"/>
                  </a:cubicBezTo>
                  <a:cubicBezTo>
                    <a:pt x="0" y="157418"/>
                    <a:pt x="104801" y="34149"/>
                    <a:pt x="244119" y="5641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4871366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2548732" y="1220217"/>
            <a:ext cx="641204" cy="611470"/>
            <a:chOff x="6696271" y="4361969"/>
            <a:chExt cx="641204" cy="611470"/>
          </a:xfrm>
        </p:grpSpPr>
        <p:sp>
          <p:nvSpPr>
            <p:cNvPr id="43" name="Freeform 42"/>
            <p:cNvSpPr/>
            <p:nvPr/>
          </p:nvSpPr>
          <p:spPr>
            <a:xfrm>
              <a:off x="7031740" y="4372306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2578466" y="2103510"/>
            <a:ext cx="611470" cy="611471"/>
            <a:chOff x="8412910" y="4372306"/>
            <a:chExt cx="611470" cy="611471"/>
          </a:xfrm>
        </p:grpSpPr>
        <p:sp>
          <p:nvSpPr>
            <p:cNvPr id="47" name="Freeform 46"/>
            <p:cNvSpPr/>
            <p:nvPr/>
          </p:nvSpPr>
          <p:spPr>
            <a:xfrm rot="5400000">
              <a:off x="8265468" y="4525174"/>
              <a:ext cx="611470" cy="305735"/>
            </a:xfrm>
            <a:custGeom>
              <a:avLst/>
              <a:gdLst>
                <a:gd name="connsiteX0" fmla="*/ 0 w 611470"/>
                <a:gd name="connsiteY0" fmla="*/ 0 h 305735"/>
                <a:gd name="connsiteX1" fmla="*/ 611470 w 611470"/>
                <a:gd name="connsiteY1" fmla="*/ 0 h 305735"/>
                <a:gd name="connsiteX2" fmla="*/ 305735 w 611470"/>
                <a:gd name="connsiteY2" fmla="*/ 305735 h 305735"/>
                <a:gd name="connsiteX3" fmla="*/ 0 w 611470"/>
                <a:gd name="connsiteY3" fmla="*/ 0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70" h="305735">
                  <a:moveTo>
                    <a:pt x="0" y="0"/>
                  </a:moveTo>
                  <a:lnTo>
                    <a:pt x="611470" y="0"/>
                  </a:lnTo>
                  <a:cubicBezTo>
                    <a:pt x="611470" y="168853"/>
                    <a:pt x="474588" y="305735"/>
                    <a:pt x="305735" y="305735"/>
                  </a:cubicBezTo>
                  <a:cubicBezTo>
                    <a:pt x="136882" y="305735"/>
                    <a:pt x="0" y="168853"/>
                    <a:pt x="0" y="0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8412910" y="4372306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/>
          <p:cNvSpPr/>
          <p:nvPr/>
        </p:nvSpPr>
        <p:spPr>
          <a:xfrm>
            <a:off x="12578466" y="2870939"/>
            <a:ext cx="611470" cy="611470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2578466" y="3694552"/>
            <a:ext cx="611470" cy="6114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10221803" y="4321727"/>
            <a:ext cx="619433" cy="611470"/>
            <a:chOff x="6696271" y="4361969"/>
            <a:chExt cx="619433" cy="611470"/>
          </a:xfrm>
        </p:grpSpPr>
        <p:sp>
          <p:nvSpPr>
            <p:cNvPr id="52" name="Freeform 51"/>
            <p:cNvSpPr/>
            <p:nvPr/>
          </p:nvSpPr>
          <p:spPr>
            <a:xfrm>
              <a:off x="7009969" y="4362202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398156" y="4312967"/>
            <a:ext cx="611946" cy="611470"/>
            <a:chOff x="4856376" y="4346979"/>
            <a:chExt cx="611946" cy="611470"/>
          </a:xfrm>
        </p:grpSpPr>
        <p:sp>
          <p:nvSpPr>
            <p:cNvPr id="55" name="Freeform 54"/>
            <p:cNvSpPr/>
            <p:nvPr/>
          </p:nvSpPr>
          <p:spPr>
            <a:xfrm>
              <a:off x="4856852" y="4347455"/>
              <a:ext cx="611470" cy="610899"/>
            </a:xfrm>
            <a:custGeom>
              <a:avLst/>
              <a:gdLst>
                <a:gd name="connsiteX0" fmla="*/ 300074 w 611470"/>
                <a:gd name="connsiteY0" fmla="*/ 0 h 610899"/>
                <a:gd name="connsiteX1" fmla="*/ 300074 w 611470"/>
                <a:gd name="connsiteY1" fmla="*/ 305164 h 610899"/>
                <a:gd name="connsiteX2" fmla="*/ 611470 w 611470"/>
                <a:gd name="connsiteY2" fmla="*/ 305164 h 610899"/>
                <a:gd name="connsiteX3" fmla="*/ 305735 w 611470"/>
                <a:gd name="connsiteY3" fmla="*/ 610899 h 610899"/>
                <a:gd name="connsiteX4" fmla="*/ 0 w 611470"/>
                <a:gd name="connsiteY4" fmla="*/ 305164 h 610899"/>
                <a:gd name="connsiteX5" fmla="*/ 244119 w 611470"/>
                <a:gd name="connsiteY5" fmla="*/ 5641 h 6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470" h="610899">
                  <a:moveTo>
                    <a:pt x="300074" y="0"/>
                  </a:moveTo>
                  <a:lnTo>
                    <a:pt x="300074" y="305164"/>
                  </a:lnTo>
                  <a:lnTo>
                    <a:pt x="611470" y="305164"/>
                  </a:lnTo>
                  <a:cubicBezTo>
                    <a:pt x="611470" y="474017"/>
                    <a:pt x="474588" y="610899"/>
                    <a:pt x="305735" y="610899"/>
                  </a:cubicBezTo>
                  <a:cubicBezTo>
                    <a:pt x="136882" y="610899"/>
                    <a:pt x="0" y="474017"/>
                    <a:pt x="0" y="305164"/>
                  </a:cubicBezTo>
                  <a:cubicBezTo>
                    <a:pt x="0" y="157418"/>
                    <a:pt x="104801" y="34149"/>
                    <a:pt x="244119" y="5641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4856376" y="434697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68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4242B5-A0BA-4885-871A-C2985F7032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team assessed two segments: undergraduates and working adults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>
                <a:latin typeface="Calibri" charset="0"/>
                <a:ea typeface="Calibri" charset="0"/>
                <a:cs typeface="Calibri" charset="0"/>
              </a:rPr>
              <a:pPr/>
              <a:t>48</a:t>
            </a:fld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797" y="1314825"/>
            <a:ext cx="5514803" cy="574367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b="1" kern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Undergraduate Students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5173" y="1314825"/>
            <a:ext cx="5514803" cy="574367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b="1" kern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Young Working Adults</a:t>
            </a:r>
          </a:p>
        </p:txBody>
      </p:sp>
      <p:pic>
        <p:nvPicPr>
          <p:cNvPr id="8" name="Picture 4" descr="Image result for university students, hkust">
            <a:extLst>
              <a:ext uri="{FF2B5EF4-FFF2-40B4-BE49-F238E27FC236}">
                <a16:creationId xmlns:a16="http://schemas.microsoft.com/office/drawing/2014/main" id="{CA6D7C05-5995-4FE0-84B3-80BD0C95A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81" y="2007215"/>
            <a:ext cx="3574395" cy="238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08" y="2312766"/>
            <a:ext cx="732276" cy="7322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588" y="3376107"/>
            <a:ext cx="800996" cy="8009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69584" y="2337155"/>
            <a:ext cx="851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25 </a:t>
            </a:r>
          </a:p>
          <a:p>
            <a:r>
              <a:rPr lang="en-US" sz="1200" b="1"/>
              <a:t>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9584" y="3352319"/>
            <a:ext cx="6630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87</a:t>
            </a:r>
          </a:p>
          <a:p>
            <a:r>
              <a:rPr lang="en-US" sz="1200" b="1"/>
              <a:t>surveys</a:t>
            </a:r>
          </a:p>
        </p:txBody>
      </p:sp>
      <p:pic>
        <p:nvPicPr>
          <p:cNvPr id="17" name="Picture 6" descr="Related image">
            <a:extLst>
              <a:ext uri="{FF2B5EF4-FFF2-40B4-BE49-F238E27FC236}">
                <a16:creationId xmlns:a16="http://schemas.microsoft.com/office/drawing/2014/main" id="{A9160973-B7D6-4ADF-87D6-409F30E7D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173" y="2013492"/>
            <a:ext cx="3564979" cy="237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133" y="2859645"/>
            <a:ext cx="732276" cy="7322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56409" y="2884034"/>
            <a:ext cx="851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32</a:t>
            </a:r>
          </a:p>
          <a:p>
            <a:r>
              <a:rPr lang="en-US" sz="1200" b="1"/>
              <a:t>interviews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419380" y="4576516"/>
            <a:ext cx="5524220" cy="1358661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>
                <a:solidFill>
                  <a:schemeClr val="accent1"/>
                </a:solidFill>
              </a:rPr>
              <a:t>The undergraduate population does not intend to purchase insurance, particularly life insurance</a:t>
            </a:r>
          </a:p>
          <a:p>
            <a:pPr marL="285750" indent="-285750">
              <a:buFont typeface="Arial" charset="0"/>
              <a:buChar char="•"/>
            </a:pPr>
            <a:r>
              <a:rPr lang="en-US">
                <a:solidFill>
                  <a:schemeClr val="accent1"/>
                </a:solidFill>
              </a:rPr>
              <a:t>Focus on building </a:t>
            </a:r>
            <a:r>
              <a:rPr lang="en-US" b="1">
                <a:solidFill>
                  <a:schemeClr val="accent1"/>
                </a:solidFill>
              </a:rPr>
              <a:t>brand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 b="1">
                <a:solidFill>
                  <a:schemeClr val="accent1"/>
                </a:solidFill>
              </a:rPr>
              <a:t>awareness</a:t>
            </a:r>
            <a:r>
              <a:rPr lang="en-US">
                <a:solidFill>
                  <a:schemeClr val="accent1"/>
                </a:solidFill>
              </a:rPr>
              <a:t> and educating this population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6165757" y="4576516"/>
            <a:ext cx="5524219" cy="1348259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>
                <a:solidFill>
                  <a:schemeClr val="accent1"/>
                </a:solidFill>
              </a:rPr>
              <a:t>Most already have insurance covered, but will purchase if there are incentives provided 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Focus on targeting this population through various </a:t>
            </a:r>
            <a:r>
              <a:rPr lang="en-US" b="1">
                <a:solidFill>
                  <a:schemeClr val="accent1"/>
                </a:solidFill>
              </a:rPr>
              <a:t>direct </a:t>
            </a:r>
            <a:r>
              <a:rPr lang="en-US">
                <a:solidFill>
                  <a:schemeClr val="accent1"/>
                </a:solidFill>
              </a:rPr>
              <a:t>and </a:t>
            </a:r>
            <a:r>
              <a:rPr lang="en-US" b="1">
                <a:solidFill>
                  <a:schemeClr val="accent1"/>
                </a:solidFill>
              </a:rPr>
              <a:t>indirect channels </a:t>
            </a:r>
            <a:r>
              <a:rPr lang="en-US">
                <a:solidFill>
                  <a:schemeClr val="accent1"/>
                </a:solidFill>
              </a:rPr>
              <a:t>(focus on trigger points)</a:t>
            </a:r>
          </a:p>
        </p:txBody>
      </p:sp>
    </p:spTree>
    <p:extLst>
      <p:ext uri="{BB962C8B-B14F-4D97-AF65-F5344CB8AC3E}">
        <p14:creationId xmlns:p14="http://schemas.microsoft.com/office/powerpoint/2010/main" val="11512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D0BAB7-99FF-4F13-ADE7-17EBF873FF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number of ideas were discussed during the interim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>
                <a:latin typeface="Calibri" charset="0"/>
                <a:ea typeface="Calibri" charset="0"/>
                <a:cs typeface="Calibri" charset="0"/>
              </a:rPr>
              <a:pPr/>
              <a:t>49</a:t>
            </a:fld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39" y="1412797"/>
            <a:ext cx="4156929" cy="574367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600" b="1" kern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Undergraduate Students 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1843" y="1412797"/>
            <a:ext cx="5189386" cy="574367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600" b="1" kern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Young Working Adults</a:t>
            </a:r>
          </a:p>
        </p:txBody>
      </p:sp>
      <p:pic>
        <p:nvPicPr>
          <p:cNvPr id="24" name="Picture 2" descr="nternship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9" y="2118547"/>
            <a:ext cx="2666552" cy="158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300038" y="2118545"/>
            <a:ext cx="2666553" cy="1588041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b="1" kern="0">
                <a:solidFill>
                  <a:prstClr val="white"/>
                </a:solidFill>
                <a:sym typeface="Arial"/>
              </a:rPr>
              <a:t>Student Branding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b="1" kern="0">
                <a:solidFill>
                  <a:prstClr val="white"/>
                </a:solidFill>
                <a:sym typeface="Arial"/>
              </a:rPr>
              <a:t>Initiatives </a:t>
            </a:r>
            <a:endParaRPr lang="en-US" b="1" kern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6" name="Picture 2" descr="¸éåç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9" t="2494" r="22666" b="-1"/>
          <a:stretch/>
        </p:blipFill>
        <p:spPr bwMode="auto">
          <a:xfrm>
            <a:off x="3171306" y="2118546"/>
            <a:ext cx="1285662" cy="158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3171307" y="2129103"/>
            <a:ext cx="1285662" cy="1577483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Sports Insurance 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844" y="2117409"/>
            <a:ext cx="2530928" cy="1608620"/>
          </a:xfrm>
          <a:prstGeom prst="rect">
            <a:avLst/>
          </a:prstGeom>
        </p:spPr>
      </p:pic>
      <p:pic>
        <p:nvPicPr>
          <p:cNvPr id="30" name="Picture 4" descr="mage result for chinese student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842" y="3909802"/>
            <a:ext cx="2530929" cy="168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mage result for wework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31"/>
          <a:stretch/>
        </p:blipFill>
        <p:spPr bwMode="auto">
          <a:xfrm>
            <a:off x="7376166" y="3909803"/>
            <a:ext cx="2464323" cy="168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4681355" y="2130294"/>
            <a:ext cx="2511905" cy="1577483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Trigger Points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71842" y="3909802"/>
            <a:ext cx="2511905" cy="1688604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Mainland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Graduates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76166" y="3909802"/>
            <a:ext cx="2464323" cy="1688604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Startups 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5124" name="Picture 4" descr="mage result for people runni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647" y="2112043"/>
            <a:ext cx="2422842" cy="161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/>
          <p:cNvSpPr/>
          <p:nvPr/>
        </p:nvSpPr>
        <p:spPr>
          <a:xfrm>
            <a:off x="7396906" y="2118545"/>
            <a:ext cx="2464323" cy="1588041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VHIS + Health App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076103" y="1419299"/>
            <a:ext cx="1815859" cy="574367"/>
          </a:xfrm>
          <a:prstGeom prst="rect">
            <a:avLst/>
          </a:prstGeom>
          <a:solidFill>
            <a:srgbClr val="073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600" b="1" kern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Marketing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FC6DA2-A7B6-F044-8A8F-EE6B23345362}"/>
              </a:ext>
            </a:extLst>
          </p:cNvPr>
          <p:cNvSpPr/>
          <p:nvPr/>
        </p:nvSpPr>
        <p:spPr>
          <a:xfrm>
            <a:off x="10076103" y="2118545"/>
            <a:ext cx="1815859" cy="3479861"/>
          </a:xfrm>
          <a:prstGeom prst="rect">
            <a:avLst/>
          </a:prstGeom>
          <a:solidFill>
            <a:schemeClr val="accent4">
              <a:alpha val="20000"/>
            </a:schemeClr>
          </a:solidFill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accent4"/>
                </a:solidFill>
              </a:rPr>
              <a:t>Marketing and branding required for both segments</a:t>
            </a:r>
          </a:p>
        </p:txBody>
      </p:sp>
    </p:spTree>
    <p:extLst>
      <p:ext uri="{BB962C8B-B14F-4D97-AF65-F5344CB8AC3E}">
        <p14:creationId xmlns:p14="http://schemas.microsoft.com/office/powerpoint/2010/main" val="184033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CE529-AD67-443E-BC66-6EA0D7643D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 in scope from interview and research insights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Project 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309957" y="1428338"/>
            <a:ext cx="1158563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316733" y="1059006"/>
            <a:ext cx="130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Initial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423013" y="1640503"/>
            <a:ext cx="3457302" cy="793033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Undergraduates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F3F6DC-E599-1F4F-B6C9-0516C2941112}"/>
              </a:ext>
            </a:extLst>
          </p:cNvPr>
          <p:cNvSpPr/>
          <p:nvPr/>
        </p:nvSpPr>
        <p:spPr>
          <a:xfrm>
            <a:off x="4370981" y="1644726"/>
            <a:ext cx="3457302" cy="788810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Life insurance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E7FEE-4F92-574C-A672-05E16D6EC269}"/>
              </a:ext>
            </a:extLst>
          </p:cNvPr>
          <p:cNvSpPr/>
          <p:nvPr/>
        </p:nvSpPr>
        <p:spPr>
          <a:xfrm>
            <a:off x="8438293" y="1636059"/>
            <a:ext cx="3457302" cy="797477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Marketing strategies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83183B-9AE4-1847-B943-E905604D68F1}"/>
              </a:ext>
            </a:extLst>
          </p:cNvPr>
          <p:cNvSpPr/>
          <p:nvPr/>
        </p:nvSpPr>
        <p:spPr>
          <a:xfrm>
            <a:off x="316733" y="1514229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68CBFF-2D7D-C046-B695-39D8C8E70547}"/>
              </a:ext>
            </a:extLst>
          </p:cNvPr>
          <p:cNvSpPr/>
          <p:nvPr/>
        </p:nvSpPr>
        <p:spPr>
          <a:xfrm>
            <a:off x="4205110" y="1509875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649E6F-7217-5244-B244-818AFC0615A0}"/>
              </a:ext>
            </a:extLst>
          </p:cNvPr>
          <p:cNvSpPr/>
          <p:nvPr/>
        </p:nvSpPr>
        <p:spPr>
          <a:xfrm>
            <a:off x="8284959" y="1509875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28D8EDD9-9798-254A-8002-C0CAA4A60412}"/>
              </a:ext>
            </a:extLst>
          </p:cNvPr>
          <p:cNvSpPr/>
          <p:nvPr/>
        </p:nvSpPr>
        <p:spPr>
          <a:xfrm flipV="1">
            <a:off x="5461335" y="2594491"/>
            <a:ext cx="1282882" cy="30573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303181" y="3116692"/>
            <a:ext cx="1158563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309957" y="2747360"/>
            <a:ext cx="2985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Insights / Interim Presentation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416237" y="3335674"/>
            <a:ext cx="3457302" cy="793033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Triggering events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F3F6DC-E599-1F4F-B6C9-0516C2941112}"/>
              </a:ext>
            </a:extLst>
          </p:cNvPr>
          <p:cNvSpPr/>
          <p:nvPr/>
        </p:nvSpPr>
        <p:spPr>
          <a:xfrm>
            <a:off x="4364205" y="3339897"/>
            <a:ext cx="3457302" cy="788810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Needs differentiation from traditional insurance companies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BE7FEE-4F92-574C-A672-05E16D6EC269}"/>
              </a:ext>
            </a:extLst>
          </p:cNvPr>
          <p:cNvSpPr/>
          <p:nvPr/>
        </p:nvSpPr>
        <p:spPr>
          <a:xfrm>
            <a:off x="8431517" y="3331230"/>
            <a:ext cx="3457302" cy="797477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/>
                </a:solidFill>
              </a:rPr>
              <a:t>Client onboarding is key to </a:t>
            </a:r>
          </a:p>
          <a:p>
            <a:pPr algn="ctr"/>
            <a:r>
              <a:rPr lang="en-US">
                <a:solidFill>
                  <a:schemeClr val="accent1"/>
                </a:solidFill>
              </a:rPr>
              <a:t>ZA’s success in HK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83183B-9AE4-1847-B943-E905604D68F1}"/>
              </a:ext>
            </a:extLst>
          </p:cNvPr>
          <p:cNvSpPr/>
          <p:nvPr/>
        </p:nvSpPr>
        <p:spPr>
          <a:xfrm>
            <a:off x="309957" y="3209400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8CBFF-2D7D-C046-B695-39D8C8E70547}"/>
              </a:ext>
            </a:extLst>
          </p:cNvPr>
          <p:cNvSpPr/>
          <p:nvPr/>
        </p:nvSpPr>
        <p:spPr>
          <a:xfrm>
            <a:off x="4198334" y="3205046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1649E6F-7217-5244-B244-818AFC0615A0}"/>
              </a:ext>
            </a:extLst>
          </p:cNvPr>
          <p:cNvSpPr/>
          <p:nvPr/>
        </p:nvSpPr>
        <p:spPr>
          <a:xfrm>
            <a:off x="8278183" y="3205046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296405" y="4805045"/>
            <a:ext cx="1158563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303181" y="4435713"/>
            <a:ext cx="2407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Final Recommendations</a:t>
            </a:r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28D8EDD9-9798-254A-8002-C0CAA4A60412}"/>
              </a:ext>
            </a:extLst>
          </p:cNvPr>
          <p:cNvSpPr/>
          <p:nvPr/>
        </p:nvSpPr>
        <p:spPr>
          <a:xfrm flipV="1">
            <a:off x="5461335" y="4290257"/>
            <a:ext cx="1282882" cy="30573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04567" y="5024026"/>
            <a:ext cx="9982867" cy="793033"/>
            <a:chOff x="1104089" y="5024026"/>
            <a:chExt cx="9982867" cy="7930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38074BC-C69A-E440-8988-092B4615D5A5}"/>
                </a:ext>
              </a:extLst>
            </p:cNvPr>
            <p:cNvSpPr/>
            <p:nvPr/>
          </p:nvSpPr>
          <p:spPr>
            <a:xfrm>
              <a:off x="1104089" y="5024026"/>
              <a:ext cx="4059834" cy="7930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Marriage Strategy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8074BC-C69A-E440-8988-092B4615D5A5}"/>
                </a:ext>
              </a:extLst>
            </p:cNvPr>
            <p:cNvSpPr/>
            <p:nvPr/>
          </p:nvSpPr>
          <p:spPr>
            <a:xfrm>
              <a:off x="7027122" y="5024026"/>
              <a:ext cx="4059834" cy="7930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Recommendation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877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Rationale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Wedding planners can act as the touch point for triggering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CC7C99-FF25-46E6-AAA6-EF29EDDDC4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Rectangle 8"/>
          <p:cNvSpPr/>
          <p:nvPr/>
        </p:nvSpPr>
        <p:spPr>
          <a:xfrm>
            <a:off x="2976500" y="1203168"/>
            <a:ext cx="8308429" cy="13346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Insurance is not a product that customers will proactively look for, nor being hard sold.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They need </a:t>
            </a:r>
            <a:r>
              <a:rPr lang="en-US" b="1" i="1">
                <a:solidFill>
                  <a:schemeClr val="tx1"/>
                </a:solidFill>
              </a:rPr>
              <a:t>trigger points</a:t>
            </a:r>
            <a:r>
              <a:rPr lang="en-US">
                <a:solidFill>
                  <a:schemeClr val="tx1"/>
                </a:solidFill>
              </a:rPr>
              <a:t> in life to realize the demand themselves.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6499" y="2889425"/>
            <a:ext cx="8308430" cy="13346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ZhongAn need to identify these triggering events and effectively target the correct customer group for selling opportunities</a:t>
            </a:r>
          </a:p>
        </p:txBody>
      </p:sp>
      <p:sp>
        <p:nvSpPr>
          <p:cNvPr id="12" name="Triangle 11"/>
          <p:cNvSpPr/>
          <p:nvPr/>
        </p:nvSpPr>
        <p:spPr>
          <a:xfrm rot="10800000">
            <a:off x="6626967" y="2605645"/>
            <a:ext cx="1007490" cy="21934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76497" y="4575682"/>
            <a:ext cx="8308430" cy="131285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One major trigger point is marriage, and so </a:t>
            </a:r>
            <a:r>
              <a:rPr lang="en-US" err="1">
                <a:solidFill>
                  <a:schemeClr val="tx1"/>
                </a:solidFill>
              </a:rPr>
              <a:t>ZhongAn</a:t>
            </a:r>
            <a:r>
              <a:rPr lang="en-US">
                <a:solidFill>
                  <a:schemeClr val="tx1"/>
                </a:solidFill>
              </a:rPr>
              <a:t> can cooperate with wedding planners to develop strategies and boost life insurance sales in Hong Kong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1" y="1194803"/>
            <a:ext cx="2147215" cy="136473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28893" y="1203169"/>
            <a:ext cx="2137704" cy="1334615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altLang="zh-TW" sz="1867" b="1" kern="0">
                <a:solidFill>
                  <a:prstClr val="white"/>
                </a:solidFill>
                <a:sym typeface="Arial"/>
              </a:rPr>
              <a:t>Insights</a:t>
            </a:r>
            <a:endParaRPr lang="en-US" sz="1867" b="1" kern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1" y="2889427"/>
            <a:ext cx="2147215" cy="133461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19381" y="2889426"/>
            <a:ext cx="2137704" cy="1334615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867" b="1" kern="0">
                <a:solidFill>
                  <a:prstClr val="white"/>
                </a:solidFill>
                <a:sym typeface="Arial"/>
              </a:rPr>
              <a:t>Implications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1" y="4553927"/>
            <a:ext cx="2147215" cy="133461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9381" y="4553927"/>
            <a:ext cx="2137704" cy="1334615"/>
          </a:xfrm>
          <a:prstGeom prst="rect">
            <a:avLst/>
          </a:prstGeom>
          <a:solidFill>
            <a:schemeClr val="accent6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867" b="1" kern="0">
                <a:solidFill>
                  <a:prstClr val="white"/>
                </a:solidFill>
                <a:sym typeface="Arial"/>
              </a:rPr>
              <a:t>Opportunities</a:t>
            </a:r>
          </a:p>
        </p:txBody>
      </p:sp>
      <p:sp>
        <p:nvSpPr>
          <p:cNvPr id="22" name="Triangle 21"/>
          <p:cNvSpPr/>
          <p:nvPr/>
        </p:nvSpPr>
        <p:spPr>
          <a:xfrm rot="10800000">
            <a:off x="6626967" y="4291902"/>
            <a:ext cx="1007490" cy="21934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2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Strategy Focus - Vendors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Hong Kong’s wedding planner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389872-2161-46AE-ADC2-8B60239525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Rectangle 6"/>
          <p:cNvSpPr/>
          <p:nvPr/>
        </p:nvSpPr>
        <p:spPr>
          <a:xfrm>
            <a:off x="3034659" y="1339413"/>
            <a:ext cx="7518897" cy="3632637"/>
          </a:xfrm>
          <a:prstGeom prst="rect">
            <a:avLst/>
          </a:prstGeom>
          <a:solidFill>
            <a:srgbClr val="DCE6F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7" idx="1"/>
            <a:endCxn id="7" idx="3"/>
          </p:cNvCxnSpPr>
          <p:nvPr/>
        </p:nvCxnSpPr>
        <p:spPr>
          <a:xfrm>
            <a:off x="3034659" y="3155732"/>
            <a:ext cx="751889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0"/>
            <a:endCxn id="7" idx="2"/>
          </p:cNvCxnSpPr>
          <p:nvPr/>
        </p:nvCxnSpPr>
        <p:spPr>
          <a:xfrm>
            <a:off x="6794108" y="1339413"/>
            <a:ext cx="0" cy="3632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64291" y="2832565"/>
            <a:ext cx="1470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Services provided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5767" y="1339411"/>
            <a:ext cx="126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Full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5767" y="4325717"/>
            <a:ext cx="126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On-the day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8923" y="5026167"/>
            <a:ext cx="147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/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5551" y="5026167"/>
            <a:ext cx="66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4658" y="5026128"/>
            <a:ext cx="66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Low</a:t>
            </a:r>
          </a:p>
        </p:txBody>
      </p:sp>
      <p:sp>
        <p:nvSpPr>
          <p:cNvPr id="24" name="Oval 23"/>
          <p:cNvSpPr/>
          <p:nvPr/>
        </p:nvSpPr>
        <p:spPr>
          <a:xfrm>
            <a:off x="6211989" y="1799919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728886" y="2033863"/>
            <a:ext cx="1200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The wedding company</a:t>
            </a:r>
          </a:p>
        </p:txBody>
      </p:sp>
      <p:sp>
        <p:nvSpPr>
          <p:cNvPr id="27" name="Oval 26"/>
          <p:cNvSpPr/>
          <p:nvPr/>
        </p:nvSpPr>
        <p:spPr>
          <a:xfrm>
            <a:off x="4060108" y="2885311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747314" y="3115774"/>
            <a:ext cx="837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KateMagg</a:t>
            </a:r>
          </a:p>
        </p:txBody>
      </p:sp>
      <p:sp>
        <p:nvSpPr>
          <p:cNvPr id="29" name="Oval 28"/>
          <p:cNvSpPr/>
          <p:nvPr/>
        </p:nvSpPr>
        <p:spPr>
          <a:xfrm>
            <a:off x="5287380" y="4100067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856340" y="4334011"/>
            <a:ext cx="109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Pink Diamond</a:t>
            </a:r>
          </a:p>
          <a:p>
            <a:pPr algn="ctr"/>
            <a:r>
              <a:rPr lang="en-US" sz="1200"/>
              <a:t>wedding</a:t>
            </a:r>
          </a:p>
        </p:txBody>
      </p:sp>
      <p:sp>
        <p:nvSpPr>
          <p:cNvPr id="31" name="Oval 30"/>
          <p:cNvSpPr/>
          <p:nvPr/>
        </p:nvSpPr>
        <p:spPr>
          <a:xfrm>
            <a:off x="5213220" y="3175935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731668" y="3405298"/>
            <a:ext cx="1200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White Bridal</a:t>
            </a:r>
          </a:p>
        </p:txBody>
      </p:sp>
      <p:sp>
        <p:nvSpPr>
          <p:cNvPr id="33" name="Oval 32"/>
          <p:cNvSpPr/>
          <p:nvPr/>
        </p:nvSpPr>
        <p:spPr>
          <a:xfrm>
            <a:off x="8567083" y="1916687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090188" y="2151559"/>
            <a:ext cx="1200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Only Mine</a:t>
            </a:r>
          </a:p>
        </p:txBody>
      </p:sp>
      <p:sp>
        <p:nvSpPr>
          <p:cNvPr id="35" name="Oval 34"/>
          <p:cNvSpPr/>
          <p:nvPr/>
        </p:nvSpPr>
        <p:spPr>
          <a:xfrm>
            <a:off x="6413370" y="3736998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981132" y="3970942"/>
            <a:ext cx="1098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Bliss Creation</a:t>
            </a:r>
          </a:p>
        </p:txBody>
      </p:sp>
      <p:sp>
        <p:nvSpPr>
          <p:cNvPr id="37" name="Oval 36"/>
          <p:cNvSpPr/>
          <p:nvPr/>
        </p:nvSpPr>
        <p:spPr>
          <a:xfrm>
            <a:off x="7338089" y="2413728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905851" y="2658359"/>
            <a:ext cx="1098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Marriage Maestros</a:t>
            </a:r>
          </a:p>
        </p:txBody>
      </p:sp>
      <p:sp>
        <p:nvSpPr>
          <p:cNvPr id="39" name="Oval 38"/>
          <p:cNvSpPr/>
          <p:nvPr/>
        </p:nvSpPr>
        <p:spPr>
          <a:xfrm>
            <a:off x="3558743" y="4208745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127703" y="4442689"/>
            <a:ext cx="109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Timeless Event Design</a:t>
            </a:r>
          </a:p>
        </p:txBody>
      </p:sp>
      <p:sp>
        <p:nvSpPr>
          <p:cNvPr id="42" name="Oval 41"/>
          <p:cNvSpPr/>
          <p:nvPr/>
        </p:nvSpPr>
        <p:spPr>
          <a:xfrm>
            <a:off x="7051363" y="1459196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573617" y="1688966"/>
            <a:ext cx="1200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The Theme Wedding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2136" y="4160834"/>
            <a:ext cx="1082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/>
            </a:lvl1pPr>
          </a:lstStyle>
          <a:p>
            <a:r>
              <a:rPr lang="en-US" err="1"/>
              <a:t>Bonvivant</a:t>
            </a:r>
            <a:r>
              <a:rPr lang="en-US"/>
              <a:t> and </a:t>
            </a:r>
            <a:r>
              <a:rPr lang="en-US" err="1"/>
              <a:t>Bellavitat</a:t>
            </a:r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496544" y="3930914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9364491" y="2704169"/>
            <a:ext cx="1263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/>
            </a:lvl1pPr>
          </a:lstStyle>
          <a:p>
            <a:r>
              <a:rPr lang="en-US"/>
              <a:t>Quintessentially Weddings</a:t>
            </a:r>
          </a:p>
        </p:txBody>
      </p:sp>
      <p:sp>
        <p:nvSpPr>
          <p:cNvPr id="47" name="Oval 46"/>
          <p:cNvSpPr/>
          <p:nvPr/>
        </p:nvSpPr>
        <p:spPr>
          <a:xfrm>
            <a:off x="9876903" y="2472237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4638283" y="2059225"/>
            <a:ext cx="1200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The Wedding</a:t>
            </a:r>
          </a:p>
          <a:p>
            <a:pPr algn="ctr"/>
            <a:r>
              <a:rPr lang="en-US" sz="1200"/>
              <a:t>Atelier</a:t>
            </a:r>
          </a:p>
        </p:txBody>
      </p:sp>
      <p:sp>
        <p:nvSpPr>
          <p:cNvPr id="50" name="Oval 49"/>
          <p:cNvSpPr/>
          <p:nvPr/>
        </p:nvSpPr>
        <p:spPr>
          <a:xfrm>
            <a:off x="5122603" y="1825281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135356" y="3396922"/>
            <a:ext cx="1200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Tiara</a:t>
            </a:r>
          </a:p>
        </p:txBody>
      </p:sp>
      <p:sp>
        <p:nvSpPr>
          <p:cNvPr id="54" name="Oval 53"/>
          <p:cNvSpPr/>
          <p:nvPr/>
        </p:nvSpPr>
        <p:spPr>
          <a:xfrm>
            <a:off x="7618459" y="3200812"/>
            <a:ext cx="233944" cy="2339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223726" y="1544408"/>
            <a:ext cx="4111780" cy="2358838"/>
          </a:xfrm>
          <a:prstGeom prst="rect">
            <a:avLst/>
          </a:prstGeom>
          <a:solidFill>
            <a:srgbClr val="C0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CA4EED-5325-004C-B2A8-2EB4AE724C52}"/>
              </a:ext>
            </a:extLst>
          </p:cNvPr>
          <p:cNvGrpSpPr/>
          <p:nvPr/>
        </p:nvGrpSpPr>
        <p:grpSpPr>
          <a:xfrm>
            <a:off x="419381" y="5573056"/>
            <a:ext cx="11436068" cy="511874"/>
            <a:chOff x="378528" y="1069269"/>
            <a:chExt cx="8298980" cy="73328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AD5419-82C4-914B-BB42-47CF115AB3E6}"/>
                </a:ext>
              </a:extLst>
            </p:cNvPr>
            <p:cNvSpPr/>
            <p:nvPr/>
          </p:nvSpPr>
          <p:spPr>
            <a:xfrm>
              <a:off x="378528" y="1069269"/>
              <a:ext cx="1157579" cy="733286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b="1" kern="0">
                  <a:solidFill>
                    <a:prstClr val="white"/>
                  </a:solidFill>
                  <a:sym typeface="Arial"/>
                </a:rPr>
                <a:t>Key Market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76C5B19-A15F-2640-8151-C6CB8A12E802}"/>
                </a:ext>
              </a:extLst>
            </p:cNvPr>
            <p:cNvSpPr/>
            <p:nvPr/>
          </p:nvSpPr>
          <p:spPr>
            <a:xfrm>
              <a:off x="1536108" y="1069269"/>
              <a:ext cx="7141400" cy="733286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85750" marR="0" lvl="0" indent="-28575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Tx/>
                <a:buFont typeface="Arial" charset="0"/>
                <a:buNone/>
                <a:tabLst/>
                <a:defRPr/>
              </a:pPr>
              <a:r>
                <a:rPr lang="en-US" b="1" kern="0">
                  <a:solidFill>
                    <a:schemeClr val="tx1"/>
                  </a:solidFill>
                  <a:sym typeface="Arial"/>
                </a:rPr>
                <a:t>Focus on wedding planners with more serviced provided looking for additional add-on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46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partnership model option set is constrained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- Vendors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99657"/>
              </p:ext>
            </p:extLst>
          </p:nvPr>
        </p:nvGraphicFramePr>
        <p:xfrm>
          <a:off x="907559" y="1851704"/>
          <a:ext cx="10415196" cy="404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9675">
                <a:tc rowSpan="2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Revenue-Sharing </a:t>
                      </a:r>
                    </a:p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Product Exclusivity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Provision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of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Marketing Synergies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Wedding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Event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Employee Life/Health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25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gives wedding planners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share of the commission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charset="0"/>
                        <a:buNone/>
                      </a:pPr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only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provides the wedding insurance benefit to 1-2 providers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provides the company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discounted insurance for their events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provides the company’s staff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discounted insurance 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helps market for the wedding planner</a:t>
                      </a: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ight Bracket 2"/>
          <p:cNvSpPr/>
          <p:nvPr/>
        </p:nvSpPr>
        <p:spPr>
          <a:xfrm rot="16200000">
            <a:off x="6956580" y="-2589421"/>
            <a:ext cx="90853" cy="864149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18193" y="1295335"/>
            <a:ext cx="3967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Available Partnership Model Option Set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2521846" y="336924"/>
            <a:ext cx="611470" cy="611470"/>
            <a:chOff x="4871366" y="4361969"/>
            <a:chExt cx="611470" cy="611470"/>
          </a:xfrm>
        </p:grpSpPr>
        <p:sp>
          <p:nvSpPr>
            <p:cNvPr id="39" name="Freeform 38"/>
            <p:cNvSpPr/>
            <p:nvPr/>
          </p:nvSpPr>
          <p:spPr>
            <a:xfrm>
              <a:off x="4871366" y="4361969"/>
              <a:ext cx="611470" cy="610899"/>
            </a:xfrm>
            <a:custGeom>
              <a:avLst/>
              <a:gdLst>
                <a:gd name="connsiteX0" fmla="*/ 300074 w 611470"/>
                <a:gd name="connsiteY0" fmla="*/ 0 h 610899"/>
                <a:gd name="connsiteX1" fmla="*/ 300074 w 611470"/>
                <a:gd name="connsiteY1" fmla="*/ 305164 h 610899"/>
                <a:gd name="connsiteX2" fmla="*/ 611470 w 611470"/>
                <a:gd name="connsiteY2" fmla="*/ 305164 h 610899"/>
                <a:gd name="connsiteX3" fmla="*/ 305735 w 611470"/>
                <a:gd name="connsiteY3" fmla="*/ 610899 h 610899"/>
                <a:gd name="connsiteX4" fmla="*/ 0 w 611470"/>
                <a:gd name="connsiteY4" fmla="*/ 305164 h 610899"/>
                <a:gd name="connsiteX5" fmla="*/ 244119 w 611470"/>
                <a:gd name="connsiteY5" fmla="*/ 5641 h 6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470" h="610899">
                  <a:moveTo>
                    <a:pt x="300074" y="0"/>
                  </a:moveTo>
                  <a:lnTo>
                    <a:pt x="300074" y="305164"/>
                  </a:lnTo>
                  <a:lnTo>
                    <a:pt x="611470" y="305164"/>
                  </a:lnTo>
                  <a:cubicBezTo>
                    <a:pt x="611470" y="474017"/>
                    <a:pt x="474588" y="610899"/>
                    <a:pt x="305735" y="610899"/>
                  </a:cubicBezTo>
                  <a:cubicBezTo>
                    <a:pt x="136882" y="610899"/>
                    <a:pt x="0" y="474017"/>
                    <a:pt x="0" y="305164"/>
                  </a:cubicBezTo>
                  <a:cubicBezTo>
                    <a:pt x="0" y="157418"/>
                    <a:pt x="104801" y="34149"/>
                    <a:pt x="244119" y="5641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4871366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2548732" y="1220217"/>
            <a:ext cx="641204" cy="611470"/>
            <a:chOff x="6696271" y="4361969"/>
            <a:chExt cx="641204" cy="611470"/>
          </a:xfrm>
        </p:grpSpPr>
        <p:sp>
          <p:nvSpPr>
            <p:cNvPr id="43" name="Freeform 42"/>
            <p:cNvSpPr/>
            <p:nvPr/>
          </p:nvSpPr>
          <p:spPr>
            <a:xfrm>
              <a:off x="7031740" y="4372306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2578466" y="2103510"/>
            <a:ext cx="611470" cy="611471"/>
            <a:chOff x="8412910" y="4372306"/>
            <a:chExt cx="611470" cy="611471"/>
          </a:xfrm>
        </p:grpSpPr>
        <p:sp>
          <p:nvSpPr>
            <p:cNvPr id="47" name="Freeform 46"/>
            <p:cNvSpPr/>
            <p:nvPr/>
          </p:nvSpPr>
          <p:spPr>
            <a:xfrm rot="5400000">
              <a:off x="8265468" y="4525174"/>
              <a:ext cx="611470" cy="305735"/>
            </a:xfrm>
            <a:custGeom>
              <a:avLst/>
              <a:gdLst>
                <a:gd name="connsiteX0" fmla="*/ 0 w 611470"/>
                <a:gd name="connsiteY0" fmla="*/ 0 h 305735"/>
                <a:gd name="connsiteX1" fmla="*/ 611470 w 611470"/>
                <a:gd name="connsiteY1" fmla="*/ 0 h 305735"/>
                <a:gd name="connsiteX2" fmla="*/ 305735 w 611470"/>
                <a:gd name="connsiteY2" fmla="*/ 305735 h 305735"/>
                <a:gd name="connsiteX3" fmla="*/ 0 w 611470"/>
                <a:gd name="connsiteY3" fmla="*/ 0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70" h="305735">
                  <a:moveTo>
                    <a:pt x="0" y="0"/>
                  </a:moveTo>
                  <a:lnTo>
                    <a:pt x="611470" y="0"/>
                  </a:lnTo>
                  <a:cubicBezTo>
                    <a:pt x="611470" y="168853"/>
                    <a:pt x="474588" y="305735"/>
                    <a:pt x="305735" y="305735"/>
                  </a:cubicBezTo>
                  <a:cubicBezTo>
                    <a:pt x="136882" y="305735"/>
                    <a:pt x="0" y="168853"/>
                    <a:pt x="0" y="0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8412910" y="4372306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/>
          <p:cNvSpPr/>
          <p:nvPr/>
        </p:nvSpPr>
        <p:spPr>
          <a:xfrm>
            <a:off x="12578466" y="2870939"/>
            <a:ext cx="611470" cy="611470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2578466" y="3694552"/>
            <a:ext cx="611470" cy="6114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2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35231C-3EC8-2046-AE0F-52AF6F3CD9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E0E8-723C-E341-B796-D14A480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partnership model option set is constrained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2D5E-8D73-4C4D-AF02-3217AAE3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Strategy Validation - Vendors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369460"/>
              </p:ext>
            </p:extLst>
          </p:nvPr>
        </p:nvGraphicFramePr>
        <p:xfrm>
          <a:off x="907559" y="1851704"/>
          <a:ext cx="10415196" cy="404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5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9675">
                <a:tc rowSpan="2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Revenue-Sharing </a:t>
                      </a:r>
                    </a:p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Product Exclusivity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Provision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of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Marketing Synergies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Wedding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Event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Employee Life/Health</a:t>
                      </a:r>
                      <a:r>
                        <a:rPr lang="en-US" baseline="0">
                          <a:solidFill>
                            <a:schemeClr val="bg1"/>
                          </a:solidFill>
                        </a:rPr>
                        <a:t> Insurance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7377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269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Feasibility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316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/>
                        <a:t>Not permitted in Hong Kong</a:t>
                      </a:r>
                    </a:p>
                  </a:txBody>
                  <a:tcPr anchor="ctr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exclusivity would</a:t>
                      </a:r>
                      <a:r>
                        <a:rPr lang="en-US" sz="1600" i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limit reach</a:t>
                      </a:r>
                      <a:endParaRPr lang="en-US" sz="160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does not have event insurance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Vendors may not have a 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ZA does not have a presence yet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ket 2"/>
          <p:cNvSpPr/>
          <p:nvPr/>
        </p:nvSpPr>
        <p:spPr>
          <a:xfrm rot="16200000">
            <a:off x="6956580" y="-2589421"/>
            <a:ext cx="90853" cy="864149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0" y="1316568"/>
            <a:ext cx="213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Available Option Set</a:t>
            </a:r>
          </a:p>
        </p:txBody>
      </p:sp>
      <p:sp>
        <p:nvSpPr>
          <p:cNvPr id="7" name="Oval 6"/>
          <p:cNvSpPr/>
          <p:nvPr/>
        </p:nvSpPr>
        <p:spPr>
          <a:xfrm>
            <a:off x="1125890" y="3342013"/>
            <a:ext cx="224852" cy="2248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53075" y="3342013"/>
            <a:ext cx="224852" cy="224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58855" y="3639619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/>
              <a:t>Least </a:t>
            </a:r>
          </a:p>
          <a:p>
            <a:pPr algn="ctr"/>
            <a:r>
              <a:rPr lang="en-US" sz="1000" i="1"/>
              <a:t>feasible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3594" y="3644844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/>
              <a:t>Most</a:t>
            </a:r>
          </a:p>
          <a:p>
            <a:pPr algn="ctr"/>
            <a:r>
              <a:rPr lang="en-US" sz="1000" i="1"/>
              <a:t>feasible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476305" y="3454439"/>
            <a:ext cx="55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134006" y="4317373"/>
            <a:ext cx="611470" cy="6114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726478" y="4317620"/>
            <a:ext cx="619433" cy="611470"/>
            <a:chOff x="6696271" y="4361969"/>
            <a:chExt cx="619433" cy="611470"/>
          </a:xfrm>
        </p:grpSpPr>
        <p:sp>
          <p:nvSpPr>
            <p:cNvPr id="32" name="Freeform 31"/>
            <p:cNvSpPr/>
            <p:nvPr/>
          </p:nvSpPr>
          <p:spPr>
            <a:xfrm>
              <a:off x="7009969" y="4365049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913306" y="4300995"/>
            <a:ext cx="613302" cy="611471"/>
            <a:chOff x="8411078" y="4372306"/>
            <a:chExt cx="613302" cy="611471"/>
          </a:xfrm>
        </p:grpSpPr>
        <p:sp>
          <p:nvSpPr>
            <p:cNvPr id="26" name="Freeform 25"/>
            <p:cNvSpPr/>
            <p:nvPr/>
          </p:nvSpPr>
          <p:spPr>
            <a:xfrm rot="5400000">
              <a:off x="8258211" y="4525174"/>
              <a:ext cx="611470" cy="305735"/>
            </a:xfrm>
            <a:custGeom>
              <a:avLst/>
              <a:gdLst>
                <a:gd name="connsiteX0" fmla="*/ 0 w 611470"/>
                <a:gd name="connsiteY0" fmla="*/ 0 h 305735"/>
                <a:gd name="connsiteX1" fmla="*/ 611470 w 611470"/>
                <a:gd name="connsiteY1" fmla="*/ 0 h 305735"/>
                <a:gd name="connsiteX2" fmla="*/ 305735 w 611470"/>
                <a:gd name="connsiteY2" fmla="*/ 305735 h 305735"/>
                <a:gd name="connsiteX3" fmla="*/ 0 w 611470"/>
                <a:gd name="connsiteY3" fmla="*/ 0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70" h="305735">
                  <a:moveTo>
                    <a:pt x="0" y="0"/>
                  </a:moveTo>
                  <a:lnTo>
                    <a:pt x="611470" y="0"/>
                  </a:lnTo>
                  <a:cubicBezTo>
                    <a:pt x="611470" y="168853"/>
                    <a:pt x="474588" y="305735"/>
                    <a:pt x="305735" y="305735"/>
                  </a:cubicBezTo>
                  <a:cubicBezTo>
                    <a:pt x="136882" y="305735"/>
                    <a:pt x="0" y="168853"/>
                    <a:pt x="0" y="0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8412910" y="4372306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2521846" y="336924"/>
            <a:ext cx="611470" cy="611470"/>
            <a:chOff x="4871366" y="4361969"/>
            <a:chExt cx="611470" cy="611470"/>
          </a:xfrm>
        </p:grpSpPr>
        <p:sp>
          <p:nvSpPr>
            <p:cNvPr id="39" name="Freeform 38"/>
            <p:cNvSpPr/>
            <p:nvPr/>
          </p:nvSpPr>
          <p:spPr>
            <a:xfrm>
              <a:off x="4871366" y="4361969"/>
              <a:ext cx="611470" cy="610899"/>
            </a:xfrm>
            <a:custGeom>
              <a:avLst/>
              <a:gdLst>
                <a:gd name="connsiteX0" fmla="*/ 300074 w 611470"/>
                <a:gd name="connsiteY0" fmla="*/ 0 h 610899"/>
                <a:gd name="connsiteX1" fmla="*/ 300074 w 611470"/>
                <a:gd name="connsiteY1" fmla="*/ 305164 h 610899"/>
                <a:gd name="connsiteX2" fmla="*/ 611470 w 611470"/>
                <a:gd name="connsiteY2" fmla="*/ 305164 h 610899"/>
                <a:gd name="connsiteX3" fmla="*/ 305735 w 611470"/>
                <a:gd name="connsiteY3" fmla="*/ 610899 h 610899"/>
                <a:gd name="connsiteX4" fmla="*/ 0 w 611470"/>
                <a:gd name="connsiteY4" fmla="*/ 305164 h 610899"/>
                <a:gd name="connsiteX5" fmla="*/ 244119 w 611470"/>
                <a:gd name="connsiteY5" fmla="*/ 5641 h 6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470" h="610899">
                  <a:moveTo>
                    <a:pt x="300074" y="0"/>
                  </a:moveTo>
                  <a:lnTo>
                    <a:pt x="300074" y="305164"/>
                  </a:lnTo>
                  <a:lnTo>
                    <a:pt x="611470" y="305164"/>
                  </a:lnTo>
                  <a:cubicBezTo>
                    <a:pt x="611470" y="474017"/>
                    <a:pt x="474588" y="610899"/>
                    <a:pt x="305735" y="610899"/>
                  </a:cubicBezTo>
                  <a:cubicBezTo>
                    <a:pt x="136882" y="610899"/>
                    <a:pt x="0" y="474017"/>
                    <a:pt x="0" y="305164"/>
                  </a:cubicBezTo>
                  <a:cubicBezTo>
                    <a:pt x="0" y="157418"/>
                    <a:pt x="104801" y="34149"/>
                    <a:pt x="244119" y="5641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4871366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2548732" y="1220217"/>
            <a:ext cx="641204" cy="611470"/>
            <a:chOff x="6696271" y="4361969"/>
            <a:chExt cx="641204" cy="611470"/>
          </a:xfrm>
        </p:grpSpPr>
        <p:sp>
          <p:nvSpPr>
            <p:cNvPr id="43" name="Freeform 42"/>
            <p:cNvSpPr/>
            <p:nvPr/>
          </p:nvSpPr>
          <p:spPr>
            <a:xfrm>
              <a:off x="7031740" y="4372306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2578466" y="2103510"/>
            <a:ext cx="611470" cy="611471"/>
            <a:chOff x="8412910" y="4372306"/>
            <a:chExt cx="611470" cy="611471"/>
          </a:xfrm>
        </p:grpSpPr>
        <p:sp>
          <p:nvSpPr>
            <p:cNvPr id="47" name="Freeform 46"/>
            <p:cNvSpPr/>
            <p:nvPr/>
          </p:nvSpPr>
          <p:spPr>
            <a:xfrm rot="5400000">
              <a:off x="8265468" y="4525174"/>
              <a:ext cx="611470" cy="305735"/>
            </a:xfrm>
            <a:custGeom>
              <a:avLst/>
              <a:gdLst>
                <a:gd name="connsiteX0" fmla="*/ 0 w 611470"/>
                <a:gd name="connsiteY0" fmla="*/ 0 h 305735"/>
                <a:gd name="connsiteX1" fmla="*/ 611470 w 611470"/>
                <a:gd name="connsiteY1" fmla="*/ 0 h 305735"/>
                <a:gd name="connsiteX2" fmla="*/ 305735 w 611470"/>
                <a:gd name="connsiteY2" fmla="*/ 305735 h 305735"/>
                <a:gd name="connsiteX3" fmla="*/ 0 w 611470"/>
                <a:gd name="connsiteY3" fmla="*/ 0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70" h="305735">
                  <a:moveTo>
                    <a:pt x="0" y="0"/>
                  </a:moveTo>
                  <a:lnTo>
                    <a:pt x="611470" y="0"/>
                  </a:lnTo>
                  <a:cubicBezTo>
                    <a:pt x="611470" y="168853"/>
                    <a:pt x="474588" y="305735"/>
                    <a:pt x="305735" y="305735"/>
                  </a:cubicBezTo>
                  <a:cubicBezTo>
                    <a:pt x="136882" y="305735"/>
                    <a:pt x="0" y="168853"/>
                    <a:pt x="0" y="0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8412910" y="4372306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/>
          <p:cNvSpPr/>
          <p:nvPr/>
        </p:nvSpPr>
        <p:spPr>
          <a:xfrm>
            <a:off x="12578466" y="2870939"/>
            <a:ext cx="611470" cy="611470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2578466" y="3694552"/>
            <a:ext cx="611470" cy="6114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10221803" y="4321727"/>
            <a:ext cx="619433" cy="611470"/>
            <a:chOff x="6696271" y="4361969"/>
            <a:chExt cx="619433" cy="611470"/>
          </a:xfrm>
        </p:grpSpPr>
        <p:sp>
          <p:nvSpPr>
            <p:cNvPr id="52" name="Freeform 51"/>
            <p:cNvSpPr/>
            <p:nvPr/>
          </p:nvSpPr>
          <p:spPr>
            <a:xfrm>
              <a:off x="7009969" y="4362202"/>
              <a:ext cx="305735" cy="305735"/>
            </a:xfrm>
            <a:custGeom>
              <a:avLst/>
              <a:gdLst>
                <a:gd name="connsiteX0" fmla="*/ 0 w 305735"/>
                <a:gd name="connsiteY0" fmla="*/ 0 h 305735"/>
                <a:gd name="connsiteX1" fmla="*/ 305735 w 305735"/>
                <a:gd name="connsiteY1" fmla="*/ 305735 h 305735"/>
                <a:gd name="connsiteX2" fmla="*/ 0 w 305735"/>
                <a:gd name="connsiteY2" fmla="*/ 305735 h 30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735" h="305735">
                  <a:moveTo>
                    <a:pt x="0" y="0"/>
                  </a:moveTo>
                  <a:cubicBezTo>
                    <a:pt x="168853" y="0"/>
                    <a:pt x="305735" y="136882"/>
                    <a:pt x="305735" y="305735"/>
                  </a:cubicBezTo>
                  <a:lnTo>
                    <a:pt x="0" y="305735"/>
                  </a:ln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6696271" y="436196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398156" y="4312967"/>
            <a:ext cx="611946" cy="611470"/>
            <a:chOff x="4856376" y="4346979"/>
            <a:chExt cx="611946" cy="611470"/>
          </a:xfrm>
        </p:grpSpPr>
        <p:sp>
          <p:nvSpPr>
            <p:cNvPr id="55" name="Freeform 54"/>
            <p:cNvSpPr/>
            <p:nvPr/>
          </p:nvSpPr>
          <p:spPr>
            <a:xfrm>
              <a:off x="4856852" y="4347455"/>
              <a:ext cx="611470" cy="610899"/>
            </a:xfrm>
            <a:custGeom>
              <a:avLst/>
              <a:gdLst>
                <a:gd name="connsiteX0" fmla="*/ 300074 w 611470"/>
                <a:gd name="connsiteY0" fmla="*/ 0 h 610899"/>
                <a:gd name="connsiteX1" fmla="*/ 300074 w 611470"/>
                <a:gd name="connsiteY1" fmla="*/ 305164 h 610899"/>
                <a:gd name="connsiteX2" fmla="*/ 611470 w 611470"/>
                <a:gd name="connsiteY2" fmla="*/ 305164 h 610899"/>
                <a:gd name="connsiteX3" fmla="*/ 305735 w 611470"/>
                <a:gd name="connsiteY3" fmla="*/ 610899 h 610899"/>
                <a:gd name="connsiteX4" fmla="*/ 0 w 611470"/>
                <a:gd name="connsiteY4" fmla="*/ 305164 h 610899"/>
                <a:gd name="connsiteX5" fmla="*/ 244119 w 611470"/>
                <a:gd name="connsiteY5" fmla="*/ 5641 h 6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470" h="610899">
                  <a:moveTo>
                    <a:pt x="300074" y="0"/>
                  </a:moveTo>
                  <a:lnTo>
                    <a:pt x="300074" y="305164"/>
                  </a:lnTo>
                  <a:lnTo>
                    <a:pt x="611470" y="305164"/>
                  </a:lnTo>
                  <a:cubicBezTo>
                    <a:pt x="611470" y="474017"/>
                    <a:pt x="474588" y="610899"/>
                    <a:pt x="305735" y="610899"/>
                  </a:cubicBezTo>
                  <a:cubicBezTo>
                    <a:pt x="136882" y="610899"/>
                    <a:pt x="0" y="474017"/>
                    <a:pt x="0" y="305164"/>
                  </a:cubicBezTo>
                  <a:cubicBezTo>
                    <a:pt x="0" y="157418"/>
                    <a:pt x="104801" y="34149"/>
                    <a:pt x="244119" y="5641"/>
                  </a:cubicBezTo>
                  <a:close/>
                </a:path>
              </a:pathLst>
            </a:custGeom>
            <a:solidFill>
              <a:srgbClr val="0737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4856376" y="4346979"/>
              <a:ext cx="611470" cy="6114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953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b="18708"/>
          <a:stretch/>
        </p:blipFill>
        <p:spPr>
          <a:xfrm>
            <a:off x="419380" y="4274609"/>
            <a:ext cx="1811265" cy="131231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0" y="2499145"/>
            <a:ext cx="1815519" cy="1312314"/>
          </a:xfrm>
          <a:prstGeom prst="rect">
            <a:avLst/>
          </a:prstGeom>
        </p:spPr>
      </p:pic>
      <p:sp>
        <p:nvSpPr>
          <p:cNvPr id="18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Strategy Validation - Vendors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 were difficulties faced when assessing the vendor market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C6D7-40B9-4322-B481-F12E42E8B9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Rectangle 5"/>
          <p:cNvSpPr/>
          <p:nvPr/>
        </p:nvSpPr>
        <p:spPr>
          <a:xfrm>
            <a:off x="419380" y="2499144"/>
            <a:ext cx="1815517" cy="1312314"/>
          </a:xfrm>
          <a:prstGeom prst="rect">
            <a:avLst/>
          </a:prstGeom>
          <a:solidFill>
            <a:srgbClr val="DCE6F4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Approach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4898" y="2499146"/>
            <a:ext cx="2272934" cy="1312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Insurance Company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CA4EED-5325-004C-B2A8-2EB4AE724C52}"/>
              </a:ext>
            </a:extLst>
          </p:cNvPr>
          <p:cNvGrpSpPr/>
          <p:nvPr/>
        </p:nvGrpSpPr>
        <p:grpSpPr>
          <a:xfrm>
            <a:off x="419380" y="1540136"/>
            <a:ext cx="11466295" cy="501674"/>
            <a:chOff x="465133" y="1069269"/>
            <a:chExt cx="8320915" cy="7332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AD5419-82C4-914B-BB42-47CF115AB3E6}"/>
                </a:ext>
              </a:extLst>
            </p:cNvPr>
            <p:cNvSpPr/>
            <p:nvPr/>
          </p:nvSpPr>
          <p:spPr>
            <a:xfrm>
              <a:off x="465133" y="1069269"/>
              <a:ext cx="1070974" cy="733286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latin typeface="Calibri" panose="020F0502020204030204" pitchFamily="34" charset="0"/>
                  <a:ea typeface="Arial" charset="0"/>
                  <a:cs typeface="Calibri" panose="020F0502020204030204" pitchFamily="34" charset="0"/>
                </a:rPr>
                <a:t>OBJECTIVE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6C5B19-A15F-2640-8151-C6CB8A12E802}"/>
                </a:ext>
              </a:extLst>
            </p:cNvPr>
            <p:cNvSpPr/>
            <p:nvPr/>
          </p:nvSpPr>
          <p:spPr>
            <a:xfrm>
              <a:off x="1536107" y="1069269"/>
              <a:ext cx="7249941" cy="733286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Arial" charset="0"/>
                  <a:cs typeface="Calibri" panose="020F0502020204030204" pitchFamily="34" charset="0"/>
                </a:rPr>
                <a:t>Approach wedding planners to seek potential cooperation packages</a:t>
              </a:r>
            </a:p>
          </p:txBody>
        </p:sp>
      </p:grpSp>
      <p:sp>
        <p:nvSpPr>
          <p:cNvPr id="11" name="Triangle 10"/>
          <p:cNvSpPr/>
          <p:nvPr/>
        </p:nvSpPr>
        <p:spPr>
          <a:xfrm rot="5400000">
            <a:off x="4703873" y="2967710"/>
            <a:ext cx="746760" cy="381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940308-C51F-2041-8F50-605424728ED6}"/>
              </a:ext>
            </a:extLst>
          </p:cNvPr>
          <p:cNvSpPr/>
          <p:nvPr/>
        </p:nvSpPr>
        <p:spPr>
          <a:xfrm>
            <a:off x="5660678" y="2499146"/>
            <a:ext cx="6224997" cy="13123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Most interviewees didn’t want to continue the conversation after knowing us as insurance company representatives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Without disclosing ZhongAn (or any company name), it was hard to persuade interviewees to our proposals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380" y="4274611"/>
            <a:ext cx="1811265" cy="1312312"/>
          </a:xfrm>
          <a:prstGeom prst="rect">
            <a:avLst/>
          </a:prstGeom>
          <a:solidFill>
            <a:srgbClr val="DCE6F4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Approach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0645" y="4274611"/>
            <a:ext cx="2277187" cy="1312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Newly engaged couples</a:t>
            </a:r>
          </a:p>
        </p:txBody>
      </p:sp>
      <p:sp>
        <p:nvSpPr>
          <p:cNvPr id="15" name="Triangle 14"/>
          <p:cNvSpPr/>
          <p:nvPr/>
        </p:nvSpPr>
        <p:spPr>
          <a:xfrm rot="5400000">
            <a:off x="4703873" y="4740265"/>
            <a:ext cx="746760" cy="381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40308-C51F-2041-8F50-605424728ED6}"/>
              </a:ext>
            </a:extLst>
          </p:cNvPr>
          <p:cNvSpPr/>
          <p:nvPr/>
        </p:nvSpPr>
        <p:spPr>
          <a:xfrm>
            <a:off x="5646675" y="4274611"/>
            <a:ext cx="6224997" cy="13123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Sensitive about questions related to business operations (e.g. how many weddings do they plan per year)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Difficult to alter the conversation towards insurance related topics</a:t>
            </a:r>
          </a:p>
        </p:txBody>
      </p:sp>
    </p:spTree>
    <p:extLst>
      <p:ext uri="{BB962C8B-B14F-4D97-AF65-F5344CB8AC3E}">
        <p14:creationId xmlns:p14="http://schemas.microsoft.com/office/powerpoint/2010/main" val="167188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/>
              <a:t>Recommendation 02 - Marketing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Online</a:t>
            </a:r>
            <a:r>
              <a:rPr lang="zh-TW" altLang="en-US"/>
              <a:t> </a:t>
            </a:r>
            <a:r>
              <a:rPr lang="en-US" altLang="zh-TW"/>
              <a:t>and</a:t>
            </a:r>
            <a:r>
              <a:rPr lang="zh-TW" altLang="en-US"/>
              <a:t> </a:t>
            </a:r>
            <a:r>
              <a:rPr lang="en-US" altLang="zh-TW"/>
              <a:t>offline</a:t>
            </a:r>
            <a:r>
              <a:rPr lang="zh-TW" altLang="en-US"/>
              <a:t> </a:t>
            </a:r>
            <a:r>
              <a:rPr lang="en-US" altLang="zh-TW"/>
              <a:t>marketing</a:t>
            </a:r>
            <a:r>
              <a:rPr lang="zh-TW" altLang="en-US"/>
              <a:t> </a:t>
            </a:r>
            <a:r>
              <a:rPr lang="en-US" altLang="zh-TW"/>
              <a:t>channels</a:t>
            </a:r>
            <a:r>
              <a:rPr lang="zh-TW" altLang="en-US"/>
              <a:t> </a:t>
            </a:r>
            <a:r>
              <a:rPr lang="en-US" altLang="zh-TW"/>
              <a:t>can</a:t>
            </a:r>
            <a:r>
              <a:rPr lang="zh-TW" altLang="en-US"/>
              <a:t> </a:t>
            </a:r>
            <a:r>
              <a:rPr lang="en-US" altLang="zh-TW"/>
              <a:t>be</a:t>
            </a:r>
            <a:r>
              <a:rPr lang="zh-TW" altLang="en-US"/>
              <a:t> </a:t>
            </a:r>
            <a:r>
              <a:rPr lang="en-US" altLang="zh-TW"/>
              <a:t>used</a:t>
            </a:r>
            <a:r>
              <a:rPr lang="zh-TW" altLang="en-US"/>
              <a:t> </a:t>
            </a:r>
            <a:r>
              <a:rPr lang="en-US" altLang="zh-TW"/>
              <a:t>to</a:t>
            </a:r>
            <a:r>
              <a:rPr lang="zh-TW" altLang="en-US"/>
              <a:t> </a:t>
            </a:r>
            <a:r>
              <a:rPr lang="en-US" altLang="zh-TW"/>
              <a:t>utilized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8D5B00-57AC-443B-9D6F-FAC52FA238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299549" y="1218137"/>
            <a:ext cx="552514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306324" y="848805"/>
            <a:ext cx="432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Offline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6221537" y="1217185"/>
            <a:ext cx="558848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6228313" y="847853"/>
            <a:ext cx="315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Online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52" name="Picture 4" descr="upermarket sanitary padsçåçæå°çµæ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" t="-539" r="-240" b="13456"/>
          <a:stretch/>
        </p:blipFill>
        <p:spPr bwMode="auto">
          <a:xfrm>
            <a:off x="306324" y="1285296"/>
            <a:ext cx="2637163" cy="199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572349" y="1960452"/>
            <a:ext cx="210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Supermarket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&amp;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convenience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stores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5EC28D-7AB3-8A40-8227-BCE70A4BE079}"/>
              </a:ext>
            </a:extLst>
          </p:cNvPr>
          <p:cNvSpPr/>
          <p:nvPr/>
        </p:nvSpPr>
        <p:spPr>
          <a:xfrm>
            <a:off x="2995398" y="1303226"/>
            <a:ext cx="2829299" cy="419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Why?</a:t>
            </a:r>
            <a:endParaRPr lang="en-US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95398" y="2328849"/>
            <a:ext cx="2829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Direct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touch point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Women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actively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look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products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needed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during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437" y="1745416"/>
            <a:ext cx="545219" cy="545219"/>
          </a:xfrm>
          <a:prstGeom prst="rect">
            <a:avLst/>
          </a:prstGeom>
        </p:spPr>
      </p:pic>
      <p:pic>
        <p:nvPicPr>
          <p:cNvPr id="2056" name="Picture 8" descr="offee æèå¦¤ youtubeçåçæå°çµæ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" r="5709"/>
          <a:stretch/>
        </p:blipFill>
        <p:spPr bwMode="auto">
          <a:xfrm>
            <a:off x="6221537" y="1285296"/>
            <a:ext cx="2736933" cy="200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6228313" y="1285296"/>
            <a:ext cx="2730157" cy="1985086"/>
          </a:xfrm>
          <a:prstGeom prst="rect">
            <a:avLst/>
          </a:prstGeom>
          <a:solidFill>
            <a:schemeClr val="tx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563088" y="1966202"/>
            <a:ext cx="210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Female-oriented</a:t>
            </a:r>
            <a:r>
              <a:rPr lang="zh-TW" altLang="en-US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KOLs</a:t>
            </a:r>
            <a:endParaRPr lang="en-US" b="1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EC28D-7AB3-8A40-8227-BCE70A4BE079}"/>
              </a:ext>
            </a:extLst>
          </p:cNvPr>
          <p:cNvSpPr/>
          <p:nvPr/>
        </p:nvSpPr>
        <p:spPr>
          <a:xfrm>
            <a:off x="8980723" y="1281498"/>
            <a:ext cx="2829299" cy="419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Why?</a:t>
            </a:r>
            <a:endParaRPr lang="en-US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ED231F-4F13-D141-BBF9-164EAF1278B0}"/>
              </a:ext>
            </a:extLst>
          </p:cNvPr>
          <p:cNvCxnSpPr/>
          <p:nvPr/>
        </p:nvCxnSpPr>
        <p:spPr>
          <a:xfrm>
            <a:off x="292773" y="3767397"/>
            <a:ext cx="11517249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D9642E0-7042-5447-91AA-32BD8B5592A4}"/>
              </a:ext>
            </a:extLst>
          </p:cNvPr>
          <p:cNvSpPr txBox="1"/>
          <p:nvPr/>
        </p:nvSpPr>
        <p:spPr>
          <a:xfrm>
            <a:off x="299548" y="3398065"/>
            <a:ext cx="338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Potential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marketing</a:t>
            </a:r>
            <a:r>
              <a:rPr lang="zh-TW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TW">
                <a:solidFill>
                  <a:schemeClr val="tx1">
                    <a:lumMod val="85000"/>
                    <a:lumOff val="1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messages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58" name="Picture 10" descr="arefree womançåçæå°çµæ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26"/>
          <a:stretch/>
        </p:blipFill>
        <p:spPr bwMode="auto">
          <a:xfrm>
            <a:off x="7527235" y="3858914"/>
            <a:ext cx="4282787" cy="246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1004776" y="3981251"/>
            <a:ext cx="907737" cy="907737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3134006" y="3968105"/>
            <a:ext cx="907737" cy="90773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38785F8-D4F5-8B48-B9F0-3B25B6615CA6}"/>
              </a:ext>
            </a:extLst>
          </p:cNvPr>
          <p:cNvSpPr/>
          <p:nvPr/>
        </p:nvSpPr>
        <p:spPr>
          <a:xfrm>
            <a:off x="5263236" y="3961908"/>
            <a:ext cx="907737" cy="907737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/>
          <p:cNvSpPr/>
          <p:nvPr/>
        </p:nvSpPr>
        <p:spPr>
          <a:xfrm>
            <a:off x="440576" y="5063085"/>
            <a:ext cx="203613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Zhong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as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caring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insurer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400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Zhong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understand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women’s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needs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we’ve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got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back</a:t>
            </a:r>
            <a:endParaRPr lang="zh-TW" altLang="en-US" sz="14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569806" y="5063085"/>
            <a:ext cx="2036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is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blessing,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not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burden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Enjoy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period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because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it’s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carefree!</a:t>
            </a:r>
            <a:endParaRPr lang="zh-TW" altLang="en-US" sz="14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699036" y="5063085"/>
            <a:ext cx="2036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Perfect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gift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your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girlfriend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/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Basic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requirement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for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being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</a:t>
            </a:r>
            <a:r>
              <a:rPr lang="zh-TW" altLang="en-US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      </a:t>
            </a:r>
            <a:r>
              <a:rPr lang="en-US" altLang="zh-TW" sz="14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boyfriend</a:t>
            </a:r>
            <a:endParaRPr lang="zh-TW" altLang="en-US" sz="1400" u="sng">
              <a:hlinkClick r:id="rId6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08" y="4058602"/>
            <a:ext cx="717140" cy="717140"/>
          </a:xfrm>
          <a:prstGeom prst="rect">
            <a:avLst/>
          </a:prstGeom>
        </p:spPr>
      </p:pic>
      <p:pic>
        <p:nvPicPr>
          <p:cNvPr id="2051" name="Picture 2050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2" r="16839"/>
          <a:stretch/>
        </p:blipFill>
        <p:spPr>
          <a:xfrm>
            <a:off x="5517273" y="5802070"/>
            <a:ext cx="201472" cy="251594"/>
          </a:xfrm>
          <a:prstGeom prst="rect">
            <a:avLst/>
          </a:prstGeom>
        </p:spPr>
      </p:pic>
      <p:pic>
        <p:nvPicPr>
          <p:cNvPr id="2053" name="Picture 20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74" y="4109326"/>
            <a:ext cx="644400" cy="644400"/>
          </a:xfrm>
          <a:prstGeom prst="rect">
            <a:avLst/>
          </a:prstGeom>
        </p:spPr>
      </p:pic>
      <p:pic>
        <p:nvPicPr>
          <p:cNvPr id="2055" name="Picture 205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75" y="4081769"/>
            <a:ext cx="644400" cy="64440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980723" y="2328848"/>
            <a:ext cx="2829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>
              <a:buClr>
                <a:srgbClr val="000000"/>
              </a:buClr>
            </a:pP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The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right</a:t>
            </a:r>
            <a:r>
              <a:rPr lang="zh-TW" altLang="en-US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b="1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audience</a:t>
            </a:r>
            <a:endParaRPr lang="zh-TW" altLang="en-US" sz="1600" b="1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  <a:p>
            <a:pPr algn="ctr" fontAlgn="b">
              <a:buClr>
                <a:srgbClr val="000000"/>
              </a:buClr>
            </a:pP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Makeup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and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workout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KOLs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target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young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female</a:t>
            </a:r>
            <a:r>
              <a:rPr lang="zh-TW" altLang="en-US" sz="1600" ker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 </a:t>
            </a:r>
            <a:r>
              <a:rPr lang="en-US" altLang="zh-TW" sz="1600" kern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Arial"/>
              </a:rPr>
              <a:t>millennials</a:t>
            </a:r>
            <a:endParaRPr lang="zh-TW" altLang="en-US" sz="1600" kern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Arial"/>
            </a:endParaRPr>
          </a:p>
        </p:txBody>
      </p:sp>
      <p:pic>
        <p:nvPicPr>
          <p:cNvPr id="2057" name="Picture 205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572" y="1751329"/>
            <a:ext cx="543600" cy="5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0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41FCE30-D25A-4BDC-BEA9-591443ED3A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HK"/>
              <a:t>Strategy Implementation </a:t>
            </a:r>
            <a:r>
              <a:rPr lang="mr-IN" altLang="zh-HK"/>
              <a:t>–</a:t>
            </a:r>
            <a:r>
              <a:rPr lang="en-US" altLang="zh-HK"/>
              <a:t> Night Out </a:t>
            </a:r>
            <a:endParaRPr lang="zh-HK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5BABF8-ACFF-4751-B2A4-34C8C7C9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7E8BC6-1122-4496-AC61-B8DA363E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F3C0EB-16EB-5D4D-A756-D022B93CAFF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368838-CDCD-4213-A063-772B71CA5D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BFE06F1A-BEDA-4FF6-9DF9-4E5FEFD13AE3}"/>
              </a:ext>
            </a:extLst>
          </p:cNvPr>
          <p:cNvSpPr txBox="1">
            <a:spLocks/>
          </p:cNvSpPr>
          <p:nvPr/>
        </p:nvSpPr>
        <p:spPr>
          <a:xfrm>
            <a:off x="9190173" y="6389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3C0EB-16EB-5D4D-A756-D022B93CAFF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1766196-B1F0-4A5A-8AED-96D4B51D5E3F}"/>
              </a:ext>
            </a:extLst>
          </p:cNvPr>
          <p:cNvSpPr txBox="1"/>
          <p:nvPr/>
        </p:nvSpPr>
        <p:spPr>
          <a:xfrm>
            <a:off x="4227668" y="1397149"/>
            <a:ext cx="3328164" cy="566234"/>
          </a:xfrm>
          <a:prstGeom prst="rect">
            <a:avLst/>
          </a:prstGeom>
          <a:solidFill>
            <a:srgbClr val="DDE7F4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sz="2000">
                <a:solidFill>
                  <a:srgbClr val="073779"/>
                </a:solidFill>
              </a:rPr>
              <a:t>Seasonal Offers</a:t>
            </a:r>
            <a:endParaRPr lang="zh-HK" altLang="en-US" sz="2000">
              <a:solidFill>
                <a:srgbClr val="073779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2CB6D7-8167-490B-9702-461B54231BF8}"/>
              </a:ext>
            </a:extLst>
          </p:cNvPr>
          <p:cNvSpPr/>
          <p:nvPr/>
        </p:nvSpPr>
        <p:spPr>
          <a:xfrm flipH="1">
            <a:off x="4227663" y="4289065"/>
            <a:ext cx="3328167" cy="1568507"/>
          </a:xfrm>
          <a:prstGeom prst="rect">
            <a:avLst/>
          </a:prstGeom>
          <a:solidFill>
            <a:srgbClr val="DDE7F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28575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Individuals go out more often during festive seasons </a:t>
            </a:r>
          </a:p>
          <a:p>
            <a:pPr marL="28575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Package can cover the whole vacation period</a:t>
            </a:r>
            <a:endParaRPr lang="en-US">
              <a:solidFill>
                <a:srgbClr val="073779"/>
              </a:solidFill>
            </a:endParaRPr>
          </a:p>
        </p:txBody>
      </p:sp>
      <p:sp>
        <p:nvSpPr>
          <p:cNvPr id="17" name="AutoShape 4" descr="Image result for gym">
            <a:extLst>
              <a:ext uri="{FF2B5EF4-FFF2-40B4-BE49-F238E27FC236}">
                <a16:creationId xmlns:a16="http://schemas.microsoft.com/office/drawing/2014/main" id="{4026A485-148C-424C-9237-E031A77BCD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08229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0ED4ECA-2E22-4D84-BFB1-C0384F7B41B3}"/>
              </a:ext>
            </a:extLst>
          </p:cNvPr>
          <p:cNvSpPr txBox="1"/>
          <p:nvPr/>
        </p:nvSpPr>
        <p:spPr>
          <a:xfrm>
            <a:off x="7859663" y="1382266"/>
            <a:ext cx="3328164" cy="566234"/>
          </a:xfrm>
          <a:prstGeom prst="rect">
            <a:avLst/>
          </a:prstGeom>
          <a:solidFill>
            <a:srgbClr val="DDE7F4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sz="2000">
                <a:solidFill>
                  <a:srgbClr val="073779"/>
                </a:solidFill>
              </a:rPr>
              <a:t>Close Sales</a:t>
            </a:r>
            <a:endParaRPr lang="zh-HK" altLang="en-US" sz="2000">
              <a:solidFill>
                <a:srgbClr val="073779"/>
              </a:solidFill>
            </a:endParaRP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19722991-96ED-4CBF-A3B1-C32544E0BC6C}"/>
              </a:ext>
            </a:extLst>
          </p:cNvPr>
          <p:cNvSpPr/>
          <p:nvPr/>
        </p:nvSpPr>
        <p:spPr>
          <a:xfrm flipH="1">
            <a:off x="7859659" y="4289065"/>
            <a:ext cx="3328167" cy="1568507"/>
          </a:xfrm>
          <a:prstGeom prst="rect">
            <a:avLst/>
          </a:prstGeom>
          <a:solidFill>
            <a:srgbClr val="DDE7F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285750" lvl="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Ad-space on reservation systems, e.g. </a:t>
            </a:r>
            <a:r>
              <a:rPr lang="en-US" altLang="zh-HK" err="1">
                <a:solidFill>
                  <a:srgbClr val="073779"/>
                </a:solidFill>
              </a:rPr>
              <a:t>OpenRice</a:t>
            </a:r>
            <a:endParaRPr lang="en-US" altLang="zh-HK">
              <a:solidFill>
                <a:srgbClr val="073779"/>
              </a:solidFill>
            </a:endParaRPr>
          </a:p>
          <a:p>
            <a:pPr marL="285750" lvl="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Tap into customers at the trigger point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F0218B4-E087-4133-ACD2-4147C5173DED}"/>
              </a:ext>
            </a:extLst>
          </p:cNvPr>
          <p:cNvSpPr txBox="1">
            <a:spLocks/>
          </p:cNvSpPr>
          <p:nvPr/>
        </p:nvSpPr>
        <p:spPr>
          <a:xfrm>
            <a:off x="391795" y="339814"/>
            <a:ext cx="9935581" cy="69115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altLang="zh-HK"/>
              <a:t>Closing the sales gap with packages meeting customers’ needs</a:t>
            </a:r>
            <a:endParaRPr 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76D9B44-9701-467D-BDAA-CDC83ED83B8C}"/>
              </a:ext>
            </a:extLst>
          </p:cNvPr>
          <p:cNvSpPr txBox="1"/>
          <p:nvPr/>
        </p:nvSpPr>
        <p:spPr>
          <a:xfrm>
            <a:off x="595667" y="1397149"/>
            <a:ext cx="3328164" cy="566234"/>
          </a:xfrm>
          <a:prstGeom prst="rect">
            <a:avLst/>
          </a:prstGeom>
          <a:solidFill>
            <a:srgbClr val="DDE7F4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sz="2000">
                <a:solidFill>
                  <a:srgbClr val="073779"/>
                </a:solidFill>
              </a:rPr>
              <a:t>Group Pack Purchase</a:t>
            </a:r>
            <a:endParaRPr lang="zh-HK" altLang="en-US" sz="2000">
              <a:solidFill>
                <a:srgbClr val="073779"/>
              </a:solidFill>
            </a:endParaRPr>
          </a:p>
        </p:txBody>
      </p:sp>
      <p:pic>
        <p:nvPicPr>
          <p:cNvPr id="7170" name="Picture 2" descr="Image result for summer vacation">
            <a:extLst>
              <a:ext uri="{FF2B5EF4-FFF2-40B4-BE49-F238E27FC236}">
                <a16:creationId xmlns:a16="http://schemas.microsoft.com/office/drawing/2014/main" id="{F1373BC8-D942-4C73-959F-DEB4B06F3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664" y="2218636"/>
            <a:ext cx="3328163" cy="178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 result for night outs">
            <a:extLst>
              <a:ext uri="{FF2B5EF4-FFF2-40B4-BE49-F238E27FC236}">
                <a16:creationId xmlns:a16="http://schemas.microsoft.com/office/drawing/2014/main" id="{C01646F7-B1C8-4821-A89D-D1FBFF0A3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68" y="2218635"/>
            <a:ext cx="3328163" cy="178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 result for openrice reservation">
            <a:extLst>
              <a:ext uri="{FF2B5EF4-FFF2-40B4-BE49-F238E27FC236}">
                <a16:creationId xmlns:a16="http://schemas.microsoft.com/office/drawing/2014/main" id="{2196535F-356B-437F-A3A2-392BE44F4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660" y="2232629"/>
            <a:ext cx="3328163" cy="178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3AAAB0F-02F8-41B5-9512-192CFF949859}"/>
              </a:ext>
            </a:extLst>
          </p:cNvPr>
          <p:cNvSpPr txBox="1"/>
          <p:nvPr/>
        </p:nvSpPr>
        <p:spPr>
          <a:xfrm>
            <a:off x="595671" y="2207804"/>
            <a:ext cx="3328160" cy="1776237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b="1">
                <a:solidFill>
                  <a:schemeClr val="bg1"/>
                </a:solidFill>
              </a:rPr>
              <a:t>ZA Re-U Safe </a:t>
            </a:r>
            <a:r>
              <a:rPr lang="en-US" altLang="zh-HK" b="1" baseline="30000">
                <a:solidFill>
                  <a:schemeClr val="bg1"/>
                </a:solidFill>
              </a:rPr>
              <a:t>TM</a:t>
            </a:r>
            <a:r>
              <a:rPr lang="en-US" altLang="zh-HK" b="1">
                <a:solidFill>
                  <a:schemeClr val="bg1"/>
                </a:solidFill>
              </a:rPr>
              <a:t> </a:t>
            </a:r>
            <a:endParaRPr lang="zh-HK" altLang="en-US" b="1">
              <a:solidFill>
                <a:schemeClr val="bg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0404DA8-DA58-477D-A08E-5AC2F39750B5}"/>
              </a:ext>
            </a:extLst>
          </p:cNvPr>
          <p:cNvSpPr txBox="1"/>
          <p:nvPr/>
        </p:nvSpPr>
        <p:spPr>
          <a:xfrm>
            <a:off x="4227664" y="2212758"/>
            <a:ext cx="3328160" cy="1776237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b="1">
                <a:solidFill>
                  <a:schemeClr val="bg1"/>
                </a:solidFill>
              </a:rPr>
              <a:t>ZA Festival Fun </a:t>
            </a:r>
            <a:r>
              <a:rPr lang="en-US" altLang="zh-HK" b="1" baseline="30000">
                <a:solidFill>
                  <a:schemeClr val="bg1"/>
                </a:solidFill>
              </a:rPr>
              <a:t>TM</a:t>
            </a:r>
            <a:r>
              <a:rPr lang="en-US" altLang="zh-HK" b="1">
                <a:solidFill>
                  <a:schemeClr val="bg1"/>
                </a:solidFill>
              </a:rPr>
              <a:t> </a:t>
            </a:r>
            <a:endParaRPr lang="zh-HK" altLang="en-US" b="1">
              <a:solidFill>
                <a:schemeClr val="bg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32ABD92-CC17-417C-8E33-1ED9FEC7110C}"/>
              </a:ext>
            </a:extLst>
          </p:cNvPr>
          <p:cNvSpPr txBox="1"/>
          <p:nvPr/>
        </p:nvSpPr>
        <p:spPr>
          <a:xfrm>
            <a:off x="7859667" y="2230664"/>
            <a:ext cx="3328160" cy="1776237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HK" b="1">
                <a:solidFill>
                  <a:schemeClr val="bg1"/>
                </a:solidFill>
              </a:rPr>
              <a:t>Online Reservation</a:t>
            </a:r>
            <a:endParaRPr lang="zh-HK" altLang="en-US" b="1">
              <a:solidFill>
                <a:schemeClr val="bg1"/>
              </a:solidFill>
            </a:endParaRPr>
          </a:p>
        </p:txBody>
      </p:sp>
      <p:sp>
        <p:nvSpPr>
          <p:cNvPr id="44" name="Oval 9">
            <a:extLst>
              <a:ext uri="{FF2B5EF4-FFF2-40B4-BE49-F238E27FC236}">
                <a16:creationId xmlns:a16="http://schemas.microsoft.com/office/drawing/2014/main" id="{7104E9CF-9E93-47FA-A2C9-F300FE2B8239}"/>
              </a:ext>
            </a:extLst>
          </p:cNvPr>
          <p:cNvSpPr/>
          <p:nvPr/>
        </p:nvSpPr>
        <p:spPr>
          <a:xfrm>
            <a:off x="361717" y="1226168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45" name="Oval 9">
            <a:extLst>
              <a:ext uri="{FF2B5EF4-FFF2-40B4-BE49-F238E27FC236}">
                <a16:creationId xmlns:a16="http://schemas.microsoft.com/office/drawing/2014/main" id="{C2F25CA0-5E35-4A3B-A5DB-93E8A69A0039}"/>
              </a:ext>
            </a:extLst>
          </p:cNvPr>
          <p:cNvSpPr/>
          <p:nvPr/>
        </p:nvSpPr>
        <p:spPr>
          <a:xfrm>
            <a:off x="4000619" y="1209163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</a:p>
        </p:txBody>
      </p:sp>
      <p:sp>
        <p:nvSpPr>
          <p:cNvPr id="46" name="Oval 9">
            <a:extLst>
              <a:ext uri="{FF2B5EF4-FFF2-40B4-BE49-F238E27FC236}">
                <a16:creationId xmlns:a16="http://schemas.microsoft.com/office/drawing/2014/main" id="{2A9A1853-DC18-4C6C-876D-5B0DDCE57559}"/>
              </a:ext>
            </a:extLst>
          </p:cNvPr>
          <p:cNvSpPr/>
          <p:nvPr/>
        </p:nvSpPr>
        <p:spPr>
          <a:xfrm>
            <a:off x="7632618" y="1227561"/>
            <a:ext cx="454098" cy="454098"/>
          </a:xfrm>
          <a:prstGeom prst="ellipse">
            <a:avLst/>
          </a:prstGeom>
          <a:solidFill>
            <a:srgbClr val="0737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074BC-C69A-E440-8988-092B4615D5A5}"/>
              </a:ext>
            </a:extLst>
          </p:cNvPr>
          <p:cNvSpPr/>
          <p:nvPr/>
        </p:nvSpPr>
        <p:spPr>
          <a:xfrm>
            <a:off x="595667" y="4289065"/>
            <a:ext cx="3328164" cy="1563553"/>
          </a:xfrm>
          <a:prstGeom prst="rect">
            <a:avLst/>
          </a:prstGeom>
          <a:solidFill>
            <a:srgbClr val="DCE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Millennials enjoy night outs in groups (hot pot, karaoke)</a:t>
            </a:r>
          </a:p>
          <a:p>
            <a:pPr marL="285750" lvl="0" indent="-285750" defTabSz="389626">
              <a:buFont typeface="Arial" panose="020B0604020202020204" pitchFamily="34" charset="0"/>
              <a:buChar char="•"/>
              <a:defRPr/>
            </a:pPr>
            <a:r>
              <a:rPr lang="en-US" altLang="zh-HK">
                <a:solidFill>
                  <a:srgbClr val="073779"/>
                </a:solidFill>
              </a:rPr>
              <a:t>Group discounts can be used to utilize peer influence</a:t>
            </a:r>
            <a:endParaRPr lang="en-US" kern="0">
              <a:solidFill>
                <a:srgbClr val="073779"/>
              </a:solidFill>
              <a:latin typeface="Aria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896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 Recos">
  <a:themeElements>
    <a:clrScheme name="Custom 2">
      <a:dk1>
        <a:srgbClr val="000000"/>
      </a:dk1>
      <a:lt1>
        <a:srgbClr val="FFFFFF"/>
      </a:lt1>
      <a:dk2>
        <a:srgbClr val="1782BF"/>
      </a:dk2>
      <a:lt2>
        <a:srgbClr val="62BCE9"/>
      </a:lt2>
      <a:accent1>
        <a:srgbClr val="073779"/>
      </a:accent1>
      <a:accent2>
        <a:srgbClr val="8FD9FB"/>
      </a:accent2>
      <a:accent3>
        <a:srgbClr val="F7B426"/>
      </a:accent3>
      <a:accent4>
        <a:srgbClr val="C00000"/>
      </a:accent4>
      <a:accent5>
        <a:srgbClr val="929391"/>
      </a:accent5>
      <a:accent6>
        <a:srgbClr val="2B393E"/>
      </a:accent6>
      <a:hlink>
        <a:srgbClr val="FFDE26"/>
      </a:hlink>
      <a:folHlink>
        <a:srgbClr val="DEBE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 Recos">
  <a:themeElements>
    <a:clrScheme name="Custom 2">
      <a:dk1>
        <a:srgbClr val="000000"/>
      </a:dk1>
      <a:lt1>
        <a:srgbClr val="FFFFFF"/>
      </a:lt1>
      <a:dk2>
        <a:srgbClr val="1782BF"/>
      </a:dk2>
      <a:lt2>
        <a:srgbClr val="62BCE9"/>
      </a:lt2>
      <a:accent1>
        <a:srgbClr val="073779"/>
      </a:accent1>
      <a:accent2>
        <a:srgbClr val="8FD9FB"/>
      </a:accent2>
      <a:accent3>
        <a:srgbClr val="F7B426"/>
      </a:accent3>
      <a:accent4>
        <a:srgbClr val="C00000"/>
      </a:accent4>
      <a:accent5>
        <a:srgbClr val="929391"/>
      </a:accent5>
      <a:accent6>
        <a:srgbClr val="2B393E"/>
      </a:accent6>
      <a:hlink>
        <a:srgbClr val="FFDE26"/>
      </a:hlink>
      <a:folHlink>
        <a:srgbClr val="DEBE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40B4A2F9C44A478FC4D3D3E7BA74C5" ma:contentTypeVersion="7" ma:contentTypeDescription="Create a new document." ma:contentTypeScope="" ma:versionID="770dc07b7852bd7353563260c3aa04fb">
  <xsd:schema xmlns:xsd="http://www.w3.org/2001/XMLSchema" xmlns:xs="http://www.w3.org/2001/XMLSchema" xmlns:p="http://schemas.microsoft.com/office/2006/metadata/properties" xmlns:ns3="ba23bc5d-bc53-433c-aefe-b94f40030432" xmlns:ns4="2fb726ba-d7ca-4b2d-8807-46cc05cf7ff0" targetNamespace="http://schemas.microsoft.com/office/2006/metadata/properties" ma:root="true" ma:fieldsID="955404fb6d9fd0b1d7d860dc8edc65fb" ns3:_="" ns4:_="">
    <xsd:import namespace="ba23bc5d-bc53-433c-aefe-b94f40030432"/>
    <xsd:import namespace="2fb726ba-d7ca-4b2d-8807-46cc05cf7f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3bc5d-bc53-433c-aefe-b94f400304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726ba-d7ca-4b2d-8807-46cc05cf7f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C339A2-FF07-4A2D-A078-D8033828F190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ba23bc5d-bc53-433c-aefe-b94f40030432"/>
    <ds:schemaRef ds:uri="http://www.w3.org/XML/1998/namespace"/>
    <ds:schemaRef ds:uri="http://schemas.openxmlformats.org/package/2006/metadata/core-properties"/>
    <ds:schemaRef ds:uri="2fb726ba-d7ca-4b2d-8807-46cc05cf7ff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267A70B-33FF-48F3-85F4-D0F362B29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E050D-5916-4420-8CA3-1C7C9742EF5E}">
  <ds:schemaRefs>
    <ds:schemaRef ds:uri="2fb726ba-d7ca-4b2d-8807-46cc05cf7ff0"/>
    <ds:schemaRef ds:uri="ba23bc5d-bc53-433c-aefe-b94f400304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3146</Words>
  <Application>Microsoft Macintosh PowerPoint</Application>
  <PresentationFormat>Widescreen</PresentationFormat>
  <Paragraphs>929</Paragraphs>
  <Slides>57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 Regular</vt:lpstr>
      <vt:lpstr>Kaushan Script</vt:lpstr>
      <vt:lpstr>Permanent Marker</vt:lpstr>
      <vt:lpstr>Product Sans</vt:lpstr>
      <vt:lpstr>Arial</vt:lpstr>
      <vt:lpstr>Calibri</vt:lpstr>
      <vt:lpstr>Calibri Light</vt:lpstr>
      <vt:lpstr>Times New Roman</vt:lpstr>
      <vt:lpstr>Wingdings</vt:lpstr>
      <vt:lpstr>2 Recos</vt:lpstr>
      <vt:lpstr>3 Recos</vt:lpstr>
      <vt:lpstr>PowerPoint Presentation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Indices</vt:lpstr>
      <vt:lpstr>Slide format guide (Calibri Light 28 pt)</vt:lpstr>
      <vt:lpstr>PowerPoint Presentation</vt:lpstr>
      <vt:lpstr>Company overview/ core competencies</vt:lpstr>
      <vt:lpstr>Company X is looking for new customer segments to tap into</vt:lpstr>
      <vt:lpstr>Company X is positioned as a mass-market product</vt:lpstr>
      <vt:lpstr>Company X needs to address the needs of the Millennial consumer </vt:lpstr>
      <vt:lpstr>Company X is positioned as a mass-market product</vt:lpstr>
      <vt:lpstr>Company X is positioned as a mass-market product</vt:lpstr>
      <vt:lpstr>Gap analysis</vt:lpstr>
      <vt:lpstr>(Company) has established foothold across the supply chain</vt:lpstr>
      <vt:lpstr>PowerPoint Presentation</vt:lpstr>
      <vt:lpstr>Tri-factors</vt:lpstr>
      <vt:lpstr>Introducing…</vt:lpstr>
      <vt:lpstr>Customer profile</vt:lpstr>
      <vt:lpstr>Customer journey</vt:lpstr>
      <vt:lpstr>Customer journey</vt:lpstr>
      <vt:lpstr>Customer journey</vt:lpstr>
      <vt:lpstr>Omni-channel customer journey</vt:lpstr>
      <vt:lpstr>Customer UI and backend CRM</vt:lpstr>
      <vt:lpstr>Phone</vt:lpstr>
      <vt:lpstr>Impact visualization</vt:lpstr>
      <vt:lpstr>PowerPoint Presentation</vt:lpstr>
      <vt:lpstr>PowerPoint Presentation</vt:lpstr>
      <vt:lpstr>Three-phase implementation</vt:lpstr>
      <vt:lpstr>Implementation timeline</vt:lpstr>
      <vt:lpstr>Project Timeline</vt:lpstr>
      <vt:lpstr>Risk and mitigation</vt:lpstr>
      <vt:lpstr>Our recommendations foster a positive feedback loop</vt:lpstr>
      <vt:lpstr>PowerPoint Presentation</vt:lpstr>
      <vt:lpstr>KPIs</vt:lpstr>
      <vt:lpstr>Guide to pasting charts from excel</vt:lpstr>
      <vt:lpstr>Financial charts: Format guide</vt:lpstr>
      <vt:lpstr>(Company) will need an upfront investment of 100mn</vt:lpstr>
      <vt:lpstr>Funnel</vt:lpstr>
      <vt:lpstr>Funnel</vt:lpstr>
      <vt:lpstr>Menstrual cramps insurance is potentially an attractive option for women</vt:lpstr>
      <vt:lpstr>Online and offline marketing channels can be used to utilized</vt:lpstr>
      <vt:lpstr>The partnership model option set is constrained</vt:lpstr>
      <vt:lpstr>Our team assessed two segments: undergraduates and working adults</vt:lpstr>
      <vt:lpstr>A number of ideas were discussed during the interim</vt:lpstr>
      <vt:lpstr>Shift in scope from interview and research insights </vt:lpstr>
      <vt:lpstr>Wedding planners can act as the touch point for triggering events</vt:lpstr>
      <vt:lpstr>Hong Kong’s wedding planner landscape</vt:lpstr>
      <vt:lpstr>The partnership model option set is constrained</vt:lpstr>
      <vt:lpstr>The partnership model option set is constrained</vt:lpstr>
      <vt:lpstr>There were difficulties faced when assessing the vendor market </vt:lpstr>
      <vt:lpstr>Online and offline marketing channels can be used to utilized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Kalpa Goel</dc:creator>
  <cp:lastModifiedBy>LEUNG Wai Man</cp:lastModifiedBy>
  <cp:revision>2</cp:revision>
  <dcterms:created xsi:type="dcterms:W3CDTF">2017-03-10T08:07:52Z</dcterms:created>
  <dcterms:modified xsi:type="dcterms:W3CDTF">2022-11-23T15:51:25Z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0x010100BA40B4A2F9C44A478FC4D3D3E7BA74C5</vt:lpwstr>
  </property>
</Properties>
</file>